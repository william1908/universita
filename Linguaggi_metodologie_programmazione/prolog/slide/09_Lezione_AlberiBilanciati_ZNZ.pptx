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413" r:id="rId2"/>
    <p:sldId id="414" r:id="rId3"/>
    <p:sldId id="415" r:id="rId4"/>
    <p:sldId id="416" r:id="rId5"/>
    <p:sldId id="417" r:id="rId6"/>
    <p:sldId id="427" r:id="rId7"/>
    <p:sldId id="418" r:id="rId8"/>
    <p:sldId id="419" r:id="rId9"/>
    <p:sldId id="420" r:id="rId10"/>
    <p:sldId id="421" r:id="rId11"/>
    <p:sldId id="422" r:id="rId12"/>
    <p:sldId id="425" r:id="rId13"/>
    <p:sldId id="423" r:id="rId14"/>
    <p:sldId id="424" r:id="rId15"/>
    <p:sldId id="426" r:id="rId16"/>
  </p:sldIdLst>
  <p:sldSz cx="9144000" cy="6858000" type="screen4x3"/>
  <p:notesSz cx="6681788" cy="98171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67" autoAdjust="0"/>
    <p:restoredTop sz="90833" autoAdjust="0"/>
  </p:normalViewPr>
  <p:slideViewPr>
    <p:cSldViewPr>
      <p:cViewPr varScale="1">
        <p:scale>
          <a:sx n="146" d="100"/>
          <a:sy n="146" d="100"/>
        </p:scale>
        <p:origin x="2112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336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86454" y="0"/>
            <a:ext cx="2895334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6326"/>
            <a:ext cx="2895336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86454" y="9326326"/>
            <a:ext cx="2895334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34899E2-2B3C-4337-AE10-A1D9AC34322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239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784856" y="0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/>
          <a:lstStyle>
            <a:lvl1pPr algn="r">
              <a:defRPr sz="1200"/>
            </a:lvl1pPr>
          </a:lstStyle>
          <a:p>
            <a:fld id="{7220D4B4-DB4A-4951-846C-1595D423D78F}" type="datetimeFigureOut">
              <a:rPr lang="it-IT" smtClean="0"/>
              <a:pPr/>
              <a:t>12/09/2025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89000" y="736600"/>
            <a:ext cx="4903788" cy="3679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74" tIns="46287" rIns="92574" bIns="46287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67540" y="4662356"/>
            <a:ext cx="5346708" cy="4418583"/>
          </a:xfrm>
          <a:prstGeom prst="rect">
            <a:avLst/>
          </a:prstGeom>
        </p:spPr>
        <p:txBody>
          <a:bodyPr vert="horz" lIns="92574" tIns="46287" rIns="92574" bIns="46287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24711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784856" y="9324711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 anchor="b"/>
          <a:lstStyle>
            <a:lvl1pPr algn="r">
              <a:defRPr sz="1200"/>
            </a:lvl1pPr>
          </a:lstStyle>
          <a:p>
            <a:fld id="{F56DCA88-440A-4061-B96D-E8F387BC1DE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333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457200" y="3657600"/>
            <a:ext cx="861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7E25B-E2DE-4F42-BBFF-4275E3601AA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95E59-FD02-46A5-87FB-59FC9089A558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B2856-BE83-47A8-8EBD-2B09A994671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2AA03-1DEF-479B-BA90-0449EFBD82A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66CAC-0257-4ABB-A901-4B67BBAA5A6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A0B8F-3B02-459C-88CC-B52092B8F18A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808E5-A24B-42A1-9AB3-95F5F820D4B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61E8A-B616-4326-922B-C87CA87E5F6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8C8DD-59AB-4FBB-B81B-791193D3028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24E71-A39B-4480-9796-7D555468585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076" name="Rectangle 10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977BCD32-25A8-43C4-A4F8-AE217E922E3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sp>
        <p:nvSpPr>
          <p:cNvPr id="3077" name="Line 1029"/>
          <p:cNvSpPr>
            <a:spLocks noChangeShapeType="1"/>
          </p:cNvSpPr>
          <p:nvPr/>
        </p:nvSpPr>
        <p:spPr bwMode="auto">
          <a:xfrm>
            <a:off x="228600" y="6248400"/>
            <a:ext cx="861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8" name="Line 1030"/>
          <p:cNvSpPr>
            <a:spLocks noChangeShapeType="1"/>
          </p:cNvSpPr>
          <p:nvPr/>
        </p:nvSpPr>
        <p:spPr bwMode="auto">
          <a:xfrm>
            <a:off x="228600" y="152400"/>
            <a:ext cx="784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9" name="Text Box 1031"/>
          <p:cNvSpPr txBox="1">
            <a:spLocks noChangeArrowheads="1"/>
          </p:cNvSpPr>
          <p:nvPr/>
        </p:nvSpPr>
        <p:spPr bwMode="auto">
          <a:xfrm>
            <a:off x="152400" y="6248400"/>
            <a:ext cx="93647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900" dirty="0"/>
              <a:t>©</a:t>
            </a:r>
            <a:r>
              <a:rPr lang="it-IT" sz="900" baseline="0" dirty="0"/>
              <a:t> </a:t>
            </a:r>
            <a:r>
              <a:rPr lang="it-IT" sz="900" dirty="0" err="1"/>
              <a:t>F.M.Zanzotto</a:t>
            </a:r>
            <a:endParaRPr lang="it-IT" sz="900" dirty="0"/>
          </a:p>
        </p:txBody>
      </p:sp>
      <p:sp>
        <p:nvSpPr>
          <p:cNvPr id="3080" name="Text Box 1032"/>
          <p:cNvSpPr txBox="1">
            <a:spLocks noChangeArrowheads="1"/>
          </p:cNvSpPr>
          <p:nvPr/>
        </p:nvSpPr>
        <p:spPr bwMode="auto">
          <a:xfrm>
            <a:off x="3157579" y="6248400"/>
            <a:ext cx="307969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900" dirty="0"/>
              <a:t>Logica</a:t>
            </a:r>
            <a:r>
              <a:rPr lang="it-IT" sz="900" baseline="0" dirty="0"/>
              <a:t> per la Programmazione e la </a:t>
            </a:r>
            <a:r>
              <a:rPr lang="it-IT" sz="900" baseline="0"/>
              <a:t>Dimostrazione Automatica</a:t>
            </a:r>
            <a:endParaRPr lang="it-IT" sz="900" dirty="0"/>
          </a:p>
        </p:txBody>
      </p:sp>
      <p:pic>
        <p:nvPicPr>
          <p:cNvPr id="23561" name="Picture 1033" descr="U:\Lavoro\Articoli\Presentazioni\tvlogo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400" y="0"/>
            <a:ext cx="203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" name="Text Box 1034"/>
          <p:cNvSpPr txBox="1">
            <a:spLocks noChangeArrowheads="1"/>
          </p:cNvSpPr>
          <p:nvPr/>
        </p:nvSpPr>
        <p:spPr bwMode="auto">
          <a:xfrm>
            <a:off x="142875" y="131763"/>
            <a:ext cx="1566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900">
                <a:solidFill>
                  <a:schemeClr val="accent1"/>
                </a:solidFill>
                <a:latin typeface="Monotype Corsiva" pitchFamily="66" charset="0"/>
              </a:rPr>
              <a:t>University of Rome “Tor Vergata”</a:t>
            </a:r>
          </a:p>
        </p:txBody>
      </p:sp>
      <p:pic>
        <p:nvPicPr>
          <p:cNvPr id="23563" name="Picture 1035" descr="C:\HOME\LAVORO\Laboratorio\Logo\logo art2 copy.gif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0"/>
            <a:ext cx="8382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41984"/>
            <a:ext cx="7772400" cy="1143000"/>
          </a:xfrm>
        </p:spPr>
        <p:txBody>
          <a:bodyPr/>
          <a:lstStyle/>
          <a:p>
            <a:r>
              <a:rPr lang="it-IT" dirty="0"/>
              <a:t>Alberi Bilanciati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Fabio Massimo Zanzotto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4859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2-3 </a:t>
            </a:r>
            <a:r>
              <a:rPr lang="it-IT" dirty="0" err="1"/>
              <a:t>trees</a:t>
            </a:r>
            <a:r>
              <a:rPr lang="it-IT" dirty="0"/>
              <a:t> e 2-3 </a:t>
            </a:r>
            <a:r>
              <a:rPr lang="it-IT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 </a:t>
            </a:r>
            <a:r>
              <a:rPr lang="it-IT" b="1" i="1" dirty="0"/>
              <a:t>2-3 </a:t>
            </a:r>
            <a:r>
              <a:rPr lang="it-IT" b="1" i="1" dirty="0" err="1"/>
              <a:t>tree</a:t>
            </a:r>
            <a:r>
              <a:rPr lang="it-IT" b="1" i="1" dirty="0"/>
              <a:t> </a:t>
            </a:r>
            <a:r>
              <a:rPr lang="it-IT" dirty="0"/>
              <a:t>è tale se:</a:t>
            </a:r>
          </a:p>
          <a:p>
            <a:pPr lvl="1"/>
            <a:r>
              <a:rPr lang="it-IT" dirty="0"/>
              <a:t>Ogni nodo interno ha 2 o 3 nodi</a:t>
            </a:r>
          </a:p>
          <a:p>
            <a:pPr lvl="1"/>
            <a:r>
              <a:rPr lang="it-IT" dirty="0"/>
              <a:t>Tutte le foglie sono allo stesso livello</a:t>
            </a:r>
          </a:p>
          <a:p>
            <a:pPr lvl="1"/>
            <a:endParaRPr lang="it-IT" dirty="0"/>
          </a:p>
          <a:p>
            <a:r>
              <a:rPr lang="it-IT" dirty="0"/>
              <a:t>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r>
              <a:rPr lang="it-IT" b="1" i="1" dirty="0"/>
              <a:t> </a:t>
            </a:r>
            <a:r>
              <a:rPr lang="it-IT" dirty="0"/>
              <a:t>è un </a:t>
            </a:r>
            <a:r>
              <a:rPr lang="it-IT" b="1" i="1" dirty="0"/>
              <a:t>2-3 </a:t>
            </a:r>
            <a:r>
              <a:rPr lang="it-IT" b="1" i="1" dirty="0" err="1"/>
              <a:t>tree</a:t>
            </a:r>
            <a:r>
              <a:rPr lang="it-IT" b="1" i="1" dirty="0"/>
              <a:t> </a:t>
            </a:r>
            <a:r>
              <a:rPr lang="it-IT" dirty="0"/>
              <a:t>tale che tutte le foglie sono ordinate da sinistra verso destra:</a:t>
            </a:r>
          </a:p>
          <a:p>
            <a:pPr lvl="1"/>
            <a:r>
              <a:rPr lang="it-IT" dirty="0"/>
              <a:t>se un nodo interno ha 2 sottoalberi, il nodo contiene il minimo elemento del 2° sottoalbero (M2)</a:t>
            </a:r>
          </a:p>
          <a:p>
            <a:pPr lvl="1"/>
            <a:r>
              <a:rPr lang="it-IT" dirty="0"/>
              <a:t>se un nodo interno ha 3 sottoalberi, il nodo contiene il minimo elemento del 2° e 3° sottoalbero (M1 e M2)</a:t>
            </a:r>
          </a:p>
          <a:p>
            <a:pPr lvl="1"/>
            <a:endParaRPr lang="it-IT" dirty="0"/>
          </a:p>
          <a:p>
            <a:pPr marL="457200" lvl="1" indent="0">
              <a:buNone/>
            </a:pPr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2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2-3 </a:t>
            </a:r>
            <a:r>
              <a:rPr lang="it-IT" dirty="0" err="1"/>
              <a:t>dictionary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95536" y="1988840"/>
            <a:ext cx="836262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3617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b="1" i="1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pPr marL="0" indent="0">
              <a:buNone/>
            </a:pPr>
            <a:r>
              <a:rPr lang="it-IT" dirty="0"/>
              <a:t>Se la radice contiene M1 e M2 cercare X secondo questi criteri:</a:t>
            </a:r>
          </a:p>
          <a:p>
            <a:r>
              <a:rPr lang="it-IT" dirty="0"/>
              <a:t>se X &lt; M1, cercare X nel sottoalbero più a sinistra</a:t>
            </a:r>
          </a:p>
          <a:p>
            <a:r>
              <a:rPr lang="it-IT" dirty="0"/>
              <a:t>se X &lt; M2, cercare X nel sottoalbero centrale</a:t>
            </a:r>
          </a:p>
          <a:p>
            <a:r>
              <a:rPr lang="it-IT" dirty="0"/>
              <a:t>altrimenti, cercare X nel sottoalbero di destra</a:t>
            </a:r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759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Definendo: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nil</a:t>
            </a:r>
            <a:r>
              <a:rPr lang="it-IT" dirty="0"/>
              <a:t> albero vuoto</a:t>
            </a:r>
          </a:p>
          <a:p>
            <a:pPr marL="0" indent="0">
              <a:buNone/>
            </a:pPr>
            <a:r>
              <a:rPr lang="it-IT" dirty="0"/>
              <a:t>	1(X) un nodo terminale</a:t>
            </a:r>
          </a:p>
          <a:p>
            <a:pPr marL="0" indent="0">
              <a:buNone/>
            </a:pPr>
            <a:r>
              <a:rPr lang="it-IT" dirty="0"/>
              <a:t>	n2(T1,M2,T2) </a:t>
            </a:r>
          </a:p>
          <a:p>
            <a:pPr marL="0" indent="0">
              <a:buNone/>
            </a:pPr>
            <a:r>
              <a:rPr lang="it-IT" dirty="0"/>
              <a:t>		il </a:t>
            </a:r>
            <a:r>
              <a:rPr lang="it-IT" b="1" i="1" dirty="0"/>
              <a:t>2-3 </a:t>
            </a:r>
            <a:r>
              <a:rPr lang="it-IT" b="1" i="1" dirty="0" err="1"/>
              <a:t>tree</a:t>
            </a:r>
            <a:r>
              <a:rPr lang="it-IT" b="1" i="1" dirty="0"/>
              <a:t> </a:t>
            </a:r>
            <a:r>
              <a:rPr lang="it-IT" dirty="0"/>
              <a:t>con due sottoalberi</a:t>
            </a:r>
          </a:p>
          <a:p>
            <a:pPr marL="0" indent="0">
              <a:buNone/>
            </a:pPr>
            <a:r>
              <a:rPr lang="it-IT" dirty="0"/>
              <a:t>	n3(T1,M1,T2,M2,T3) </a:t>
            </a:r>
          </a:p>
          <a:p>
            <a:pPr marL="0" indent="0">
              <a:buNone/>
            </a:pPr>
            <a:r>
              <a:rPr lang="it-IT" dirty="0"/>
              <a:t>		il </a:t>
            </a:r>
            <a:r>
              <a:rPr lang="it-IT" b="1" i="1" dirty="0"/>
              <a:t>2-3 </a:t>
            </a:r>
            <a:r>
              <a:rPr lang="it-IT" b="1" i="1" dirty="0" err="1"/>
              <a:t>tree</a:t>
            </a:r>
            <a:r>
              <a:rPr lang="it-IT" i="1" dirty="0"/>
              <a:t> </a:t>
            </a:r>
            <a:r>
              <a:rPr lang="it-IT" dirty="0"/>
              <a:t>con tre sottoalberi</a:t>
            </a:r>
          </a:p>
          <a:p>
            <a:pPr marL="0" indent="0">
              <a:buNone/>
            </a:pPr>
            <a:r>
              <a:rPr lang="it-IT" dirty="0"/>
              <a:t>Si scriva:</a:t>
            </a:r>
          </a:p>
          <a:p>
            <a:pPr marL="0" indent="0">
              <a:buNone/>
            </a:pPr>
            <a:r>
              <a:rPr lang="it-IT" dirty="0"/>
              <a:t>	in(X,T) vero se X è nel </a:t>
            </a:r>
            <a:r>
              <a:rPr lang="it-IT" b="1" i="1" dirty="0"/>
              <a:t>2-3 </a:t>
            </a:r>
            <a:r>
              <a:rPr lang="it-IT" b="1" i="1" dirty="0" err="1"/>
              <a:t>tree</a:t>
            </a:r>
            <a:r>
              <a:rPr lang="it-IT" b="1" i="1" dirty="0"/>
              <a:t> </a:t>
            </a:r>
            <a:r>
              <a:rPr lang="it-IT" dirty="0"/>
              <a:t>T</a:t>
            </a:r>
            <a:endParaRPr lang="it-IT" b="1" i="1" dirty="0"/>
          </a:p>
        </p:txBody>
      </p:sp>
    </p:spTree>
    <p:extLst>
      <p:ext uri="{BB962C8B-B14F-4D97-AF65-F5344CB8AC3E}">
        <p14:creationId xmlns:p14="http://schemas.microsoft.com/office/powerpoint/2010/main" val="152987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D15E0E-ECA1-4165-8690-ED9C11D6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22E7A4-8A5D-4798-8F0B-B3F0EB139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3958208" cy="4724400"/>
          </a:xfrm>
        </p:spPr>
        <p:txBody>
          <a:bodyPr/>
          <a:lstStyle/>
          <a:p>
            <a:pPr marL="0" indent="0">
              <a:buNone/>
            </a:pPr>
            <a:r>
              <a:rPr lang="it-IT" sz="1600" dirty="0"/>
              <a:t>% caso base: albero vuoto</a:t>
            </a:r>
          </a:p>
          <a:p>
            <a:pPr marL="0" indent="0">
              <a:buNone/>
            </a:pPr>
            <a:r>
              <a:rPr lang="it-IT" sz="1600" dirty="0"/>
              <a:t>in(_, </a:t>
            </a:r>
            <a:r>
              <a:rPr lang="it-IT" sz="1600" dirty="0" err="1"/>
              <a:t>nil</a:t>
            </a:r>
            <a:r>
              <a:rPr lang="it-IT" sz="1600" dirty="0"/>
              <a:t>) :- </a:t>
            </a:r>
            <a:r>
              <a:rPr lang="it-IT" sz="1600" dirty="0" err="1"/>
              <a:t>fail</a:t>
            </a:r>
            <a:r>
              <a:rPr lang="it-IT" sz="1600" dirty="0"/>
              <a:t>.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sz="1600" dirty="0"/>
              <a:t>% caso foglia</a:t>
            </a:r>
          </a:p>
          <a:p>
            <a:pPr marL="0" indent="0">
              <a:buNone/>
            </a:pPr>
            <a:r>
              <a:rPr lang="it-IT" sz="1600" dirty="0"/>
              <a:t>in(X, 1(X)).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sz="1600" dirty="0"/>
              <a:t>% nodo n2</a:t>
            </a:r>
          </a:p>
          <a:p>
            <a:pPr marL="0" indent="0">
              <a:buNone/>
            </a:pPr>
            <a:r>
              <a:rPr lang="it-IT" sz="1600" dirty="0"/>
              <a:t>in(X, n2(T1, M2, _)) :-</a:t>
            </a:r>
          </a:p>
          <a:p>
            <a:pPr marL="0" indent="0">
              <a:buNone/>
            </a:pPr>
            <a:r>
              <a:rPr lang="it-IT" sz="1600" dirty="0"/>
              <a:t>    X &lt; M2,</a:t>
            </a:r>
          </a:p>
          <a:p>
            <a:pPr marL="0" indent="0">
              <a:buNone/>
            </a:pPr>
            <a:r>
              <a:rPr lang="it-IT" sz="1600" dirty="0"/>
              <a:t>    in(X, T1).</a:t>
            </a:r>
          </a:p>
          <a:p>
            <a:pPr marL="0" indent="0">
              <a:buNone/>
            </a:pPr>
            <a:r>
              <a:rPr lang="it-IT" sz="1600" dirty="0"/>
              <a:t>in(M2, n2(_, M2, _)).  % trovato uguale alla chiave</a:t>
            </a:r>
          </a:p>
          <a:p>
            <a:pPr marL="0" indent="0">
              <a:buNone/>
            </a:pPr>
            <a:r>
              <a:rPr lang="it-IT" sz="1600" dirty="0"/>
              <a:t>in(X, n2(_, M2, T2)) :-</a:t>
            </a:r>
          </a:p>
          <a:p>
            <a:pPr marL="0" indent="0">
              <a:buNone/>
            </a:pPr>
            <a:r>
              <a:rPr lang="it-IT" sz="1600" dirty="0"/>
              <a:t>    X &gt; M2,</a:t>
            </a:r>
          </a:p>
          <a:p>
            <a:pPr marL="0" indent="0">
              <a:buNone/>
            </a:pPr>
            <a:r>
              <a:rPr lang="it-IT" sz="1600" dirty="0"/>
              <a:t>    in(X, T2).</a:t>
            </a:r>
          </a:p>
          <a:p>
            <a:pPr marL="0" indent="0">
              <a:buNone/>
            </a:pPr>
            <a:endParaRPr lang="it-IT" sz="1400" dirty="0"/>
          </a:p>
          <a:p>
            <a:pPr marL="0" indent="0">
              <a:buNone/>
            </a:pPr>
            <a:endParaRPr lang="it-IT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0CD4D5F-4F5F-4CDD-814C-B4FE65794867}"/>
              </a:ext>
            </a:extLst>
          </p:cNvPr>
          <p:cNvSpPr txBox="1"/>
          <p:nvPr/>
        </p:nvSpPr>
        <p:spPr>
          <a:xfrm>
            <a:off x="4788024" y="1772816"/>
            <a:ext cx="38164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it-IT" sz="1600" dirty="0"/>
              <a:t>% nodo n3</a:t>
            </a:r>
          </a:p>
          <a:p>
            <a:pPr marL="0" indent="0">
              <a:buNone/>
            </a:pPr>
            <a:r>
              <a:rPr lang="it-IT" sz="1600" dirty="0"/>
              <a:t>in(X, n3(T1, M1, _, _, _)) :-</a:t>
            </a:r>
          </a:p>
          <a:p>
            <a:pPr marL="0" indent="0">
              <a:buNone/>
            </a:pPr>
            <a:r>
              <a:rPr lang="it-IT" sz="1600" dirty="0"/>
              <a:t>    X &lt; M1,</a:t>
            </a:r>
          </a:p>
          <a:p>
            <a:pPr marL="0" indent="0">
              <a:buNone/>
            </a:pPr>
            <a:r>
              <a:rPr lang="it-IT" sz="1600" dirty="0"/>
              <a:t>    in(X, T1).</a:t>
            </a:r>
          </a:p>
          <a:p>
            <a:pPr marL="0" indent="0">
              <a:buNone/>
            </a:pPr>
            <a:r>
              <a:rPr lang="it-IT" sz="1600" dirty="0"/>
              <a:t>in(M1, n3(_, M1, _, _, _)). % trovato M1</a:t>
            </a:r>
          </a:p>
          <a:p>
            <a:pPr marL="0" indent="0">
              <a:buNone/>
            </a:pPr>
            <a:r>
              <a:rPr lang="it-IT" sz="1600" dirty="0"/>
              <a:t>in(X, n3(_, M1, T2, M2, _)) :-</a:t>
            </a:r>
          </a:p>
          <a:p>
            <a:pPr marL="0" indent="0">
              <a:buNone/>
            </a:pPr>
            <a:r>
              <a:rPr lang="it-IT" sz="1600" dirty="0"/>
              <a:t>    X &gt; M1, X &lt; M2,</a:t>
            </a:r>
          </a:p>
          <a:p>
            <a:pPr marL="0" indent="0">
              <a:buNone/>
            </a:pPr>
            <a:r>
              <a:rPr lang="it-IT" sz="1600" dirty="0"/>
              <a:t>    in(X, T2).</a:t>
            </a:r>
          </a:p>
          <a:p>
            <a:pPr marL="0" indent="0">
              <a:buNone/>
            </a:pPr>
            <a:r>
              <a:rPr lang="it-IT" sz="1600" dirty="0"/>
              <a:t>in(M2, n3(_, _, _, M2, _)). % trovato M2</a:t>
            </a:r>
          </a:p>
          <a:p>
            <a:pPr marL="0" indent="0">
              <a:buNone/>
            </a:pPr>
            <a:r>
              <a:rPr lang="it-IT" sz="1600" dirty="0"/>
              <a:t>in(X, n3(_, _, _, M2, T3)) :-</a:t>
            </a:r>
          </a:p>
          <a:p>
            <a:pPr marL="0" indent="0">
              <a:buNone/>
            </a:pPr>
            <a:r>
              <a:rPr lang="it-IT" sz="1600" dirty="0"/>
              <a:t>    X &gt; M2,</a:t>
            </a:r>
          </a:p>
          <a:p>
            <a:pPr marL="0" indent="0">
              <a:buNone/>
            </a:pPr>
            <a:r>
              <a:rPr lang="it-IT" sz="1600" dirty="0"/>
              <a:t>    in(X, T3).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A4738E46-D395-42E1-A7DF-523BC0D1C026}"/>
              </a:ext>
            </a:extLst>
          </p:cNvPr>
          <p:cNvCxnSpPr/>
          <p:nvPr/>
        </p:nvCxnSpPr>
        <p:spPr>
          <a:xfrm>
            <a:off x="4572000" y="1371600"/>
            <a:ext cx="0" cy="4865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12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b="1" i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55127" y="-542757"/>
            <a:ext cx="3158901" cy="822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59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Predicato:</a:t>
            </a:r>
          </a:p>
          <a:p>
            <a:r>
              <a:rPr lang="it-IT" dirty="0"/>
              <a:t>add23(</a:t>
            </a:r>
            <a:r>
              <a:rPr lang="it-IT" dirty="0" err="1"/>
              <a:t>Tree</a:t>
            </a:r>
            <a:r>
              <a:rPr lang="it-IT" dirty="0"/>
              <a:t>, X, </a:t>
            </a:r>
            <a:r>
              <a:rPr lang="it-IT" dirty="0" err="1"/>
              <a:t>NewTree</a:t>
            </a:r>
            <a:r>
              <a:rPr lang="it-IT" dirty="0"/>
              <a:t>)</a:t>
            </a:r>
          </a:p>
          <a:p>
            <a:pPr marL="0" indent="0">
              <a:buNone/>
            </a:pPr>
            <a:r>
              <a:rPr lang="it-IT" dirty="0"/>
              <a:t>vero se </a:t>
            </a:r>
            <a:r>
              <a:rPr lang="it-IT" dirty="0" err="1"/>
              <a:t>Tree</a:t>
            </a:r>
            <a:r>
              <a:rPr lang="it-IT" dirty="0"/>
              <a:t> e </a:t>
            </a:r>
            <a:r>
              <a:rPr lang="it-IT" dirty="0" err="1"/>
              <a:t>NewTree</a:t>
            </a:r>
            <a:r>
              <a:rPr lang="it-IT" dirty="0"/>
              <a:t> sono 2-3 </a:t>
            </a:r>
            <a:r>
              <a:rPr lang="it-IT" dirty="0" err="1"/>
              <a:t>dictionary</a:t>
            </a:r>
            <a:r>
              <a:rPr lang="it-IT" dirty="0"/>
              <a:t> e </a:t>
            </a:r>
            <a:r>
              <a:rPr lang="it-IT" dirty="0" err="1"/>
              <a:t>NewTree</a:t>
            </a:r>
            <a:r>
              <a:rPr lang="it-IT" dirty="0"/>
              <a:t> è </a:t>
            </a:r>
            <a:r>
              <a:rPr lang="it-IT" dirty="0" err="1"/>
              <a:t>Tree</a:t>
            </a:r>
            <a:r>
              <a:rPr lang="it-IT" dirty="0"/>
              <a:t> con X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080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add23(T,X,NT)</a:t>
            </a:r>
          </a:p>
          <a:p>
            <a:pPr marL="0" indent="0">
              <a:buNone/>
            </a:pPr>
            <a:r>
              <a:rPr lang="it-IT" dirty="0"/>
              <a:t>richiede</a:t>
            </a:r>
          </a:p>
          <a:p>
            <a:pPr marL="0" indent="0">
              <a:buNone/>
            </a:pPr>
            <a:endParaRPr lang="it-IT" b="1" i="1" dirty="0"/>
          </a:p>
          <a:p>
            <a:pPr marL="0" indent="0">
              <a:buNone/>
            </a:pPr>
            <a:r>
              <a:rPr lang="it-IT" b="1" i="1" dirty="0" err="1"/>
              <a:t>ins</a:t>
            </a:r>
            <a:r>
              <a:rPr lang="it-IT" b="1" i="1" dirty="0"/>
              <a:t>(T,X,NT) </a:t>
            </a:r>
          </a:p>
          <a:p>
            <a:pPr marL="400050" lvl="1" indent="0">
              <a:buNone/>
            </a:pPr>
            <a:r>
              <a:rPr lang="it-IT" dirty="0"/>
              <a:t>come sopra ma vero se T e NT hanno la stessa altezza</a:t>
            </a:r>
          </a:p>
          <a:p>
            <a:pPr marL="0" indent="0">
              <a:buNone/>
            </a:pPr>
            <a:r>
              <a:rPr lang="it-IT" b="1" i="1" dirty="0"/>
              <a:t> </a:t>
            </a:r>
          </a:p>
          <a:p>
            <a:pPr marL="0" indent="0">
              <a:buNone/>
            </a:pPr>
            <a:r>
              <a:rPr lang="it-IT" b="1" i="1" dirty="0" err="1"/>
              <a:t>ins</a:t>
            </a:r>
            <a:r>
              <a:rPr lang="it-IT" b="1" i="1" dirty="0"/>
              <a:t>(</a:t>
            </a:r>
            <a:r>
              <a:rPr lang="it-IT" b="1" i="1" dirty="0" err="1"/>
              <a:t>T,X,NTa</a:t>
            </a:r>
            <a:r>
              <a:rPr lang="it-IT" b="1" i="1" dirty="0"/>
              <a:t>, Mb, </a:t>
            </a:r>
            <a:r>
              <a:rPr lang="it-IT" b="1" i="1" dirty="0" err="1"/>
              <a:t>NTb</a:t>
            </a:r>
            <a:r>
              <a:rPr lang="it-IT" b="1" i="1" dirty="0"/>
              <a:t>)</a:t>
            </a:r>
          </a:p>
          <a:p>
            <a:pPr marL="400050" lvl="2" indent="0">
              <a:buNone/>
            </a:pPr>
            <a:r>
              <a:rPr lang="it-IT" dirty="0"/>
              <a:t>Vero se T, </a:t>
            </a:r>
            <a:r>
              <a:rPr lang="it-IT" dirty="0" err="1"/>
              <a:t>NTa</a:t>
            </a:r>
            <a:r>
              <a:rPr lang="it-IT" dirty="0"/>
              <a:t> e </a:t>
            </a:r>
            <a:r>
              <a:rPr lang="it-IT" dirty="0" err="1"/>
              <a:t>NTb</a:t>
            </a:r>
            <a:r>
              <a:rPr lang="it-IT" dirty="0"/>
              <a:t> hanno la stessa altezza e </a:t>
            </a:r>
            <a:r>
              <a:rPr lang="it-IT" dirty="0" err="1"/>
              <a:t>NTa</a:t>
            </a:r>
            <a:r>
              <a:rPr lang="it-IT" dirty="0"/>
              <a:t> </a:t>
            </a:r>
            <a:r>
              <a:rPr lang="it-IT" dirty="0" err="1"/>
              <a:t>NTb</a:t>
            </a:r>
            <a:r>
              <a:rPr lang="it-IT" dirty="0"/>
              <a:t> sono la divisione dell’albero T e Mb è il minimo elemento di B</a:t>
            </a:r>
          </a:p>
          <a:p>
            <a:pPr marL="0" indent="0">
              <a:buNone/>
            </a:pPr>
            <a:endParaRPr lang="it-IT" b="1" i="1" dirty="0"/>
          </a:p>
          <a:p>
            <a:pPr marL="0" indent="0">
              <a:buNone/>
            </a:pPr>
            <a:r>
              <a:rPr lang="it-IT" dirty="0"/>
              <a:t> 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60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479900" y="632668"/>
            <a:ext cx="2111227" cy="6263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0859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add23( Tree, X, Tree1)  :-                  % Add X to Tree giving Tree1</a:t>
            </a:r>
          </a:p>
          <a:p>
            <a:pPr marL="0" indent="0">
              <a:buNone/>
            </a:pPr>
            <a:r>
              <a:rPr lang="en-US" sz="2000" dirty="0"/>
              <a:t>	ins( Tree, X, Tree1).                    % Tree grows in breadth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add23( Tree, X, n2( T1, M2, T2))  :-        % Tree grows upwards</a:t>
            </a:r>
          </a:p>
          <a:p>
            <a:pPr marL="0" indent="0">
              <a:buNone/>
            </a:pPr>
            <a:r>
              <a:rPr lang="en-US" sz="2000" dirty="0"/>
              <a:t>	ins( Tree, X, T1, M2, T2).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506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81594" y="213781"/>
            <a:ext cx="4468841" cy="662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8538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pPr marL="0" indent="0">
              <a:buNone/>
            </a:pPr>
            <a:r>
              <a:rPr lang="de-DE" sz="2400" dirty="0"/>
              <a:t>ins( n2( T1, M , T2), X, n2( NT1, M, T2))  :-</a:t>
            </a:r>
          </a:p>
          <a:p>
            <a:pPr marL="0" indent="0">
              <a:buNone/>
            </a:pPr>
            <a:r>
              <a:rPr lang="de-DE" sz="2400" dirty="0"/>
              <a:t>   </a:t>
            </a:r>
            <a:r>
              <a:rPr lang="de-DE" sz="2400" dirty="0" err="1"/>
              <a:t>gt</a:t>
            </a:r>
            <a:r>
              <a:rPr lang="de-DE" sz="2400" dirty="0"/>
              <a:t>( M, X),</a:t>
            </a:r>
          </a:p>
          <a:p>
            <a:pPr marL="0" indent="0">
              <a:buNone/>
            </a:pPr>
            <a:r>
              <a:rPr lang="de-DE" sz="2400" dirty="0"/>
              <a:t>   ins( T1, X, NT1).</a:t>
            </a:r>
          </a:p>
          <a:p>
            <a:endParaRPr lang="de-DE" sz="2400" dirty="0"/>
          </a:p>
          <a:p>
            <a:pPr marL="0" indent="0">
              <a:buNone/>
            </a:pPr>
            <a:r>
              <a:rPr lang="de-DE" sz="2400" dirty="0"/>
              <a:t>ins( n2( T1, M, T2), X, n3( NT1a, </a:t>
            </a:r>
            <a:r>
              <a:rPr lang="de-DE" sz="2400" dirty="0" err="1"/>
              <a:t>Mb</a:t>
            </a:r>
            <a:r>
              <a:rPr lang="de-DE" sz="2400" dirty="0"/>
              <a:t>, NT1b, M, T2))  :-</a:t>
            </a:r>
          </a:p>
          <a:p>
            <a:pPr marL="0" indent="0">
              <a:buNone/>
            </a:pPr>
            <a:r>
              <a:rPr lang="de-DE" sz="2400" dirty="0"/>
              <a:t>   </a:t>
            </a:r>
            <a:r>
              <a:rPr lang="de-DE" sz="2400" dirty="0" err="1"/>
              <a:t>gt</a:t>
            </a:r>
            <a:r>
              <a:rPr lang="de-DE" sz="2400" dirty="0"/>
              <a:t>( M, X),</a:t>
            </a:r>
          </a:p>
          <a:p>
            <a:pPr marL="0" indent="0">
              <a:buNone/>
            </a:pPr>
            <a:r>
              <a:rPr lang="de-DE" sz="2400" dirty="0"/>
              <a:t>   ins( T1, X, NT1a, </a:t>
            </a:r>
            <a:r>
              <a:rPr lang="de-DE" sz="2400" dirty="0" err="1"/>
              <a:t>Mb</a:t>
            </a:r>
            <a:r>
              <a:rPr lang="de-DE" sz="2400" dirty="0"/>
              <a:t>, NT1b).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22149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 err="1"/>
              <a:t>ins</a:t>
            </a:r>
            <a:r>
              <a:rPr lang="it-IT" sz="2400" dirty="0"/>
              <a:t>( 	n3( T1, M2, T2, M3, T3), X, </a:t>
            </a:r>
          </a:p>
          <a:p>
            <a:pPr marL="0" indent="0">
              <a:buNone/>
            </a:pPr>
            <a:r>
              <a:rPr lang="it-IT" sz="2400" dirty="0"/>
              <a:t>	n2( NT1a, Mb, NT1b), M2, n2( T2, M3, T3)) :-</a:t>
            </a:r>
          </a:p>
          <a:p>
            <a:pPr marL="0" indent="0">
              <a:buNone/>
            </a:pPr>
            <a:r>
              <a:rPr lang="it-IT" sz="2400" dirty="0"/>
              <a:t>   </a:t>
            </a:r>
            <a:r>
              <a:rPr lang="it-IT" sz="2400" dirty="0" err="1"/>
              <a:t>gt</a:t>
            </a:r>
            <a:r>
              <a:rPr lang="it-IT" sz="2400" dirty="0"/>
              <a:t>( M2, X),</a:t>
            </a:r>
          </a:p>
          <a:p>
            <a:pPr marL="0" indent="0">
              <a:buNone/>
            </a:pPr>
            <a:r>
              <a:rPr lang="it-IT" sz="2400" dirty="0"/>
              <a:t>   </a:t>
            </a:r>
            <a:r>
              <a:rPr lang="it-IT" sz="2400" dirty="0" err="1"/>
              <a:t>ins</a:t>
            </a:r>
            <a:r>
              <a:rPr lang="it-IT" sz="2400" dirty="0"/>
              <a:t>( T1, X, NT1a, Mb, NT1b).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64482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Inserire in un </a:t>
            </a:r>
            <a:r>
              <a:rPr lang="it-IT" b="1" i="1" dirty="0"/>
              <a:t>2-3 </a:t>
            </a:r>
            <a:r>
              <a:rPr lang="it-IT" b="1" i="1" dirty="0" err="1"/>
              <a:t>dictionary</a:t>
            </a:r>
            <a:r>
              <a:rPr lang="it-IT" b="1" i="1" dirty="0"/>
              <a:t>: a </a:t>
            </a:r>
            <a:r>
              <a:rPr lang="it-IT" b="1" i="1"/>
              <a:t>node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ins( nil, X, l(X)).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ins( l(A), X, l(A), X, l(X))  :-</a:t>
            </a:r>
          </a:p>
          <a:p>
            <a:pPr marL="0" indent="0">
              <a:buNone/>
            </a:pPr>
            <a:r>
              <a:rPr lang="pt-BR" dirty="0"/>
              <a:t>   gt( X, A).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ins( l(A), X, l(X), A, l(A))  :-</a:t>
            </a:r>
          </a:p>
          <a:p>
            <a:pPr marL="0" indent="0">
              <a:buNone/>
            </a:pPr>
            <a:r>
              <a:rPr lang="pt-BR" dirty="0"/>
              <a:t>   gt( A, X).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765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Settings\fabio\Dati applicazioni\Microsoft\Modelli\Template.pot</Template>
  <TotalTime>9727</TotalTime>
  <Words>836</Words>
  <Application>Microsoft Office PowerPoint</Application>
  <PresentationFormat>Presentazione su schermo (4:3)</PresentationFormat>
  <Paragraphs>106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Calibri</vt:lpstr>
      <vt:lpstr>Monotype Corsiva</vt:lpstr>
      <vt:lpstr>Times New Roman</vt:lpstr>
      <vt:lpstr>Template</vt:lpstr>
      <vt:lpstr>Alberi Bilanciati</vt:lpstr>
      <vt:lpstr>2-3 trees e 2-3 dictionary</vt:lpstr>
      <vt:lpstr>2-3 dictionary: esempio</vt:lpstr>
      <vt:lpstr>Ricerca in un 2-3 dictionary</vt:lpstr>
      <vt:lpstr>Ricerca in un 2-3 dictionary</vt:lpstr>
      <vt:lpstr>Ricerca in un 2-3 dictionary</vt:lpstr>
      <vt:lpstr>Inserire in un 2-3 dictionary</vt:lpstr>
      <vt:lpstr>Inserire in un 2-3 dictionary</vt:lpstr>
      <vt:lpstr>Inserire in un 2-3 dictionary</vt:lpstr>
      <vt:lpstr>Inserire in un 2-3 dictionary</vt:lpstr>
      <vt:lpstr>Inserire in un 2-3 dictionary</vt:lpstr>
      <vt:lpstr>Inserire in un 2-3 dictionary</vt:lpstr>
      <vt:lpstr>Inserire in un 2-3 dictionary</vt:lpstr>
      <vt:lpstr>Inserire in un 2-3 dictionary</vt:lpstr>
      <vt:lpstr>Inserire in un 2-3 dictionary: a node</vt:lpstr>
    </vt:vector>
  </TitlesOfParts>
  <Company>DISP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fabio</dc:creator>
  <cp:lastModifiedBy>william damico</cp:lastModifiedBy>
  <cp:revision>200</cp:revision>
  <dcterms:created xsi:type="dcterms:W3CDTF">2006-11-03T14:20:30Z</dcterms:created>
  <dcterms:modified xsi:type="dcterms:W3CDTF">2025-09-12T16:53:44Z</dcterms:modified>
</cp:coreProperties>
</file>