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8" r:id="rId10"/>
    <p:sldId id="444" r:id="rId11"/>
    <p:sldId id="445" r:id="rId12"/>
    <p:sldId id="446" r:id="rId13"/>
    <p:sldId id="447" r:id="rId14"/>
    <p:sldId id="448" r:id="rId15"/>
    <p:sldId id="429" r:id="rId16"/>
    <p:sldId id="422" r:id="rId17"/>
    <p:sldId id="423" r:id="rId18"/>
    <p:sldId id="425" r:id="rId19"/>
    <p:sldId id="430" r:id="rId20"/>
    <p:sldId id="431" r:id="rId21"/>
    <p:sldId id="432" r:id="rId22"/>
    <p:sldId id="433" r:id="rId23"/>
    <p:sldId id="434" r:id="rId24"/>
    <p:sldId id="449" r:id="rId25"/>
    <p:sldId id="426" r:id="rId26"/>
    <p:sldId id="427" r:id="rId27"/>
    <p:sldId id="421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</p:sldIdLst>
  <p:sldSz cx="9144000" cy="6858000" type="screen4x3"/>
  <p:notesSz cx="6681788" cy="9817100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67" autoAdjust="0"/>
    <p:restoredTop sz="90833" autoAdjust="0"/>
  </p:normalViewPr>
  <p:slideViewPr>
    <p:cSldViewPr>
      <p:cViewPr varScale="1">
        <p:scale>
          <a:sx n="146" d="100"/>
          <a:sy n="146" d="100"/>
        </p:scale>
        <p:origin x="2112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3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86454" y="0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6326"/>
            <a:ext cx="2895336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93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86454" y="9326326"/>
            <a:ext cx="2895334" cy="49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574" tIns="46287" rIns="92574" bIns="46287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34899E2-2B3C-4337-AE10-A1D9AC34322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8239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784856" y="0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/>
          <a:lstStyle>
            <a:lvl1pPr algn="r">
              <a:defRPr sz="1200"/>
            </a:lvl1pPr>
          </a:lstStyle>
          <a:p>
            <a:fld id="{7220D4B4-DB4A-4951-846C-1595D423D78F}" type="datetimeFigureOut">
              <a:rPr lang="it-IT" smtClean="0"/>
              <a:pPr/>
              <a:t>11/09/2025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89000" y="736600"/>
            <a:ext cx="4903788" cy="3679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74" tIns="46287" rIns="92574" bIns="46287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67540" y="4662356"/>
            <a:ext cx="5346708" cy="4418583"/>
          </a:xfrm>
          <a:prstGeom prst="rect">
            <a:avLst/>
          </a:prstGeom>
        </p:spPr>
        <p:txBody>
          <a:bodyPr vert="horz" lIns="92574" tIns="46287" rIns="92574" bIns="46287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784856" y="9324711"/>
            <a:ext cx="2895336" cy="490774"/>
          </a:xfrm>
          <a:prstGeom prst="rect">
            <a:avLst/>
          </a:prstGeom>
        </p:spPr>
        <p:txBody>
          <a:bodyPr vert="horz" lIns="92574" tIns="46287" rIns="92574" bIns="46287" rtlCol="0" anchor="b"/>
          <a:lstStyle>
            <a:lvl1pPr algn="r">
              <a:defRPr sz="1200"/>
            </a:lvl1pPr>
          </a:lstStyle>
          <a:p>
            <a:fld id="{F56DCA88-440A-4061-B96D-E8F387BC1DE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333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1F4B1C-FBCA-4A82-A378-08C632049972}" type="slidenum">
              <a:rPr lang="en-US"/>
              <a:pPr/>
              <a:t>16</a:t>
            </a:fld>
            <a:endParaRPr lang="en-US"/>
          </a:p>
        </p:txBody>
      </p:sp>
      <p:sp>
        <p:nvSpPr>
          <p:cNvPr id="114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7FB9A0-F924-4AEA-AED3-867DCBD49ABC}" type="slidenum">
              <a:rPr lang="en-US"/>
              <a:pPr/>
              <a:t>17</a:t>
            </a:fld>
            <a:endParaRPr lang="en-US"/>
          </a:p>
        </p:txBody>
      </p:sp>
      <p:sp>
        <p:nvSpPr>
          <p:cNvPr id="114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DCA88-440A-4061-B96D-E8F387BC1DEE}" type="slidenum">
              <a:rPr lang="it-IT" smtClean="0"/>
              <a:pPr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21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587B41-EDCB-4C04-BA8D-2719A147F9C4}" type="slidenum">
              <a:rPr lang="en-US"/>
              <a:pPr/>
              <a:t>26</a:t>
            </a:fld>
            <a:endParaRPr lang="en-US"/>
          </a:p>
        </p:txBody>
      </p:sp>
      <p:sp>
        <p:nvSpPr>
          <p:cNvPr id="1155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457200" y="36576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7E25B-E2DE-4F42-BBFF-4275E3601AA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95E59-FD02-46A5-87FB-59FC9089A558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B2856-BE83-47A8-8EBD-2B09A994671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2AA03-1DEF-479B-BA90-0449EFBD82A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66CAC-0257-4ABB-A901-4B67BBAA5A6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A0B8F-3B02-459C-88CC-B52092B8F18A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0808E5-A24B-42A1-9AB3-95F5F820D4B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561E8A-B616-4326-922B-C87CA87E5F6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8C8DD-59AB-4FBB-B81B-791193D3028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24E71-A39B-4480-9796-7D555468585B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076" name="Rectangle 102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77BCD32-25A8-43C4-A4F8-AE217E922E3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sp>
        <p:nvSpPr>
          <p:cNvPr id="3077" name="Line 1029"/>
          <p:cNvSpPr>
            <a:spLocks noChangeShapeType="1"/>
          </p:cNvSpPr>
          <p:nvPr/>
        </p:nvSpPr>
        <p:spPr bwMode="auto">
          <a:xfrm>
            <a:off x="228600" y="6248400"/>
            <a:ext cx="861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8" name="Line 1030"/>
          <p:cNvSpPr>
            <a:spLocks noChangeShapeType="1"/>
          </p:cNvSpPr>
          <p:nvPr/>
        </p:nvSpPr>
        <p:spPr bwMode="auto">
          <a:xfrm>
            <a:off x="228600" y="152400"/>
            <a:ext cx="784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9" name="Text Box 1031"/>
          <p:cNvSpPr txBox="1">
            <a:spLocks noChangeArrowheads="1"/>
          </p:cNvSpPr>
          <p:nvPr/>
        </p:nvSpPr>
        <p:spPr bwMode="auto">
          <a:xfrm>
            <a:off x="152400" y="6248400"/>
            <a:ext cx="93647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 dirty="0"/>
              <a:t>©</a:t>
            </a:r>
            <a:r>
              <a:rPr lang="it-IT" sz="900" baseline="0" dirty="0"/>
              <a:t> </a:t>
            </a:r>
            <a:r>
              <a:rPr lang="it-IT" sz="900" dirty="0" err="1"/>
              <a:t>F.M.Zanzotto</a:t>
            </a:r>
            <a:endParaRPr lang="it-IT" sz="900" dirty="0"/>
          </a:p>
        </p:txBody>
      </p:sp>
      <p:sp>
        <p:nvSpPr>
          <p:cNvPr id="3080" name="Text Box 1032"/>
          <p:cNvSpPr txBox="1">
            <a:spLocks noChangeArrowheads="1"/>
          </p:cNvSpPr>
          <p:nvPr/>
        </p:nvSpPr>
        <p:spPr bwMode="auto">
          <a:xfrm>
            <a:off x="3157579" y="6248400"/>
            <a:ext cx="307969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900" dirty="0"/>
              <a:t>Logica</a:t>
            </a:r>
            <a:r>
              <a:rPr lang="it-IT" sz="900" baseline="0" dirty="0"/>
              <a:t> per la Programmazione e la </a:t>
            </a:r>
            <a:r>
              <a:rPr lang="it-IT" sz="900" baseline="0"/>
              <a:t>Dimostrazione Automatica</a:t>
            </a:r>
            <a:endParaRPr lang="it-IT" sz="900" dirty="0"/>
          </a:p>
        </p:txBody>
      </p:sp>
      <p:pic>
        <p:nvPicPr>
          <p:cNvPr id="23561" name="Picture 1033" descr="U:\Lavoro\Articoli\Presentazioni\tvlogo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5400" y="0"/>
            <a:ext cx="203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2" name="Text Box 1034"/>
          <p:cNvSpPr txBox="1">
            <a:spLocks noChangeArrowheads="1"/>
          </p:cNvSpPr>
          <p:nvPr/>
        </p:nvSpPr>
        <p:spPr bwMode="auto">
          <a:xfrm>
            <a:off x="142875" y="131763"/>
            <a:ext cx="15668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it-IT" sz="900">
                <a:solidFill>
                  <a:schemeClr val="accent1"/>
                </a:solidFill>
                <a:latin typeface="Monotype Corsiva" pitchFamily="66" charset="0"/>
              </a:rPr>
              <a:t>University of Rome “Tor Vergata”</a:t>
            </a:r>
          </a:p>
        </p:txBody>
      </p:sp>
      <p:pic>
        <p:nvPicPr>
          <p:cNvPr id="23563" name="Picture 1035" descr="C:\HOME\LAVORO\Laboratorio\Logo\logo art2 copy.gif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0"/>
            <a:ext cx="83820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3399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41984"/>
            <a:ext cx="7772400" cy="1143000"/>
          </a:xfrm>
        </p:spPr>
        <p:txBody>
          <a:bodyPr/>
          <a:lstStyle/>
          <a:p>
            <a:r>
              <a:rPr lang="it-IT" dirty="0"/>
              <a:t>Percorsi su grafi, Sottoalberi Comuni</a:t>
            </a:r>
            <a:br>
              <a:rPr lang="it-IT" dirty="0"/>
            </a:br>
            <a:r>
              <a:rPr lang="it-IT" dirty="0"/>
              <a:t>e Programmazione Dinamica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Fabio Massimo Zanzotto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4859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Ritorniamo all’indietro: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Data la rappresentazione di un grafo come archi tra nodi </a:t>
            </a:r>
          </a:p>
          <a:p>
            <a:pPr marL="0" indent="0" algn="ctr">
              <a:buNone/>
            </a:pPr>
            <a:r>
              <a:rPr lang="it-IT" dirty="0"/>
              <a:t>/* e(X,Y) */</a:t>
            </a:r>
          </a:p>
          <a:p>
            <a:pPr marL="0" indent="0">
              <a:buNone/>
            </a:pPr>
            <a:r>
              <a:rPr lang="it-IT" dirty="0"/>
              <a:t>Scrivere il predicato:</a:t>
            </a:r>
          </a:p>
          <a:p>
            <a:pPr marL="0" indent="0" algn="ctr">
              <a:buNone/>
            </a:pPr>
            <a:r>
              <a:rPr lang="it-IT" dirty="0"/>
              <a:t>/* </a:t>
            </a:r>
            <a:r>
              <a:rPr lang="it-IT" dirty="0" err="1"/>
              <a:t>path</a:t>
            </a:r>
            <a:r>
              <a:rPr lang="it-IT" dirty="0"/>
              <a:t>(X,Y) */</a:t>
            </a:r>
          </a:p>
          <a:p>
            <a:pPr marL="0" indent="0">
              <a:buNone/>
            </a:pPr>
            <a:r>
              <a:rPr lang="it-IT" dirty="0"/>
              <a:t>che sia vero se esiste un percorso tra X e Y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939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Esempio: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a,b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b,c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c,d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d,e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f,e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r>
              <a:rPr lang="it-IT" sz="2400" dirty="0"/>
              <a:t>e(</a:t>
            </a:r>
            <a:r>
              <a:rPr lang="it-IT" sz="2400" dirty="0" err="1"/>
              <a:t>a,e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493658" y="1971243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</a:t>
            </a:r>
          </a:p>
        </p:txBody>
      </p:sp>
      <p:cxnSp>
        <p:nvCxnSpPr>
          <p:cNvPr id="5" name="Connettore 2 4"/>
          <p:cNvCxnSpPr>
            <a:stCxn id="4" idx="3"/>
            <a:endCxn id="11" idx="1"/>
          </p:cNvCxnSpPr>
          <p:nvPr/>
        </p:nvCxnSpPr>
        <p:spPr>
          <a:xfrm flipV="1">
            <a:off x="1853698" y="1826647"/>
            <a:ext cx="180020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ttore 2 5"/>
          <p:cNvCxnSpPr>
            <a:stCxn id="11" idx="3"/>
            <a:endCxn id="12" idx="1"/>
          </p:cNvCxnSpPr>
          <p:nvPr/>
        </p:nvCxnSpPr>
        <p:spPr>
          <a:xfrm>
            <a:off x="4013938" y="1826647"/>
            <a:ext cx="367240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ttore 2 6"/>
          <p:cNvCxnSpPr>
            <a:stCxn id="4" idx="2"/>
            <a:endCxn id="14" idx="1"/>
          </p:cNvCxnSpPr>
          <p:nvPr/>
        </p:nvCxnSpPr>
        <p:spPr>
          <a:xfrm rot="5400000" flipH="1" flipV="1">
            <a:off x="2556066" y="1448315"/>
            <a:ext cx="71427" cy="18362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stCxn id="12" idx="2"/>
            <a:endCxn id="13" idx="3"/>
          </p:cNvCxnSpPr>
          <p:nvPr/>
        </p:nvCxnSpPr>
        <p:spPr>
          <a:xfrm rot="5400000">
            <a:off x="7091990" y="1484318"/>
            <a:ext cx="216605" cy="1332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2 8"/>
          <p:cNvCxnSpPr>
            <a:stCxn id="13" idx="1"/>
            <a:endCxn id="14" idx="3"/>
          </p:cNvCxnSpPr>
          <p:nvPr/>
        </p:nvCxnSpPr>
        <p:spPr>
          <a:xfrm rot="10800000" flipV="1">
            <a:off x="3869922" y="2258695"/>
            <a:ext cx="2304256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/>
          <p:cNvCxnSpPr>
            <a:stCxn id="15" idx="1"/>
            <a:endCxn id="14" idx="2"/>
          </p:cNvCxnSpPr>
          <p:nvPr/>
        </p:nvCxnSpPr>
        <p:spPr>
          <a:xfrm rot="10800000">
            <a:off x="3689902" y="2546147"/>
            <a:ext cx="1836204" cy="216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sellaDiTesto 10"/>
          <p:cNvSpPr txBox="1"/>
          <p:nvPr/>
        </p:nvSpPr>
        <p:spPr>
          <a:xfrm>
            <a:off x="3653898" y="1611203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b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7686346" y="1611203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c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6174178" y="2043251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d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509882" y="2115259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e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5526106" y="2547307"/>
            <a:ext cx="3600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f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4360701" y="3487574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/>
              <a:t>Soluzione 1</a:t>
            </a:r>
          </a:p>
          <a:p>
            <a:r>
              <a:rPr lang="it-IT" dirty="0" err="1"/>
              <a:t>path</a:t>
            </a:r>
            <a:r>
              <a:rPr lang="it-IT" dirty="0"/>
              <a:t>(X,Y):- e(X,Y).</a:t>
            </a:r>
          </a:p>
          <a:p>
            <a:r>
              <a:rPr lang="it-IT" dirty="0" err="1"/>
              <a:t>path</a:t>
            </a:r>
            <a:r>
              <a:rPr lang="it-IT" dirty="0"/>
              <a:t>(X,Y):- e(X,Z), </a:t>
            </a:r>
            <a:r>
              <a:rPr lang="it-IT" dirty="0" err="1"/>
              <a:t>path</a:t>
            </a:r>
            <a:r>
              <a:rPr lang="it-IT" dirty="0"/>
              <a:t>(Z,Y).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4360702" y="4869160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/>
              <a:t>Soluzione 2</a:t>
            </a:r>
          </a:p>
          <a:p>
            <a:r>
              <a:rPr lang="it-IT" dirty="0" err="1"/>
              <a:t>path</a:t>
            </a:r>
            <a:r>
              <a:rPr lang="it-IT" dirty="0"/>
              <a:t>(X,Y):- e(X,Y).</a:t>
            </a:r>
          </a:p>
          <a:p>
            <a:r>
              <a:rPr lang="it-IT" dirty="0" err="1"/>
              <a:t>path</a:t>
            </a:r>
            <a:r>
              <a:rPr lang="it-IT" dirty="0"/>
              <a:t>(X,Y):- </a:t>
            </a:r>
            <a:r>
              <a:rPr lang="it-IT" dirty="0" err="1"/>
              <a:t>path</a:t>
            </a:r>
            <a:r>
              <a:rPr lang="it-IT" dirty="0"/>
              <a:t>(X,Z), e(Z,Y).</a:t>
            </a:r>
          </a:p>
        </p:txBody>
      </p:sp>
    </p:spTree>
    <p:extLst>
      <p:ext uri="{BB962C8B-B14F-4D97-AF65-F5344CB8AC3E}">
        <p14:creationId xmlns:p14="http://schemas.microsoft.com/office/powerpoint/2010/main" val="423706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Come porre i limiti di ricerca alla </a:t>
            </a:r>
            <a:r>
              <a:rPr lang="it-IT" b="1" i="1" dirty="0"/>
              <a:t>Soluzione 2</a:t>
            </a:r>
            <a:r>
              <a:rPr lang="it-IT" dirty="0"/>
              <a:t>?</a:t>
            </a:r>
          </a:p>
          <a:p>
            <a:pPr marL="0" indent="0" algn="ctr">
              <a:buNone/>
            </a:pPr>
            <a:r>
              <a:rPr lang="it-IT" b="1" i="1" dirty="0"/>
              <a:t>Cominciamo…</a:t>
            </a:r>
          </a:p>
          <a:p>
            <a:pPr marL="0" indent="0">
              <a:buNone/>
            </a:pPr>
            <a:r>
              <a:rPr lang="it-IT" dirty="0"/>
              <a:t>Scrivere il predicato</a:t>
            </a:r>
          </a:p>
          <a:p>
            <a:pPr marL="0" indent="0" algn="ctr">
              <a:buNone/>
            </a:pPr>
            <a:r>
              <a:rPr lang="it-IT" dirty="0"/>
              <a:t>/*</a:t>
            </a:r>
            <a:r>
              <a:rPr lang="it-IT" dirty="0" err="1"/>
              <a:t>path</a:t>
            </a:r>
            <a:r>
              <a:rPr lang="it-IT" dirty="0"/>
              <a:t>(X,Y,PATH)*/</a:t>
            </a:r>
          </a:p>
          <a:p>
            <a:pPr marL="0" indent="0">
              <a:buNone/>
            </a:pPr>
            <a:r>
              <a:rPr lang="it-IT" dirty="0"/>
              <a:t>Vero se esiste un percorso tra X ed Y e PATH è la lista dei nodi visitati.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318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 con limite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2286000" y="282883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i="1" dirty="0"/>
              <a:t>Soluzione 2 - modificata</a:t>
            </a:r>
          </a:p>
          <a:p>
            <a:r>
              <a:rPr lang="it-IT" dirty="0" err="1"/>
              <a:t>path</a:t>
            </a:r>
            <a:r>
              <a:rPr lang="it-IT" dirty="0"/>
              <a:t>(X,Y,[X,Y]):- </a:t>
            </a:r>
          </a:p>
          <a:p>
            <a:r>
              <a:rPr lang="it-IT" dirty="0"/>
              <a:t>	e(X,Y).</a:t>
            </a:r>
          </a:p>
          <a:p>
            <a:r>
              <a:rPr lang="it-IT" dirty="0" err="1"/>
              <a:t>path</a:t>
            </a:r>
            <a:r>
              <a:rPr lang="it-IT" dirty="0"/>
              <a:t>(X,Y,P):- </a:t>
            </a:r>
          </a:p>
          <a:p>
            <a:r>
              <a:rPr lang="it-IT" dirty="0"/>
              <a:t>	</a:t>
            </a:r>
            <a:r>
              <a:rPr lang="it-IT" dirty="0" err="1"/>
              <a:t>path</a:t>
            </a:r>
            <a:r>
              <a:rPr lang="it-IT" dirty="0"/>
              <a:t>(X,Z,P1), e(Z,Y),</a:t>
            </a:r>
          </a:p>
          <a:p>
            <a:r>
              <a:rPr lang="it-IT" dirty="0"/>
              <a:t>	</a:t>
            </a:r>
            <a:r>
              <a:rPr lang="it-IT" dirty="0" err="1"/>
              <a:t>lastelem</a:t>
            </a:r>
            <a:r>
              <a:rPr lang="it-IT" dirty="0"/>
              <a:t>(P,Y,P1).</a:t>
            </a:r>
          </a:p>
        </p:txBody>
      </p:sp>
    </p:spTree>
    <p:extLst>
      <p:ext uri="{BB962C8B-B14F-4D97-AF65-F5344CB8AC3E}">
        <p14:creationId xmlns:p14="http://schemas.microsoft.com/office/powerpoint/2010/main" val="712686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 con limite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Come porre i limiti di ricerca alla </a:t>
            </a:r>
            <a:r>
              <a:rPr lang="it-IT" b="1" i="1" dirty="0"/>
              <a:t>Soluzione 2</a:t>
            </a:r>
            <a:r>
              <a:rPr lang="it-IT" dirty="0"/>
              <a:t>?</a:t>
            </a:r>
          </a:p>
          <a:p>
            <a:pPr marL="0" indent="0" algn="ctr">
              <a:buNone/>
            </a:pPr>
            <a:r>
              <a:rPr lang="it-IT" b="1" i="1" dirty="0"/>
              <a:t>Cominciamo…</a:t>
            </a:r>
          </a:p>
          <a:p>
            <a:pPr marL="0" indent="0">
              <a:buNone/>
            </a:pPr>
            <a:r>
              <a:rPr lang="it-IT" dirty="0"/>
              <a:t>Scrivere il predicato</a:t>
            </a:r>
          </a:p>
          <a:p>
            <a:pPr marL="0" indent="0" algn="ctr">
              <a:buNone/>
            </a:pPr>
            <a:r>
              <a:rPr lang="it-IT" dirty="0"/>
              <a:t>/*</a:t>
            </a:r>
            <a:r>
              <a:rPr lang="it-IT" dirty="0" err="1"/>
              <a:t>path</a:t>
            </a:r>
            <a:r>
              <a:rPr lang="it-IT" dirty="0"/>
              <a:t>(X,Y,PATH,MAX)*/</a:t>
            </a:r>
          </a:p>
          <a:p>
            <a:pPr marL="0" indent="0">
              <a:buNone/>
            </a:pPr>
            <a:r>
              <a:rPr lang="it-IT" dirty="0"/>
              <a:t>Vero se esiste un percorso tra X ed Y, PATH è la lista dei nodi visitati e il cammino ha un numero di nodi minore di MAX.</a:t>
            </a:r>
          </a:p>
          <a:p>
            <a:pPr marL="0" indent="0" algn="ctr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71697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 con limite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0" y="213285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i="1" dirty="0"/>
              <a:t>Soluzione 2 - modificata</a:t>
            </a:r>
          </a:p>
          <a:p>
            <a:r>
              <a:rPr lang="it-IT" dirty="0" err="1"/>
              <a:t>path</a:t>
            </a:r>
            <a:r>
              <a:rPr lang="it-IT" dirty="0"/>
              <a:t>(X,Y,[X,Y],MAX):-</a:t>
            </a:r>
          </a:p>
          <a:p>
            <a:r>
              <a:rPr lang="it-IT" dirty="0"/>
              <a:t>	MAX &gt;= 2, </a:t>
            </a:r>
          </a:p>
          <a:p>
            <a:r>
              <a:rPr lang="it-IT" dirty="0"/>
              <a:t>	e(X,Y).</a:t>
            </a:r>
          </a:p>
          <a:p>
            <a:r>
              <a:rPr lang="it-IT" dirty="0" err="1"/>
              <a:t>path</a:t>
            </a:r>
            <a:r>
              <a:rPr lang="it-IT" dirty="0"/>
              <a:t>(X,Y,P,MAX):- </a:t>
            </a:r>
          </a:p>
          <a:p>
            <a:r>
              <a:rPr lang="it-IT" dirty="0"/>
              <a:t>	</a:t>
            </a:r>
            <a:r>
              <a:rPr lang="it-IT" dirty="0" err="1"/>
              <a:t>hasmaxlength</a:t>
            </a:r>
            <a:r>
              <a:rPr lang="it-IT" dirty="0"/>
              <a:t>(P,MAX),</a:t>
            </a:r>
          </a:p>
          <a:p>
            <a:r>
              <a:rPr lang="it-IT" dirty="0"/>
              <a:t>	MAX1 </a:t>
            </a:r>
            <a:r>
              <a:rPr lang="it-IT" dirty="0" err="1"/>
              <a:t>is</a:t>
            </a:r>
            <a:r>
              <a:rPr lang="it-IT" dirty="0"/>
              <a:t> MAX – 1,</a:t>
            </a:r>
          </a:p>
          <a:p>
            <a:r>
              <a:rPr lang="it-IT" dirty="0"/>
              <a:t>	</a:t>
            </a:r>
            <a:r>
              <a:rPr lang="it-IT" dirty="0" err="1"/>
              <a:t>path</a:t>
            </a:r>
            <a:r>
              <a:rPr lang="it-IT" dirty="0"/>
              <a:t>(X,Z,P1,MAX1), </a:t>
            </a:r>
          </a:p>
          <a:p>
            <a:r>
              <a:rPr lang="it-IT" dirty="0"/>
              <a:t>	e(Z,Y),</a:t>
            </a:r>
          </a:p>
          <a:p>
            <a:r>
              <a:rPr lang="it-IT" dirty="0"/>
              <a:t>	</a:t>
            </a:r>
            <a:r>
              <a:rPr lang="it-IT" dirty="0" err="1"/>
              <a:t>lastelem</a:t>
            </a:r>
            <a:r>
              <a:rPr lang="it-IT" dirty="0"/>
              <a:t>(P,Y,P1).</a:t>
            </a:r>
          </a:p>
        </p:txBody>
      </p:sp>
      <p:sp>
        <p:nvSpPr>
          <p:cNvPr id="5" name="Rettangolo 4"/>
          <p:cNvSpPr/>
          <p:nvPr/>
        </p:nvSpPr>
        <p:spPr>
          <a:xfrm>
            <a:off x="4747929" y="228525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hasmaxlength</a:t>
            </a:r>
            <a:r>
              <a:rPr lang="en-US" dirty="0"/>
              <a:t>(_,MAX):-	</a:t>
            </a:r>
          </a:p>
          <a:p>
            <a:r>
              <a:rPr lang="en-US" dirty="0"/>
              <a:t>	MAX &lt; 0, !, fail.</a:t>
            </a:r>
            <a:endParaRPr lang="it-IT" dirty="0"/>
          </a:p>
          <a:p>
            <a:r>
              <a:rPr lang="it-IT" dirty="0" err="1"/>
              <a:t>hasmaxlength</a:t>
            </a:r>
            <a:r>
              <a:rPr lang="it-IT" dirty="0"/>
              <a:t>([],MAX):-</a:t>
            </a:r>
          </a:p>
          <a:p>
            <a:r>
              <a:rPr lang="it-IT" dirty="0"/>
              <a:t>	MAX &gt;= 0.</a:t>
            </a:r>
          </a:p>
          <a:p>
            <a:endParaRPr lang="it-IT" dirty="0"/>
          </a:p>
          <a:p>
            <a:r>
              <a:rPr lang="it-IT" dirty="0" err="1"/>
              <a:t>hasmaxlength</a:t>
            </a:r>
            <a:r>
              <a:rPr lang="it-IT" dirty="0"/>
              <a:t>([_|R],MAX):-</a:t>
            </a:r>
          </a:p>
          <a:p>
            <a:r>
              <a:rPr lang="it-IT" dirty="0"/>
              <a:t>	MAX1 </a:t>
            </a:r>
            <a:r>
              <a:rPr lang="it-IT" dirty="0" err="1"/>
              <a:t>is</a:t>
            </a:r>
            <a:r>
              <a:rPr lang="it-IT" dirty="0"/>
              <a:t> MAX -1,</a:t>
            </a:r>
          </a:p>
          <a:p>
            <a:r>
              <a:rPr lang="it-IT" dirty="0"/>
              <a:t>	 </a:t>
            </a:r>
            <a:r>
              <a:rPr lang="it-IT" dirty="0" err="1"/>
              <a:t>hasmaxlength</a:t>
            </a:r>
            <a:r>
              <a:rPr lang="it-IT" dirty="0"/>
              <a:t>(R,MAX1).</a:t>
            </a:r>
          </a:p>
        </p:txBody>
      </p:sp>
    </p:spTree>
    <p:extLst>
      <p:ext uri="{BB962C8B-B14F-4D97-AF65-F5344CB8AC3E}">
        <p14:creationId xmlns:p14="http://schemas.microsoft.com/office/powerpoint/2010/main" val="94858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Percorso su grafi con limite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ttangolo 3"/>
          <p:cNvSpPr/>
          <p:nvPr/>
        </p:nvSpPr>
        <p:spPr>
          <a:xfrm>
            <a:off x="1691680" y="2132856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b="1" i="1" dirty="0"/>
              <a:t>Soluzione 2 - modificata</a:t>
            </a:r>
          </a:p>
          <a:p>
            <a:r>
              <a:rPr lang="it-IT" dirty="0" err="1"/>
              <a:t>path</a:t>
            </a:r>
            <a:r>
              <a:rPr lang="it-IT" dirty="0"/>
              <a:t>(_,_,_,MAX):-</a:t>
            </a:r>
          </a:p>
          <a:p>
            <a:r>
              <a:rPr lang="it-IT" dirty="0"/>
              <a:t>	MAX &lt;  0, !, </a:t>
            </a:r>
            <a:r>
              <a:rPr lang="it-IT" dirty="0" err="1"/>
              <a:t>fail</a:t>
            </a:r>
            <a:r>
              <a:rPr lang="it-IT" dirty="0"/>
              <a:t>.</a:t>
            </a:r>
          </a:p>
          <a:p>
            <a:r>
              <a:rPr lang="it-IT" dirty="0" err="1"/>
              <a:t>path</a:t>
            </a:r>
            <a:r>
              <a:rPr lang="it-IT" dirty="0"/>
              <a:t>(X,Y,[X,Y],MAX):-</a:t>
            </a:r>
          </a:p>
          <a:p>
            <a:r>
              <a:rPr lang="it-IT" dirty="0"/>
              <a:t>	MAX &gt;= 2, </a:t>
            </a:r>
          </a:p>
          <a:p>
            <a:r>
              <a:rPr lang="it-IT" dirty="0"/>
              <a:t>	e(X,Y).</a:t>
            </a:r>
          </a:p>
          <a:p>
            <a:r>
              <a:rPr lang="it-IT" dirty="0" err="1"/>
              <a:t>path</a:t>
            </a:r>
            <a:r>
              <a:rPr lang="it-IT" dirty="0"/>
              <a:t>(X,Y,P,MAX):- </a:t>
            </a:r>
          </a:p>
          <a:p>
            <a:r>
              <a:rPr lang="it-IT" dirty="0"/>
              <a:t>	MAX1 </a:t>
            </a:r>
            <a:r>
              <a:rPr lang="it-IT" dirty="0" err="1"/>
              <a:t>is</a:t>
            </a:r>
            <a:r>
              <a:rPr lang="it-IT" dirty="0"/>
              <a:t> MAX – 1,</a:t>
            </a:r>
          </a:p>
          <a:p>
            <a:r>
              <a:rPr lang="it-IT" dirty="0"/>
              <a:t>	</a:t>
            </a:r>
            <a:r>
              <a:rPr lang="it-IT" dirty="0" err="1"/>
              <a:t>path</a:t>
            </a:r>
            <a:r>
              <a:rPr lang="it-IT" dirty="0"/>
              <a:t>(X,Z,P1,MAX1), </a:t>
            </a:r>
          </a:p>
          <a:p>
            <a:r>
              <a:rPr lang="it-IT" dirty="0"/>
              <a:t>	e(Z,Y),</a:t>
            </a:r>
          </a:p>
          <a:p>
            <a:r>
              <a:rPr lang="it-IT" dirty="0"/>
              <a:t>	</a:t>
            </a:r>
            <a:r>
              <a:rPr lang="it-IT" dirty="0" err="1"/>
              <a:t>lastelem</a:t>
            </a:r>
            <a:r>
              <a:rPr lang="it-IT" dirty="0"/>
              <a:t>(P,Y,P1).</a:t>
            </a:r>
          </a:p>
        </p:txBody>
      </p:sp>
    </p:spTree>
    <p:extLst>
      <p:ext uri="{BB962C8B-B14F-4D97-AF65-F5344CB8AC3E}">
        <p14:creationId xmlns:p14="http://schemas.microsoft.com/office/powerpoint/2010/main" val="73267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La programmazione dinamica prevede:</a:t>
            </a:r>
          </a:p>
          <a:p>
            <a:endParaRPr lang="it-IT" dirty="0"/>
          </a:p>
          <a:p>
            <a:pPr marL="0" indent="0" algn="ctr">
              <a:buNone/>
            </a:pPr>
            <a:r>
              <a:rPr lang="it-IT" dirty="0"/>
              <a:t>la memorizzazione delle computazioni intermedie 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per diminuire la complessità temporale a scapito di quella spaziale.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La programmazione dinamica è utilissima quando ci sono dei predicati ricorsivi che dentro di se usano risultati precedentemente computati</a:t>
            </a:r>
          </a:p>
        </p:txBody>
      </p:sp>
    </p:spTree>
    <p:extLst>
      <p:ext uri="{BB962C8B-B14F-4D97-AF65-F5344CB8AC3E}">
        <p14:creationId xmlns:p14="http://schemas.microsoft.com/office/powerpoint/2010/main" val="123700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r>
              <a:rPr lang="it-IT" dirty="0"/>
              <a:t>Fibonacci</a:t>
            </a:r>
          </a:p>
          <a:p>
            <a:endParaRPr lang="it-IT" dirty="0"/>
          </a:p>
          <a:p>
            <a:r>
              <a:rPr lang="it-IT" dirty="0"/>
              <a:t>Similitudine tra Alberi</a:t>
            </a:r>
          </a:p>
        </p:txBody>
      </p:sp>
    </p:spTree>
    <p:extLst>
      <p:ext uri="{BB962C8B-B14F-4D97-AF65-F5344CB8AC3E}">
        <p14:creationId xmlns:p14="http://schemas.microsoft.com/office/powerpoint/2010/main" val="21437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Numero di Fibonacci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(1) = 1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(2) = 1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(N) = </a:t>
            </a:r>
            <a:r>
              <a:rPr lang="it-IT" dirty="0" err="1"/>
              <a:t>fib</a:t>
            </a:r>
            <a:r>
              <a:rPr lang="it-IT" dirty="0"/>
              <a:t>(N-1)  + </a:t>
            </a:r>
            <a:r>
              <a:rPr lang="it-IT" dirty="0" err="1"/>
              <a:t>fib</a:t>
            </a:r>
            <a:r>
              <a:rPr lang="it-IT" dirty="0"/>
              <a:t>(N-2). </a:t>
            </a:r>
          </a:p>
        </p:txBody>
      </p:sp>
    </p:spTree>
    <p:extLst>
      <p:ext uri="{BB962C8B-B14F-4D97-AF65-F5344CB8AC3E}">
        <p14:creationId xmlns:p14="http://schemas.microsoft.com/office/powerpoint/2010/main" val="355489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Fibonacci: prima!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Scrivere il predicato </a:t>
            </a:r>
          </a:p>
          <a:p>
            <a:pPr marL="0" indent="0" algn="ctr">
              <a:buNone/>
            </a:pPr>
            <a:r>
              <a:rPr lang="it-IT" dirty="0" err="1"/>
              <a:t>fib</a:t>
            </a:r>
            <a:r>
              <a:rPr lang="it-IT" dirty="0"/>
              <a:t>(X,N)</a:t>
            </a:r>
          </a:p>
          <a:p>
            <a:pPr marL="0" indent="0">
              <a:buNone/>
            </a:pPr>
            <a:r>
              <a:rPr lang="it-IT" dirty="0"/>
              <a:t>vero se X è un intero e N è il numero di </a:t>
            </a:r>
            <a:r>
              <a:rPr lang="it-IT" dirty="0" err="1"/>
              <a:t>fibonacci</a:t>
            </a:r>
            <a:r>
              <a:rPr lang="it-IT" dirty="0"/>
              <a:t> ad esso associato.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4551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Fibonacci: prima!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(1,1).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(2,1).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(N,F):-</a:t>
            </a:r>
          </a:p>
          <a:p>
            <a:pPr marL="0" indent="0">
              <a:buNone/>
            </a:pPr>
            <a:r>
              <a:rPr lang="it-IT" dirty="0"/>
              <a:t>	N &gt; 2,</a:t>
            </a:r>
          </a:p>
          <a:p>
            <a:pPr marL="0" indent="0">
              <a:buNone/>
            </a:pPr>
            <a:r>
              <a:rPr lang="it-IT" dirty="0"/>
              <a:t>	N1 </a:t>
            </a:r>
            <a:r>
              <a:rPr lang="it-IT" dirty="0" err="1"/>
              <a:t>is</a:t>
            </a:r>
            <a:r>
              <a:rPr lang="it-IT" dirty="0"/>
              <a:t> N - 1, </a:t>
            </a:r>
            <a:r>
              <a:rPr lang="it-IT" dirty="0" err="1"/>
              <a:t>fib</a:t>
            </a:r>
            <a:r>
              <a:rPr lang="it-IT" dirty="0"/>
              <a:t>(N1,F1),</a:t>
            </a:r>
          </a:p>
          <a:p>
            <a:pPr marL="0" indent="0">
              <a:buNone/>
            </a:pPr>
            <a:r>
              <a:rPr lang="it-IT" dirty="0"/>
              <a:t>	N2 </a:t>
            </a:r>
            <a:r>
              <a:rPr lang="it-IT" dirty="0" err="1"/>
              <a:t>is</a:t>
            </a:r>
            <a:r>
              <a:rPr lang="it-IT" dirty="0"/>
              <a:t> N - 2, </a:t>
            </a:r>
            <a:r>
              <a:rPr lang="it-IT" dirty="0" err="1"/>
              <a:t>fib</a:t>
            </a:r>
            <a:r>
              <a:rPr lang="it-IT" dirty="0"/>
              <a:t>(N2,F2),</a:t>
            </a:r>
          </a:p>
          <a:p>
            <a:pPr marL="0" indent="0">
              <a:buNone/>
            </a:pPr>
            <a:r>
              <a:rPr lang="it-IT" dirty="0"/>
              <a:t>	F </a:t>
            </a:r>
            <a:r>
              <a:rPr lang="it-IT" dirty="0" err="1"/>
              <a:t>is</a:t>
            </a:r>
            <a:r>
              <a:rPr lang="it-IT" dirty="0"/>
              <a:t> F1 + F2.</a:t>
            </a:r>
          </a:p>
          <a:p>
            <a:pPr marL="0" indent="0">
              <a:buNone/>
            </a:pPr>
            <a:r>
              <a:rPr lang="it-IT" dirty="0"/>
              <a:t>	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820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Fibonacci </a:t>
            </a:r>
            <a:r>
              <a:rPr lang="it-IT" b="1" i="1" dirty="0"/>
              <a:t>dinamico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:- </a:t>
            </a:r>
            <a:r>
              <a:rPr lang="it-IT" dirty="0" err="1"/>
              <a:t>dynamic</a:t>
            </a:r>
            <a:r>
              <a:rPr lang="it-IT" dirty="0"/>
              <a:t> </a:t>
            </a:r>
            <a:r>
              <a:rPr lang="it-IT" dirty="0" err="1"/>
              <a:t>fib</a:t>
            </a:r>
            <a:r>
              <a:rPr lang="it-IT" dirty="0"/>
              <a:t>/2.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(1,1).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(2,1).</a:t>
            </a:r>
          </a:p>
          <a:p>
            <a:pPr marL="0" indent="0">
              <a:buNone/>
            </a:pPr>
            <a:r>
              <a:rPr lang="it-IT" dirty="0" err="1"/>
              <a:t>fib</a:t>
            </a:r>
            <a:r>
              <a:rPr lang="it-IT" dirty="0"/>
              <a:t>(N,F):-</a:t>
            </a:r>
          </a:p>
          <a:p>
            <a:pPr marL="0" indent="0">
              <a:buNone/>
            </a:pPr>
            <a:r>
              <a:rPr lang="it-IT" dirty="0"/>
              <a:t>	N &gt; 2,</a:t>
            </a:r>
          </a:p>
          <a:p>
            <a:pPr marL="0" indent="0">
              <a:buNone/>
            </a:pPr>
            <a:r>
              <a:rPr lang="it-IT" dirty="0"/>
              <a:t>	N1 </a:t>
            </a:r>
            <a:r>
              <a:rPr lang="it-IT" dirty="0" err="1"/>
              <a:t>is</a:t>
            </a:r>
            <a:r>
              <a:rPr lang="it-IT" dirty="0"/>
              <a:t> N - 1, </a:t>
            </a:r>
            <a:r>
              <a:rPr lang="it-IT" dirty="0" err="1"/>
              <a:t>fib</a:t>
            </a:r>
            <a:r>
              <a:rPr lang="it-IT" dirty="0"/>
              <a:t>(N1,F1),</a:t>
            </a:r>
          </a:p>
          <a:p>
            <a:pPr marL="0" indent="0">
              <a:buNone/>
            </a:pPr>
            <a:r>
              <a:rPr lang="it-IT" dirty="0"/>
              <a:t>	N2 </a:t>
            </a:r>
            <a:r>
              <a:rPr lang="it-IT" dirty="0" err="1"/>
              <a:t>is</a:t>
            </a:r>
            <a:r>
              <a:rPr lang="it-IT" dirty="0"/>
              <a:t> N - 2, </a:t>
            </a:r>
            <a:r>
              <a:rPr lang="it-IT" dirty="0" err="1"/>
              <a:t>fib</a:t>
            </a:r>
            <a:r>
              <a:rPr lang="it-IT" dirty="0"/>
              <a:t>(N2,F2),</a:t>
            </a:r>
          </a:p>
          <a:p>
            <a:pPr marL="0" indent="0">
              <a:buNone/>
            </a:pPr>
            <a:r>
              <a:rPr lang="it-IT" dirty="0"/>
              <a:t>	F </a:t>
            </a:r>
            <a:r>
              <a:rPr lang="it-IT" dirty="0" err="1"/>
              <a:t>is</a:t>
            </a:r>
            <a:r>
              <a:rPr lang="it-IT" dirty="0"/>
              <a:t> F1 + F2,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>
                <a:solidFill>
                  <a:srgbClr val="FF0000"/>
                </a:solidFill>
              </a:rPr>
              <a:t>asserta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fib</a:t>
            </a:r>
            <a:r>
              <a:rPr lang="it-IT" dirty="0">
                <a:solidFill>
                  <a:srgbClr val="FF0000"/>
                </a:solidFill>
              </a:rPr>
              <a:t>(N,F)).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9087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endParaRPr lang="it-IT" dirty="0"/>
          </a:p>
          <a:p>
            <a:r>
              <a:rPr lang="it-IT" b="1" i="1" dirty="0"/>
              <a:t>Similitudine tra alberi </a:t>
            </a:r>
            <a:r>
              <a:rPr lang="it-IT" dirty="0"/>
              <a:t>in funzione del numero di sottoalberi in comune</a:t>
            </a:r>
          </a:p>
          <a:p>
            <a:pPr marL="0" indent="0" algn="ctr">
              <a:buNone/>
            </a:pPr>
            <a:r>
              <a:rPr lang="it-IT" dirty="0"/>
              <a:t>k(T1,T2,N) </a:t>
            </a:r>
          </a:p>
          <a:p>
            <a:r>
              <a:rPr lang="it-IT" dirty="0"/>
              <a:t>è vera se T1 e T2 sono alberi ed essi hanno in comune N sottoalberi</a:t>
            </a:r>
          </a:p>
        </p:txBody>
      </p:sp>
    </p:spTree>
    <p:extLst>
      <p:ext uri="{BB962C8B-B14F-4D97-AF65-F5344CB8AC3E}">
        <p14:creationId xmlns:p14="http://schemas.microsoft.com/office/powerpoint/2010/main" val="33230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</a:t>
            </a:r>
            <a:r>
              <a:rPr lang="en-US" dirty="0"/>
              <a:t> Din: </a:t>
            </a:r>
            <a:r>
              <a:rPr lang="en-US" dirty="0" err="1"/>
              <a:t>Similitudine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alberi</a:t>
            </a:r>
            <a:endParaRPr lang="en-US" dirty="0"/>
          </a:p>
        </p:txBody>
      </p:sp>
      <p:sp>
        <p:nvSpPr>
          <p:cNvPr id="9" name="Segnaposto contenuto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 sottoalberi</a:t>
            </a:r>
          </a:p>
        </p:txBody>
      </p:sp>
      <p:sp>
        <p:nvSpPr>
          <p:cNvPr id="1145859" name="Text Box 3"/>
          <p:cNvSpPr txBox="1">
            <a:spLocks noChangeArrowheads="1"/>
          </p:cNvSpPr>
          <p:nvPr/>
        </p:nvSpPr>
        <p:spPr bwMode="auto">
          <a:xfrm>
            <a:off x="4063349" y="3305175"/>
            <a:ext cx="57901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NP</a:t>
            </a:r>
            <a:endParaRPr lang="en-US" sz="1600" baseline="0"/>
          </a:p>
        </p:txBody>
      </p:sp>
      <p:sp>
        <p:nvSpPr>
          <p:cNvPr id="1145860" name="Text Box 4"/>
          <p:cNvSpPr txBox="1">
            <a:spLocks noChangeArrowheads="1"/>
          </p:cNvSpPr>
          <p:nvPr/>
        </p:nvSpPr>
        <p:spPr bwMode="auto">
          <a:xfrm>
            <a:off x="3834676" y="3844926"/>
            <a:ext cx="401644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D</a:t>
            </a:r>
            <a:endParaRPr lang="en-US" sz="1600" baseline="0"/>
          </a:p>
        </p:txBody>
      </p:sp>
      <p:sp>
        <p:nvSpPr>
          <p:cNvPr id="1145861" name="Text Box 5"/>
          <p:cNvSpPr txBox="1">
            <a:spLocks noChangeArrowheads="1"/>
          </p:cNvSpPr>
          <p:nvPr/>
        </p:nvSpPr>
        <p:spPr bwMode="auto">
          <a:xfrm>
            <a:off x="4368247" y="3857626"/>
            <a:ext cx="554093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N</a:t>
            </a:r>
            <a:endParaRPr lang="en-US" sz="1600" baseline="0"/>
          </a:p>
        </p:txBody>
      </p:sp>
      <p:sp>
        <p:nvSpPr>
          <p:cNvPr id="1145862" name="Line 6"/>
          <p:cNvSpPr>
            <a:spLocks noChangeShapeType="1"/>
          </p:cNvSpPr>
          <p:nvPr/>
        </p:nvSpPr>
        <p:spPr bwMode="auto">
          <a:xfrm flipV="1">
            <a:off x="4067747" y="3627439"/>
            <a:ext cx="101143" cy="244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63" name="Line 7"/>
          <p:cNvSpPr>
            <a:spLocks noChangeShapeType="1"/>
          </p:cNvSpPr>
          <p:nvPr/>
        </p:nvSpPr>
        <p:spPr bwMode="auto">
          <a:xfrm>
            <a:off x="4393167" y="3640139"/>
            <a:ext cx="101143" cy="257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64" name="Text Box 8"/>
          <p:cNvSpPr txBox="1">
            <a:spLocks noChangeArrowheads="1"/>
          </p:cNvSpPr>
          <p:nvPr/>
        </p:nvSpPr>
        <p:spPr bwMode="auto">
          <a:xfrm>
            <a:off x="4016442" y="2595563"/>
            <a:ext cx="554093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VP</a:t>
            </a:r>
            <a:endParaRPr lang="en-US" sz="1600" baseline="0"/>
          </a:p>
        </p:txBody>
      </p:sp>
      <p:sp>
        <p:nvSpPr>
          <p:cNvPr id="1145865" name="Line 9"/>
          <p:cNvSpPr>
            <a:spLocks noChangeShapeType="1"/>
          </p:cNvSpPr>
          <p:nvPr/>
        </p:nvSpPr>
        <p:spPr bwMode="auto">
          <a:xfrm flipH="1">
            <a:off x="3450621" y="2892425"/>
            <a:ext cx="628852" cy="40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66" name="Text Box 10"/>
          <p:cNvSpPr txBox="1">
            <a:spLocks noChangeArrowheads="1"/>
          </p:cNvSpPr>
          <p:nvPr/>
        </p:nvSpPr>
        <p:spPr bwMode="auto">
          <a:xfrm>
            <a:off x="3185302" y="3267075"/>
            <a:ext cx="416303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V</a:t>
            </a:r>
            <a:endParaRPr lang="en-US" sz="1600" baseline="0"/>
          </a:p>
        </p:txBody>
      </p:sp>
      <p:sp>
        <p:nvSpPr>
          <p:cNvPr id="1145867" name="Line 11"/>
          <p:cNvSpPr>
            <a:spLocks noChangeShapeType="1"/>
          </p:cNvSpPr>
          <p:nvPr/>
        </p:nvSpPr>
        <p:spPr bwMode="auto">
          <a:xfrm>
            <a:off x="3315763" y="3587751"/>
            <a:ext cx="1466" cy="3095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68" name="Text Box 12"/>
          <p:cNvSpPr txBox="1">
            <a:spLocks noChangeArrowheads="1"/>
          </p:cNvSpPr>
          <p:nvPr/>
        </p:nvSpPr>
        <p:spPr bwMode="auto">
          <a:xfrm>
            <a:off x="2915585" y="3884613"/>
            <a:ext cx="1081801" cy="37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delivers</a:t>
            </a:r>
            <a:endParaRPr lang="en-US" sz="1600" baseline="0"/>
          </a:p>
        </p:txBody>
      </p:sp>
      <p:sp>
        <p:nvSpPr>
          <p:cNvPr id="1145869" name="Line 13"/>
          <p:cNvSpPr>
            <a:spLocks noChangeShapeType="1"/>
          </p:cNvSpPr>
          <p:nvPr/>
        </p:nvSpPr>
        <p:spPr bwMode="auto">
          <a:xfrm>
            <a:off x="4242183" y="2982913"/>
            <a:ext cx="0" cy="3222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70" name="Line 14"/>
          <p:cNvSpPr>
            <a:spLocks noChangeShapeType="1"/>
          </p:cNvSpPr>
          <p:nvPr/>
        </p:nvSpPr>
        <p:spPr bwMode="auto">
          <a:xfrm>
            <a:off x="3940217" y="4179888"/>
            <a:ext cx="0" cy="309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71" name="Text Box 15"/>
          <p:cNvSpPr txBox="1">
            <a:spLocks noChangeArrowheads="1"/>
          </p:cNvSpPr>
          <p:nvPr/>
        </p:nvSpPr>
        <p:spPr bwMode="auto">
          <a:xfrm>
            <a:off x="3811222" y="4462463"/>
            <a:ext cx="414837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a</a:t>
            </a:r>
            <a:endParaRPr lang="en-US" sz="1600" baseline="0"/>
          </a:p>
        </p:txBody>
      </p:sp>
      <p:sp>
        <p:nvSpPr>
          <p:cNvPr id="1145872" name="Line 16"/>
          <p:cNvSpPr>
            <a:spLocks noChangeShapeType="1"/>
          </p:cNvSpPr>
          <p:nvPr/>
        </p:nvSpPr>
        <p:spPr bwMode="auto">
          <a:xfrm>
            <a:off x="4511900" y="4179888"/>
            <a:ext cx="1466" cy="3095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t-IT" sz="2000"/>
          </a:p>
        </p:txBody>
      </p:sp>
      <p:sp>
        <p:nvSpPr>
          <p:cNvPr id="1145873" name="Text Box 17"/>
          <p:cNvSpPr txBox="1">
            <a:spLocks noChangeArrowheads="1"/>
          </p:cNvSpPr>
          <p:nvPr/>
        </p:nvSpPr>
        <p:spPr bwMode="auto">
          <a:xfrm>
            <a:off x="4165958" y="4476751"/>
            <a:ext cx="892706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it-IT" sz="2000" baseline="0">
                <a:solidFill>
                  <a:srgbClr val="000000"/>
                </a:solidFill>
              </a:rPr>
              <a:t>   talk</a:t>
            </a:r>
            <a:endParaRPr lang="en-US" sz="1600" baseline="0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915586" y="2595563"/>
            <a:ext cx="2006754" cy="2214562"/>
            <a:chOff x="1989" y="1635"/>
            <a:chExt cx="1369" cy="1395"/>
          </a:xfrm>
        </p:grpSpPr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1989" y="1635"/>
              <a:ext cx="1369" cy="1395"/>
              <a:chOff x="2085" y="1731"/>
              <a:chExt cx="1369" cy="1395"/>
            </a:xfrm>
          </p:grpSpPr>
          <p:sp>
            <p:nvSpPr>
              <p:cNvPr id="1145876" name="Text Box 20"/>
              <p:cNvSpPr txBox="1">
                <a:spLocks noChangeArrowheads="1"/>
              </p:cNvSpPr>
              <p:nvPr/>
            </p:nvSpPr>
            <p:spPr bwMode="auto">
              <a:xfrm>
                <a:off x="2868" y="2178"/>
                <a:ext cx="395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NP</a:t>
                </a:r>
                <a:endParaRPr lang="en-US" sz="1600" baseline="0"/>
              </a:p>
            </p:txBody>
          </p:sp>
          <p:sp>
            <p:nvSpPr>
              <p:cNvPr id="1145877" name="Text Box 21"/>
              <p:cNvSpPr txBox="1">
                <a:spLocks noChangeArrowheads="1"/>
              </p:cNvSpPr>
              <p:nvPr/>
            </p:nvSpPr>
            <p:spPr bwMode="auto">
              <a:xfrm>
                <a:off x="2712" y="2518"/>
                <a:ext cx="274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D</a:t>
                </a:r>
                <a:endParaRPr lang="en-US" sz="1600" baseline="0"/>
              </a:p>
            </p:txBody>
          </p:sp>
          <p:sp>
            <p:nvSpPr>
              <p:cNvPr id="1145878" name="Text Box 22"/>
              <p:cNvSpPr txBox="1">
                <a:spLocks noChangeArrowheads="1"/>
              </p:cNvSpPr>
              <p:nvPr/>
            </p:nvSpPr>
            <p:spPr bwMode="auto">
              <a:xfrm>
                <a:off x="3076" y="2526"/>
                <a:ext cx="378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N</a:t>
                </a:r>
                <a:endParaRPr lang="en-US" sz="1600" baseline="0"/>
              </a:p>
            </p:txBody>
          </p:sp>
          <p:sp>
            <p:nvSpPr>
              <p:cNvPr id="1145879" name="Line 23"/>
              <p:cNvSpPr>
                <a:spLocks noChangeShapeType="1"/>
              </p:cNvSpPr>
              <p:nvPr/>
            </p:nvSpPr>
            <p:spPr bwMode="auto">
              <a:xfrm flipV="1">
                <a:off x="2871" y="2381"/>
                <a:ext cx="69" cy="1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80" name="Line 24"/>
              <p:cNvSpPr>
                <a:spLocks noChangeShapeType="1"/>
              </p:cNvSpPr>
              <p:nvPr/>
            </p:nvSpPr>
            <p:spPr bwMode="auto">
              <a:xfrm>
                <a:off x="3093" y="2389"/>
                <a:ext cx="69" cy="1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81" name="Text Box 25"/>
              <p:cNvSpPr txBox="1">
                <a:spLocks noChangeArrowheads="1"/>
              </p:cNvSpPr>
              <p:nvPr/>
            </p:nvSpPr>
            <p:spPr bwMode="auto">
              <a:xfrm>
                <a:off x="2836" y="1731"/>
                <a:ext cx="378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VP</a:t>
                </a:r>
                <a:endParaRPr lang="en-US" sz="1600" baseline="0"/>
              </a:p>
            </p:txBody>
          </p:sp>
          <p:sp>
            <p:nvSpPr>
              <p:cNvPr id="1145882" name="Line 26"/>
              <p:cNvSpPr>
                <a:spLocks noChangeShapeType="1"/>
              </p:cNvSpPr>
              <p:nvPr/>
            </p:nvSpPr>
            <p:spPr bwMode="auto">
              <a:xfrm flipH="1">
                <a:off x="2450" y="1918"/>
                <a:ext cx="429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83" name="Text Box 27"/>
              <p:cNvSpPr txBox="1">
                <a:spLocks noChangeArrowheads="1"/>
              </p:cNvSpPr>
              <p:nvPr/>
            </p:nvSpPr>
            <p:spPr bwMode="auto">
              <a:xfrm>
                <a:off x="2269" y="2154"/>
                <a:ext cx="284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V</a:t>
                </a:r>
                <a:endParaRPr lang="en-US" sz="1600" baseline="0"/>
              </a:p>
            </p:txBody>
          </p:sp>
          <p:sp>
            <p:nvSpPr>
              <p:cNvPr id="1145884" name="Text Box 28"/>
              <p:cNvSpPr txBox="1">
                <a:spLocks noChangeArrowheads="1"/>
              </p:cNvSpPr>
              <p:nvPr/>
            </p:nvSpPr>
            <p:spPr bwMode="auto">
              <a:xfrm>
                <a:off x="2085" y="2543"/>
                <a:ext cx="738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delivers</a:t>
                </a:r>
                <a:endParaRPr lang="en-US" sz="1600" baseline="0"/>
              </a:p>
            </p:txBody>
          </p:sp>
          <p:sp>
            <p:nvSpPr>
              <p:cNvPr id="1145885" name="Line 29"/>
              <p:cNvSpPr>
                <a:spLocks noChangeShapeType="1"/>
              </p:cNvSpPr>
              <p:nvPr/>
            </p:nvSpPr>
            <p:spPr bwMode="auto">
              <a:xfrm>
                <a:off x="2990" y="1975"/>
                <a:ext cx="0" cy="2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86" name="Line 30"/>
              <p:cNvSpPr>
                <a:spLocks noChangeShapeType="1"/>
              </p:cNvSpPr>
              <p:nvPr/>
            </p:nvSpPr>
            <p:spPr bwMode="auto">
              <a:xfrm>
                <a:off x="2784" y="2729"/>
                <a:ext cx="0" cy="1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87" name="Text Box 31"/>
              <p:cNvSpPr txBox="1">
                <a:spLocks noChangeArrowheads="1"/>
              </p:cNvSpPr>
              <p:nvPr/>
            </p:nvSpPr>
            <p:spPr bwMode="auto">
              <a:xfrm>
                <a:off x="2696" y="2907"/>
                <a:ext cx="283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a</a:t>
                </a:r>
                <a:endParaRPr lang="en-US" sz="1600" baseline="0"/>
              </a:p>
            </p:txBody>
          </p:sp>
        </p:grpSp>
        <p:sp>
          <p:nvSpPr>
            <p:cNvPr id="1145888" name="Line 32"/>
            <p:cNvSpPr>
              <a:spLocks noChangeShapeType="1"/>
            </p:cNvSpPr>
            <p:nvPr/>
          </p:nvSpPr>
          <p:spPr bwMode="auto">
            <a:xfrm>
              <a:off x="2262" y="2252"/>
              <a:ext cx="1" cy="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2915586" y="2595563"/>
            <a:ext cx="2006754" cy="1662112"/>
            <a:chOff x="2085" y="1731"/>
            <a:chExt cx="1369" cy="1047"/>
          </a:xfrm>
        </p:grpSpPr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2085" y="1731"/>
              <a:ext cx="1369" cy="1047"/>
              <a:chOff x="2085" y="1731"/>
              <a:chExt cx="1369" cy="1047"/>
            </a:xfrm>
          </p:grpSpPr>
          <p:sp>
            <p:nvSpPr>
              <p:cNvPr id="1145891" name="Text Box 35"/>
              <p:cNvSpPr txBox="1">
                <a:spLocks noChangeArrowheads="1"/>
              </p:cNvSpPr>
              <p:nvPr/>
            </p:nvSpPr>
            <p:spPr bwMode="auto">
              <a:xfrm>
                <a:off x="2868" y="2178"/>
                <a:ext cx="395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NP</a:t>
                </a:r>
                <a:endParaRPr lang="en-US" sz="1600" baseline="0"/>
              </a:p>
            </p:txBody>
          </p:sp>
          <p:sp>
            <p:nvSpPr>
              <p:cNvPr id="1145892" name="Text Box 36"/>
              <p:cNvSpPr txBox="1">
                <a:spLocks noChangeArrowheads="1"/>
              </p:cNvSpPr>
              <p:nvPr/>
            </p:nvSpPr>
            <p:spPr bwMode="auto">
              <a:xfrm>
                <a:off x="2712" y="2518"/>
                <a:ext cx="274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D</a:t>
                </a:r>
                <a:endParaRPr lang="en-US" sz="1600" baseline="0"/>
              </a:p>
            </p:txBody>
          </p:sp>
          <p:sp>
            <p:nvSpPr>
              <p:cNvPr id="1145893" name="Text Box 37"/>
              <p:cNvSpPr txBox="1">
                <a:spLocks noChangeArrowheads="1"/>
              </p:cNvSpPr>
              <p:nvPr/>
            </p:nvSpPr>
            <p:spPr bwMode="auto">
              <a:xfrm>
                <a:off x="3076" y="2526"/>
                <a:ext cx="378" cy="2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N</a:t>
                </a:r>
                <a:endParaRPr lang="en-US" sz="1600" baseline="0"/>
              </a:p>
            </p:txBody>
          </p:sp>
          <p:sp>
            <p:nvSpPr>
              <p:cNvPr id="1145894" name="Line 38"/>
              <p:cNvSpPr>
                <a:spLocks noChangeShapeType="1"/>
              </p:cNvSpPr>
              <p:nvPr/>
            </p:nvSpPr>
            <p:spPr bwMode="auto">
              <a:xfrm flipV="1">
                <a:off x="2871" y="2381"/>
                <a:ext cx="69" cy="15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95" name="Line 39"/>
              <p:cNvSpPr>
                <a:spLocks noChangeShapeType="1"/>
              </p:cNvSpPr>
              <p:nvPr/>
            </p:nvSpPr>
            <p:spPr bwMode="auto">
              <a:xfrm>
                <a:off x="3093" y="2389"/>
                <a:ext cx="69" cy="1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96" name="Text Box 40"/>
              <p:cNvSpPr txBox="1">
                <a:spLocks noChangeArrowheads="1"/>
              </p:cNvSpPr>
              <p:nvPr/>
            </p:nvSpPr>
            <p:spPr bwMode="auto">
              <a:xfrm>
                <a:off x="2836" y="1731"/>
                <a:ext cx="378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VP</a:t>
                </a:r>
                <a:endParaRPr lang="en-US" sz="1600" baseline="0"/>
              </a:p>
            </p:txBody>
          </p:sp>
          <p:sp>
            <p:nvSpPr>
              <p:cNvPr id="1145897" name="Line 41"/>
              <p:cNvSpPr>
                <a:spLocks noChangeShapeType="1"/>
              </p:cNvSpPr>
              <p:nvPr/>
            </p:nvSpPr>
            <p:spPr bwMode="auto">
              <a:xfrm flipH="1">
                <a:off x="2450" y="1918"/>
                <a:ext cx="429" cy="2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  <p:sp>
            <p:nvSpPr>
              <p:cNvPr id="1145898" name="Text Box 42"/>
              <p:cNvSpPr txBox="1">
                <a:spLocks noChangeArrowheads="1"/>
              </p:cNvSpPr>
              <p:nvPr/>
            </p:nvSpPr>
            <p:spPr bwMode="auto">
              <a:xfrm>
                <a:off x="2269" y="2154"/>
                <a:ext cx="284" cy="2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V</a:t>
                </a:r>
                <a:endParaRPr lang="en-US" sz="1600" baseline="0"/>
              </a:p>
            </p:txBody>
          </p:sp>
          <p:sp>
            <p:nvSpPr>
              <p:cNvPr id="1145899" name="Text Box 43"/>
              <p:cNvSpPr txBox="1">
                <a:spLocks noChangeArrowheads="1"/>
              </p:cNvSpPr>
              <p:nvPr/>
            </p:nvSpPr>
            <p:spPr bwMode="auto">
              <a:xfrm>
                <a:off x="2085" y="2543"/>
                <a:ext cx="738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1" hangingPunct="1">
                  <a:spcBef>
                    <a:spcPct val="0"/>
                  </a:spcBef>
                  <a:buFontTx/>
                  <a:buNone/>
                </a:pPr>
                <a:r>
                  <a:rPr lang="it-IT" sz="2000" baseline="0">
                    <a:solidFill>
                      <a:srgbClr val="000000"/>
                    </a:solidFill>
                  </a:rPr>
                  <a:t>delivers</a:t>
                </a:r>
                <a:endParaRPr lang="en-US" sz="1600" baseline="0"/>
              </a:p>
            </p:txBody>
          </p:sp>
          <p:sp>
            <p:nvSpPr>
              <p:cNvPr id="1145900" name="Line 44"/>
              <p:cNvSpPr>
                <a:spLocks noChangeShapeType="1"/>
              </p:cNvSpPr>
              <p:nvPr/>
            </p:nvSpPr>
            <p:spPr bwMode="auto">
              <a:xfrm>
                <a:off x="2990" y="1975"/>
                <a:ext cx="0" cy="2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t-IT" sz="2000"/>
              </a:p>
            </p:txBody>
          </p:sp>
        </p:grpSp>
        <p:sp>
          <p:nvSpPr>
            <p:cNvPr id="1145901" name="Line 45"/>
            <p:cNvSpPr>
              <a:spLocks noChangeShapeType="1"/>
            </p:cNvSpPr>
            <p:nvPr/>
          </p:nvSpPr>
          <p:spPr bwMode="auto">
            <a:xfrm>
              <a:off x="2358" y="2348"/>
              <a:ext cx="1" cy="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185303" y="2595564"/>
            <a:ext cx="1737037" cy="1609725"/>
            <a:chOff x="3709" y="1043"/>
            <a:chExt cx="1185" cy="1014"/>
          </a:xfrm>
        </p:grpSpPr>
        <p:sp>
          <p:nvSpPr>
            <p:cNvPr id="1145903" name="Text Box 47"/>
            <p:cNvSpPr txBox="1">
              <a:spLocks noChangeArrowheads="1"/>
            </p:cNvSpPr>
            <p:nvPr/>
          </p:nvSpPr>
          <p:spPr bwMode="auto">
            <a:xfrm>
              <a:off x="4308" y="1490"/>
              <a:ext cx="395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NP</a:t>
              </a:r>
              <a:endParaRPr lang="en-US" sz="1600" baseline="0"/>
            </a:p>
          </p:txBody>
        </p:sp>
        <p:sp>
          <p:nvSpPr>
            <p:cNvPr id="1145904" name="Text Box 48"/>
            <p:cNvSpPr txBox="1">
              <a:spLocks noChangeArrowheads="1"/>
            </p:cNvSpPr>
            <p:nvPr/>
          </p:nvSpPr>
          <p:spPr bwMode="auto">
            <a:xfrm>
              <a:off x="4152" y="1830"/>
              <a:ext cx="27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D</a:t>
              </a:r>
              <a:endParaRPr lang="en-US" sz="1600" baseline="0"/>
            </a:p>
          </p:txBody>
        </p:sp>
        <p:sp>
          <p:nvSpPr>
            <p:cNvPr id="1145905" name="Text Box 49"/>
            <p:cNvSpPr txBox="1">
              <a:spLocks noChangeArrowheads="1"/>
            </p:cNvSpPr>
            <p:nvPr/>
          </p:nvSpPr>
          <p:spPr bwMode="auto">
            <a:xfrm>
              <a:off x="4516" y="1838"/>
              <a:ext cx="378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N</a:t>
              </a:r>
              <a:endParaRPr lang="en-US" sz="1600" baseline="0"/>
            </a:p>
          </p:txBody>
        </p:sp>
        <p:sp>
          <p:nvSpPr>
            <p:cNvPr id="1145906" name="Line 50"/>
            <p:cNvSpPr>
              <a:spLocks noChangeShapeType="1"/>
            </p:cNvSpPr>
            <p:nvPr/>
          </p:nvSpPr>
          <p:spPr bwMode="auto">
            <a:xfrm flipV="1">
              <a:off x="4311" y="1693"/>
              <a:ext cx="69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145907" name="Line 51"/>
            <p:cNvSpPr>
              <a:spLocks noChangeShapeType="1"/>
            </p:cNvSpPr>
            <p:nvPr/>
          </p:nvSpPr>
          <p:spPr bwMode="auto">
            <a:xfrm>
              <a:off x="4533" y="1701"/>
              <a:ext cx="69" cy="1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145908" name="Text Box 52"/>
            <p:cNvSpPr txBox="1">
              <a:spLocks noChangeArrowheads="1"/>
            </p:cNvSpPr>
            <p:nvPr/>
          </p:nvSpPr>
          <p:spPr bwMode="auto">
            <a:xfrm>
              <a:off x="4276" y="1043"/>
              <a:ext cx="378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VP</a:t>
              </a:r>
              <a:endParaRPr lang="en-US" sz="1600" baseline="0"/>
            </a:p>
          </p:txBody>
        </p:sp>
        <p:sp>
          <p:nvSpPr>
            <p:cNvPr id="1145909" name="Line 53"/>
            <p:cNvSpPr>
              <a:spLocks noChangeShapeType="1"/>
            </p:cNvSpPr>
            <p:nvPr/>
          </p:nvSpPr>
          <p:spPr bwMode="auto">
            <a:xfrm flipH="1">
              <a:off x="3890" y="1230"/>
              <a:ext cx="429" cy="2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145910" name="Text Box 54"/>
            <p:cNvSpPr txBox="1">
              <a:spLocks noChangeArrowheads="1"/>
            </p:cNvSpPr>
            <p:nvPr/>
          </p:nvSpPr>
          <p:spPr bwMode="auto">
            <a:xfrm>
              <a:off x="3709" y="1466"/>
              <a:ext cx="284" cy="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V</a:t>
              </a:r>
              <a:endParaRPr lang="en-US" sz="1600" baseline="0"/>
            </a:p>
          </p:txBody>
        </p:sp>
        <p:sp>
          <p:nvSpPr>
            <p:cNvPr id="1145911" name="Line 55"/>
            <p:cNvSpPr>
              <a:spLocks noChangeShapeType="1"/>
            </p:cNvSpPr>
            <p:nvPr/>
          </p:nvSpPr>
          <p:spPr bwMode="auto">
            <a:xfrm>
              <a:off x="4430" y="1287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3185303" y="2595564"/>
            <a:ext cx="1457059" cy="1057275"/>
            <a:chOff x="3781" y="891"/>
            <a:chExt cx="994" cy="666"/>
          </a:xfrm>
        </p:grpSpPr>
        <p:sp>
          <p:nvSpPr>
            <p:cNvPr id="1145913" name="Text Box 57"/>
            <p:cNvSpPr txBox="1">
              <a:spLocks noChangeArrowheads="1"/>
            </p:cNvSpPr>
            <p:nvPr/>
          </p:nvSpPr>
          <p:spPr bwMode="auto">
            <a:xfrm>
              <a:off x="4380" y="1338"/>
              <a:ext cx="395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NP</a:t>
              </a:r>
              <a:endParaRPr lang="en-US" sz="1600" baseline="0"/>
            </a:p>
          </p:txBody>
        </p:sp>
        <p:sp>
          <p:nvSpPr>
            <p:cNvPr id="1145914" name="Text Box 58"/>
            <p:cNvSpPr txBox="1">
              <a:spLocks noChangeArrowheads="1"/>
            </p:cNvSpPr>
            <p:nvPr/>
          </p:nvSpPr>
          <p:spPr bwMode="auto">
            <a:xfrm>
              <a:off x="4348" y="891"/>
              <a:ext cx="378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VP</a:t>
              </a:r>
              <a:endParaRPr lang="en-US" sz="1600" baseline="0"/>
            </a:p>
          </p:txBody>
        </p:sp>
        <p:sp>
          <p:nvSpPr>
            <p:cNvPr id="1145915" name="Line 59"/>
            <p:cNvSpPr>
              <a:spLocks noChangeShapeType="1"/>
            </p:cNvSpPr>
            <p:nvPr/>
          </p:nvSpPr>
          <p:spPr bwMode="auto">
            <a:xfrm flipH="1">
              <a:off x="3962" y="1078"/>
              <a:ext cx="429" cy="2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145916" name="Text Box 60"/>
            <p:cNvSpPr txBox="1">
              <a:spLocks noChangeArrowheads="1"/>
            </p:cNvSpPr>
            <p:nvPr/>
          </p:nvSpPr>
          <p:spPr bwMode="auto">
            <a:xfrm>
              <a:off x="3781" y="1314"/>
              <a:ext cx="284" cy="2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1" hangingPunct="1">
                <a:spcBef>
                  <a:spcPct val="0"/>
                </a:spcBef>
                <a:buFontTx/>
                <a:buNone/>
              </a:pPr>
              <a:r>
                <a:rPr lang="it-IT" sz="2000" baseline="0">
                  <a:solidFill>
                    <a:srgbClr val="000000"/>
                  </a:solidFill>
                </a:rPr>
                <a:t>V</a:t>
              </a:r>
              <a:endParaRPr lang="en-US" sz="1600" baseline="0"/>
            </a:p>
          </p:txBody>
        </p:sp>
        <p:sp>
          <p:nvSpPr>
            <p:cNvPr id="1145917" name="Line 61"/>
            <p:cNvSpPr>
              <a:spLocks noChangeShapeType="1"/>
            </p:cNvSpPr>
            <p:nvPr/>
          </p:nvSpPr>
          <p:spPr bwMode="auto">
            <a:xfrm>
              <a:off x="4502" y="1135"/>
              <a:ext cx="0" cy="2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 sz="2000"/>
            </a:p>
          </p:txBody>
        </p:sp>
      </p:grpSp>
    </p:spTree>
    <p:extLst>
      <p:ext uri="{BB962C8B-B14F-4D97-AF65-F5344CB8AC3E}">
        <p14:creationId xmlns:p14="http://schemas.microsoft.com/office/powerpoint/2010/main" val="294505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0.25 0.0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9864E-6 2.96296E-6 L 1.09864E-6 0.317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 L -0.25 0.0  E" pathEditMode="relative" ptsTypes="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61538E-6 4.44444E-6 L -4.61538E-6 -0.1870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dirty="0" err="1"/>
              <a:t>Prog</a:t>
            </a:r>
            <a:r>
              <a:rPr lang="en-US" dirty="0"/>
              <a:t> Din: </a:t>
            </a:r>
            <a:r>
              <a:rPr lang="en-US" dirty="0" err="1"/>
              <a:t>Similitudine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alberi</a:t>
            </a:r>
            <a:endParaRPr lang="en-US" sz="2800" dirty="0"/>
          </a:p>
        </p:txBody>
      </p:sp>
      <p:graphicFrame>
        <p:nvGraphicFramePr>
          <p:cNvPr id="114790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3454" y="1490664"/>
          <a:ext cx="8138424" cy="462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Documento" r:id="rId4" imgW="6973584" imgH="3659580" progId="Word.Document.8">
                  <p:embed/>
                </p:oleObj>
              </mc:Choice>
              <mc:Fallback>
                <p:oleObj name="Documento" r:id="rId4" imgW="6973584" imgH="36595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4" y="1490664"/>
                        <a:ext cx="8138424" cy="4624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9846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dirty="0"/>
              <a:t>Data il predicato </a:t>
            </a:r>
            <a:r>
              <a:rPr lang="it-IT" dirty="0">
                <a:latin typeface="Smudger LET" pitchFamily="2" charset="0"/>
              </a:rPr>
              <a:t>T</a:t>
            </a:r>
            <a:r>
              <a:rPr lang="it-IT" dirty="0"/>
              <a:t>(t) che fornisce tutti i sottoalberi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it-IT" dirty="0"/>
              <a:t>The </a:t>
            </a:r>
            <a:r>
              <a:rPr lang="it-IT" dirty="0" err="1"/>
              <a:t>kernel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written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: </a:t>
            </a:r>
          </a:p>
          <a:p>
            <a:pPr algn="ctr">
              <a:buNone/>
            </a:pPr>
            <a:endParaRPr lang="it-IT" dirty="0"/>
          </a:p>
          <a:p>
            <a:pPr algn="ctr">
              <a:buNone/>
            </a:pPr>
            <a:r>
              <a:rPr lang="it-IT" dirty="0"/>
              <a:t>k(T1,T2,N) è vero se N = |</a:t>
            </a:r>
            <a:r>
              <a:rPr lang="it-IT" dirty="0">
                <a:latin typeface="Smudger LET" pitchFamily="2" charset="0"/>
              </a:rPr>
              <a:t> T</a:t>
            </a:r>
            <a:r>
              <a:rPr lang="it-IT" dirty="0"/>
              <a:t>(T1)</a:t>
            </a:r>
            <a:r>
              <a:rPr lang="it-IT" dirty="0">
                <a:sym typeface="Symbol"/>
              </a:rPr>
              <a:t></a:t>
            </a:r>
            <a:r>
              <a:rPr lang="it-IT" dirty="0">
                <a:latin typeface="Smudger LET" pitchFamily="2" charset="0"/>
              </a:rPr>
              <a:t>T</a:t>
            </a:r>
            <a:r>
              <a:rPr lang="it-IT" dirty="0"/>
              <a:t>(T2) |</a:t>
            </a:r>
          </a:p>
          <a:p>
            <a:pPr>
              <a:buNone/>
            </a:pPr>
            <a:r>
              <a:rPr lang="it-IT" dirty="0"/>
              <a:t> </a:t>
            </a: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</a:t>
            </a:r>
            <a:r>
              <a:rPr lang="en-US" dirty="0"/>
              <a:t> Din: </a:t>
            </a:r>
            <a:r>
              <a:rPr lang="en-US" dirty="0" err="1"/>
              <a:t>Similitudine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alberi</a:t>
            </a:r>
            <a:endParaRPr lang="it-IT" dirty="0"/>
          </a:p>
        </p:txBody>
      </p:sp>
      <p:pic>
        <p:nvPicPr>
          <p:cNvPr id="2437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252673"/>
            <a:ext cx="81438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52355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strada verso la soluzione dinamica:</a:t>
            </a:r>
          </a:p>
          <a:p>
            <a:pPr lvl="1"/>
            <a:r>
              <a:rPr lang="it-IT" dirty="0"/>
              <a:t>Ricerca esaustiva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Versione ricorsiva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Versione ricorsiva con programmazione dinamica</a:t>
            </a:r>
          </a:p>
        </p:txBody>
      </p:sp>
    </p:spTree>
    <p:extLst>
      <p:ext uri="{BB962C8B-B14F-4D97-AF65-F5344CB8AC3E}">
        <p14:creationId xmlns:p14="http://schemas.microsoft.com/office/powerpoint/2010/main" val="295133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esaustiva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Scrivere il predicato:</a:t>
            </a:r>
          </a:p>
          <a:p>
            <a:pPr marL="0" indent="0" algn="ctr">
              <a:buNone/>
            </a:pPr>
            <a:r>
              <a:rPr lang="it-IT" dirty="0"/>
              <a:t>k(T1,T2,N) </a:t>
            </a:r>
          </a:p>
          <a:p>
            <a:pPr marL="0" indent="0">
              <a:buNone/>
            </a:pPr>
            <a:r>
              <a:rPr lang="it-IT" dirty="0"/>
              <a:t>vero se T1 e T2 sono alberi ed essi hanno in comune N sottoalberi, usando le proprietà descritte.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Rappresentiamo albero come: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tree</a:t>
            </a:r>
            <a:r>
              <a:rPr lang="it-IT" dirty="0"/>
              <a:t>(F,LIST_OF_SUBTREES).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54063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esaustiva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pPr marL="0" indent="0">
              <a:buNone/>
            </a:pPr>
            <a:r>
              <a:rPr lang="it-IT" dirty="0"/>
              <a:t>k(T1,T2,N):-</a:t>
            </a:r>
          </a:p>
          <a:p>
            <a:pPr marL="0" indent="0">
              <a:buNone/>
            </a:pPr>
            <a:r>
              <a:rPr lang="it-IT" dirty="0"/>
              <a:t>	t(T1,ST1),</a:t>
            </a:r>
          </a:p>
          <a:p>
            <a:pPr marL="0" indent="0">
              <a:buNone/>
            </a:pPr>
            <a:r>
              <a:rPr lang="it-IT" dirty="0"/>
              <a:t>	t(T2,ST2),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intersect</a:t>
            </a:r>
            <a:r>
              <a:rPr lang="it-IT" dirty="0"/>
              <a:t>(ST1,ST2,LST),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length</a:t>
            </a:r>
            <a:r>
              <a:rPr lang="it-IT" dirty="0"/>
              <a:t>(LST,N).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98043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esaustiva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t(T,STL):-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bagof</a:t>
            </a:r>
            <a:r>
              <a:rPr lang="it-IT" dirty="0"/>
              <a:t>(</a:t>
            </a:r>
            <a:r>
              <a:rPr lang="it-IT" dirty="0" err="1"/>
              <a:t>ST,st</a:t>
            </a:r>
            <a:r>
              <a:rPr lang="it-IT" dirty="0"/>
              <a:t>(T,ST),STL).</a:t>
            </a:r>
          </a:p>
          <a:p>
            <a:pPr marL="0" indent="0">
              <a:buNone/>
            </a:pPr>
            <a:r>
              <a:rPr lang="it-IT" sz="2400" dirty="0" err="1"/>
              <a:t>st_r</a:t>
            </a:r>
            <a:r>
              <a:rPr lang="it-IT" sz="2400" dirty="0"/>
              <a:t>(</a:t>
            </a:r>
            <a:r>
              <a:rPr lang="it-IT" sz="2400" dirty="0" err="1"/>
              <a:t>tree</a:t>
            </a:r>
            <a:r>
              <a:rPr lang="it-IT" sz="2400" dirty="0"/>
              <a:t>(A,_), </a:t>
            </a:r>
            <a:r>
              <a:rPr lang="it-IT" sz="2400" dirty="0" err="1"/>
              <a:t>tree</a:t>
            </a:r>
            <a:r>
              <a:rPr lang="it-IT" sz="2400" dirty="0"/>
              <a:t>(A,[])).</a:t>
            </a:r>
          </a:p>
          <a:p>
            <a:pPr marL="0" indent="0">
              <a:buNone/>
            </a:pPr>
            <a:r>
              <a:rPr lang="it-IT" sz="2400" dirty="0" err="1"/>
              <a:t>st_r</a:t>
            </a:r>
            <a:r>
              <a:rPr lang="it-IT" sz="2400" dirty="0"/>
              <a:t>(</a:t>
            </a:r>
            <a:r>
              <a:rPr lang="it-IT" sz="2400" dirty="0" err="1"/>
              <a:t>tree</a:t>
            </a:r>
            <a:r>
              <a:rPr lang="it-IT" sz="2400" dirty="0"/>
              <a:t>(A,R),</a:t>
            </a:r>
            <a:r>
              <a:rPr lang="it-IT" sz="2400" dirty="0" err="1"/>
              <a:t>tree</a:t>
            </a:r>
            <a:r>
              <a:rPr lang="it-IT" sz="2400" dirty="0"/>
              <a:t>(A,R1)):-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st_l</a:t>
            </a:r>
            <a:r>
              <a:rPr lang="it-IT" sz="2400" dirty="0"/>
              <a:t>(R,R1).</a:t>
            </a:r>
          </a:p>
          <a:p>
            <a:pPr marL="0" indent="0">
              <a:buNone/>
            </a:pPr>
            <a:r>
              <a:rPr lang="it-IT" sz="2400" dirty="0" err="1"/>
              <a:t>st_l</a:t>
            </a:r>
            <a:r>
              <a:rPr lang="it-IT" sz="2400" dirty="0"/>
              <a:t>([],[]).</a:t>
            </a:r>
          </a:p>
          <a:p>
            <a:pPr marL="0" indent="0">
              <a:buNone/>
            </a:pPr>
            <a:r>
              <a:rPr lang="it-IT" sz="2400" dirty="0" err="1"/>
              <a:t>st_l</a:t>
            </a:r>
            <a:r>
              <a:rPr lang="it-IT" sz="2400" dirty="0"/>
              <a:t>([X|R],[X1|R1]):- st(X,X1), </a:t>
            </a:r>
            <a:r>
              <a:rPr lang="it-IT" sz="2400" dirty="0" err="1"/>
              <a:t>st_l</a:t>
            </a:r>
            <a:r>
              <a:rPr lang="it-IT" sz="2400" dirty="0"/>
              <a:t>(R,R1).</a:t>
            </a:r>
          </a:p>
          <a:p>
            <a:pPr marL="0" indent="0">
              <a:buNone/>
            </a:pPr>
            <a:r>
              <a:rPr lang="it-IT" sz="2400" dirty="0"/>
              <a:t>st(T, T1):- </a:t>
            </a:r>
            <a:r>
              <a:rPr lang="it-IT" sz="2400" dirty="0" err="1"/>
              <a:t>st_r</a:t>
            </a:r>
            <a:r>
              <a:rPr lang="it-IT" sz="2400" dirty="0"/>
              <a:t>(T,T1).</a:t>
            </a:r>
          </a:p>
          <a:p>
            <a:pPr marL="0" indent="0">
              <a:buNone/>
            </a:pPr>
            <a:r>
              <a:rPr lang="it-IT" sz="2400" dirty="0"/>
              <a:t>st(</a:t>
            </a:r>
            <a:r>
              <a:rPr lang="it-IT" sz="2400" dirty="0" err="1"/>
              <a:t>tree</a:t>
            </a:r>
            <a:r>
              <a:rPr lang="it-IT" sz="2400" dirty="0"/>
              <a:t>(A,R),T1):-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member</a:t>
            </a:r>
            <a:r>
              <a:rPr lang="it-IT" sz="2400" dirty="0"/>
              <a:t>(T,R), st(T,T1).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497804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Ricerca esaustiva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it-IT" b="1" i="1" dirty="0"/>
              <a:t>Esercizio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Realizzare </a:t>
            </a:r>
          </a:p>
          <a:p>
            <a:pPr marL="0" indent="0" algn="ctr">
              <a:buNone/>
            </a:pPr>
            <a:r>
              <a:rPr lang="it-IT" dirty="0" err="1"/>
              <a:t>intersect</a:t>
            </a:r>
            <a:r>
              <a:rPr lang="it-IT" dirty="0"/>
              <a:t>(A,B,A_I_B)</a:t>
            </a:r>
          </a:p>
          <a:p>
            <a:pPr marL="0" indent="0">
              <a:buNone/>
            </a:pPr>
            <a:r>
              <a:rPr lang="it-IT" dirty="0"/>
              <a:t>vero se A e B sono liste con ripetizioni e A_I_B è una lista che contiene gli elementi di A e B eventualmente ripetuti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9865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CB571F-5920-4A2F-9FE0-401BDA8D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Eercizio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5C74CA-70F4-4A0C-B916-2B574A55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intersect</a:t>
            </a:r>
            <a:r>
              <a:rPr lang="it-IT" dirty="0"/>
              <a:t>([], _, []).</a:t>
            </a:r>
          </a:p>
          <a:p>
            <a:pPr marL="0" indent="0">
              <a:buNone/>
            </a:pPr>
            <a:r>
              <a:rPr lang="it-IT" dirty="0" err="1"/>
              <a:t>intersect</a:t>
            </a:r>
            <a:r>
              <a:rPr lang="it-IT" dirty="0"/>
              <a:t>([X|R], L2, [</a:t>
            </a:r>
            <a:r>
              <a:rPr lang="it-IT" dirty="0" err="1"/>
              <a:t>X|Res</a:t>
            </a:r>
            <a:r>
              <a:rPr lang="it-IT" dirty="0"/>
              <a:t>]) :-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select</a:t>
            </a:r>
            <a:r>
              <a:rPr lang="it-IT" dirty="0"/>
              <a:t>(X, L2, L2Rest), !, 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intersect</a:t>
            </a:r>
            <a:r>
              <a:rPr lang="it-IT" dirty="0"/>
              <a:t>(R, L2Rest, Res).</a:t>
            </a:r>
          </a:p>
          <a:p>
            <a:pPr marL="0" indent="0">
              <a:buNone/>
            </a:pPr>
            <a:r>
              <a:rPr lang="it-IT" dirty="0" err="1"/>
              <a:t>intersect</a:t>
            </a:r>
            <a:r>
              <a:rPr lang="it-IT" dirty="0"/>
              <a:t>([_|R], L2, Res) :-</a:t>
            </a:r>
          </a:p>
          <a:p>
            <a:pPr marL="0" indent="0">
              <a:buNone/>
            </a:pPr>
            <a:r>
              <a:rPr lang="it-IT" dirty="0"/>
              <a:t>    </a:t>
            </a:r>
            <a:r>
              <a:rPr lang="it-IT" dirty="0" err="1"/>
              <a:t>intersect</a:t>
            </a:r>
            <a:r>
              <a:rPr lang="it-IT" dirty="0"/>
              <a:t>(R, L2, Res).</a:t>
            </a:r>
          </a:p>
        </p:txBody>
      </p:sp>
    </p:spTree>
    <p:extLst>
      <p:ext uri="{BB962C8B-B14F-4D97-AF65-F5344CB8AC3E}">
        <p14:creationId xmlns:p14="http://schemas.microsoft.com/office/powerpoint/2010/main" val="2979263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it-IT" dirty="0"/>
              <a:t>Un passo all’indietro</a:t>
            </a:r>
          </a:p>
          <a:p>
            <a:pPr algn="ctr">
              <a:buNone/>
            </a:pPr>
            <a:r>
              <a:rPr lang="it-IT" dirty="0"/>
              <a:t>Dato un albero </a:t>
            </a:r>
            <a:r>
              <a:rPr lang="it-IT" b="1" i="1" dirty="0"/>
              <a:t>t</a:t>
            </a:r>
            <a:r>
              <a:rPr lang="it-IT" dirty="0"/>
              <a:t>, quanti sottoalberi ha?</a:t>
            </a:r>
          </a:p>
          <a:p>
            <a:pPr algn="ctr">
              <a:buNone/>
            </a:pPr>
            <a:r>
              <a:rPr lang="it-IT" sz="2000" i="1" dirty="0"/>
              <a:t>Focalizziamoci sui sottoalberi che partono dalla radice</a:t>
            </a:r>
            <a:endParaRPr lang="it-IT" i="1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</a:t>
            </a:r>
          </a:p>
        </p:txBody>
      </p:sp>
      <p:sp>
        <p:nvSpPr>
          <p:cNvPr id="4" name="Rettangolo 3"/>
          <p:cNvSpPr/>
          <p:nvPr/>
        </p:nvSpPr>
        <p:spPr>
          <a:xfrm>
            <a:off x="3786182" y="3261465"/>
            <a:ext cx="485772" cy="4286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R</a:t>
            </a:r>
          </a:p>
        </p:txBody>
      </p:sp>
      <p:sp>
        <p:nvSpPr>
          <p:cNvPr id="7" name="Rettangolo 6"/>
          <p:cNvSpPr/>
          <p:nvPr/>
        </p:nvSpPr>
        <p:spPr>
          <a:xfrm>
            <a:off x="1785918" y="4047283"/>
            <a:ext cx="1057276" cy="4286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Symbol" pitchFamily="18" charset="2"/>
              </a:rPr>
              <a:t>D</a:t>
            </a:r>
            <a:r>
              <a:rPr lang="it-IT" dirty="0"/>
              <a:t>(ch</a:t>
            </a:r>
            <a:r>
              <a:rPr lang="it-IT" baseline="-25000" dirty="0"/>
              <a:t>1</a:t>
            </a:r>
            <a:r>
              <a:rPr lang="it-IT" dirty="0"/>
              <a:t>)</a:t>
            </a:r>
          </a:p>
        </p:txBody>
      </p:sp>
      <p:sp>
        <p:nvSpPr>
          <p:cNvPr id="8" name="Rettangolo 7"/>
          <p:cNvSpPr/>
          <p:nvPr/>
        </p:nvSpPr>
        <p:spPr>
          <a:xfrm>
            <a:off x="3157534" y="4047283"/>
            <a:ext cx="1057276" cy="4286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Symbol" pitchFamily="18" charset="2"/>
              </a:rPr>
              <a:t>D</a:t>
            </a:r>
            <a:r>
              <a:rPr lang="it-IT" dirty="0"/>
              <a:t>(ch</a:t>
            </a:r>
            <a:r>
              <a:rPr lang="it-IT" baseline="-25000" dirty="0"/>
              <a:t>2</a:t>
            </a:r>
            <a:r>
              <a:rPr lang="it-IT" dirty="0"/>
              <a:t>)</a:t>
            </a:r>
          </a:p>
        </p:txBody>
      </p:sp>
      <p:sp>
        <p:nvSpPr>
          <p:cNvPr id="9" name="Rettangolo 8"/>
          <p:cNvSpPr/>
          <p:nvPr/>
        </p:nvSpPr>
        <p:spPr>
          <a:xfrm>
            <a:off x="5572132" y="4047283"/>
            <a:ext cx="1057276" cy="4286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Symbol" pitchFamily="18" charset="2"/>
              </a:rPr>
              <a:t>D</a:t>
            </a:r>
            <a:r>
              <a:rPr lang="it-IT" dirty="0"/>
              <a:t>(</a:t>
            </a:r>
            <a:r>
              <a:rPr lang="it-IT" dirty="0" err="1"/>
              <a:t>ch</a:t>
            </a:r>
            <a:r>
              <a:rPr lang="it-IT" baseline="-25000" dirty="0" err="1"/>
              <a:t>n</a:t>
            </a:r>
            <a:r>
              <a:rPr lang="it-IT" dirty="0"/>
              <a:t>)</a:t>
            </a:r>
          </a:p>
        </p:txBody>
      </p:sp>
      <p:sp>
        <p:nvSpPr>
          <p:cNvPr id="10" name="Rettangolo 9"/>
          <p:cNvSpPr/>
          <p:nvPr/>
        </p:nvSpPr>
        <p:spPr>
          <a:xfrm>
            <a:off x="4429124" y="4047283"/>
            <a:ext cx="1057276" cy="4286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+mj-lt"/>
              </a:rPr>
              <a:t>…</a:t>
            </a:r>
          </a:p>
        </p:txBody>
      </p:sp>
      <p:cxnSp>
        <p:nvCxnSpPr>
          <p:cNvPr id="12" name="Connettore 1 11"/>
          <p:cNvCxnSpPr>
            <a:stCxn id="4" idx="2"/>
            <a:endCxn id="7" idx="0"/>
          </p:cNvCxnSpPr>
          <p:nvPr/>
        </p:nvCxnSpPr>
        <p:spPr>
          <a:xfrm rot="5400000">
            <a:off x="2993217" y="3011432"/>
            <a:ext cx="357190" cy="1714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/>
          <p:cNvCxnSpPr>
            <a:stCxn id="4" idx="2"/>
            <a:endCxn id="8" idx="0"/>
          </p:cNvCxnSpPr>
          <p:nvPr/>
        </p:nvCxnSpPr>
        <p:spPr>
          <a:xfrm rot="5400000">
            <a:off x="3679025" y="3697240"/>
            <a:ext cx="357190" cy="34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/>
          <p:cNvCxnSpPr>
            <a:stCxn id="4" idx="2"/>
            <a:endCxn id="9" idx="0"/>
          </p:cNvCxnSpPr>
          <p:nvPr/>
        </p:nvCxnSpPr>
        <p:spPr>
          <a:xfrm rot="16200000" flipH="1">
            <a:off x="4886324" y="2832837"/>
            <a:ext cx="357190" cy="207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/>
          <p:cNvSpPr/>
          <p:nvPr/>
        </p:nvSpPr>
        <p:spPr>
          <a:xfrm>
            <a:off x="1071538" y="5190291"/>
            <a:ext cx="640431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latin typeface="Symbol" pitchFamily="18" charset="2"/>
              </a:rPr>
              <a:t>D</a:t>
            </a:r>
            <a:r>
              <a:rPr lang="it-IT" dirty="0"/>
              <a:t>(R)=</a:t>
            </a:r>
            <a:r>
              <a:rPr lang="it-IT" dirty="0">
                <a:sym typeface="Symbol"/>
              </a:rPr>
              <a:t></a:t>
            </a:r>
            <a:r>
              <a:rPr lang="it-IT" baseline="-25000" dirty="0"/>
              <a:t>i </a:t>
            </a:r>
            <a:r>
              <a:rPr lang="it-IT" dirty="0">
                <a:sym typeface="Symbol"/>
              </a:rPr>
              <a:t>(</a:t>
            </a:r>
            <a:r>
              <a:rPr lang="it-IT" dirty="0"/>
              <a:t>1+</a:t>
            </a:r>
            <a:r>
              <a:rPr lang="it-IT" dirty="0">
                <a:latin typeface="Symbol" pitchFamily="18" charset="2"/>
              </a:rPr>
              <a:t> D</a:t>
            </a:r>
            <a:r>
              <a:rPr lang="it-IT" dirty="0"/>
              <a:t>(ch</a:t>
            </a:r>
            <a:r>
              <a:rPr lang="it-IT" baseline="-25000" dirty="0"/>
              <a:t>i</a:t>
            </a:r>
            <a:r>
              <a:rPr lang="it-IT" dirty="0"/>
              <a:t>)) 		se R non è terminale</a:t>
            </a:r>
          </a:p>
          <a:p>
            <a:r>
              <a:rPr lang="it-IT">
                <a:latin typeface="Symbol" pitchFamily="18" charset="2"/>
              </a:rPr>
              <a:t>D</a:t>
            </a:r>
            <a:r>
              <a:rPr lang="it-IT"/>
              <a:t>(R)=0</a:t>
            </a:r>
            <a:r>
              <a:rPr lang="it-IT" dirty="0"/>
              <a:t>			se R è terminale</a:t>
            </a:r>
          </a:p>
        </p:txBody>
      </p:sp>
    </p:spTree>
    <p:extLst>
      <p:ext uri="{BB962C8B-B14F-4D97-AF65-F5344CB8AC3E}">
        <p14:creationId xmlns:p14="http://schemas.microsoft.com/office/powerpoint/2010/main" val="370431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it-IT" dirty="0"/>
              <a:t>Versione ricorsiva</a:t>
            </a:r>
            <a:endParaRPr lang="it-IT" sz="2000" dirty="0"/>
          </a:p>
        </p:txBody>
      </p:sp>
      <p:sp>
        <p:nvSpPr>
          <p:cNvPr id="1154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571" y="3133725"/>
            <a:ext cx="7851116" cy="647700"/>
          </a:xfrm>
        </p:spPr>
        <p:txBody>
          <a:bodyPr/>
          <a:lstStyle/>
          <a:p>
            <a:pPr>
              <a:lnSpc>
                <a:spcPct val="110000"/>
              </a:lnSpc>
              <a:buNone/>
            </a:pPr>
            <a:r>
              <a:rPr lang="en-US" sz="2400" dirty="0"/>
              <a:t>[Collins and Duffy, ACL 2002] evaluate </a:t>
            </a:r>
            <a:r>
              <a:rPr lang="en-US" dirty="0">
                <a:sym typeface="Symbol" pitchFamily="18" charset="2"/>
              </a:rPr>
              <a:t></a:t>
            </a:r>
            <a:r>
              <a:rPr lang="en-US" sz="2400" dirty="0"/>
              <a:t> in O(n</a:t>
            </a:r>
            <a:r>
              <a:rPr lang="en-US" sz="2400" baseline="30000" dirty="0"/>
              <a:t>2</a:t>
            </a:r>
            <a:r>
              <a:rPr lang="en-US" sz="2400" dirty="0"/>
              <a:t>):</a:t>
            </a:r>
          </a:p>
          <a:p>
            <a:pPr>
              <a:lnSpc>
                <a:spcPct val="110000"/>
              </a:lnSpc>
              <a:buFontTx/>
              <a:buNone/>
            </a:pPr>
            <a:endParaRPr lang="en-US" sz="2400" dirty="0"/>
          </a:p>
        </p:txBody>
      </p:sp>
      <p:graphicFrame>
        <p:nvGraphicFramePr>
          <p:cNvPr id="1154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658578"/>
              </p:ext>
            </p:extLst>
          </p:nvPr>
        </p:nvGraphicFramePr>
        <p:xfrm>
          <a:off x="571472" y="3898901"/>
          <a:ext cx="7957856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Equazione" r:id="rId4" imgW="3022560" imgH="927000" progId="Equation.3">
                  <p:embed/>
                </p:oleObj>
              </mc:Choice>
              <mc:Fallback>
                <p:oleObj name="Equazione" r:id="rId4" imgW="302256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472" y="3898901"/>
                        <a:ext cx="7957856" cy="2417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4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12229"/>
              </p:ext>
            </p:extLst>
          </p:nvPr>
        </p:nvGraphicFramePr>
        <p:xfrm>
          <a:off x="2051050" y="1762125"/>
          <a:ext cx="44116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Equazione" r:id="rId6" imgW="1841400" imgH="368280" progId="Equation.3">
                  <p:embed/>
                </p:oleObj>
              </mc:Choice>
              <mc:Fallback>
                <p:oleObj name="Equazione" r:id="rId6" imgW="184140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762125"/>
                        <a:ext cx="44116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6907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Scrivere il predicato:</a:t>
            </a:r>
          </a:p>
          <a:p>
            <a:pPr marL="0" indent="0" algn="ctr">
              <a:buNone/>
            </a:pPr>
            <a:r>
              <a:rPr lang="it-IT" dirty="0"/>
              <a:t>k(T1,T2,N) </a:t>
            </a:r>
          </a:p>
          <a:p>
            <a:pPr marL="0" indent="0">
              <a:buNone/>
            </a:pPr>
            <a:r>
              <a:rPr lang="it-IT" dirty="0"/>
              <a:t>vero se T1 e T2 sono alberi ed essi hanno in comune N sottoalberi, usando la definizione ricorsiva.</a:t>
            </a:r>
          </a:p>
        </p:txBody>
      </p:sp>
    </p:spTree>
    <p:extLst>
      <p:ext uri="{BB962C8B-B14F-4D97-AF65-F5344CB8AC3E}">
        <p14:creationId xmlns:p14="http://schemas.microsoft.com/office/powerpoint/2010/main" val="3713512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/>
              <a:t>delta(</a:t>
            </a:r>
            <a:r>
              <a:rPr lang="it-IT" sz="2400" dirty="0" err="1"/>
              <a:t>tree</a:t>
            </a:r>
            <a:r>
              <a:rPr lang="it-IT" sz="2400" dirty="0"/>
              <a:t>(X,[]),</a:t>
            </a:r>
            <a:r>
              <a:rPr lang="it-IT" sz="2400" dirty="0" err="1"/>
              <a:t>tree</a:t>
            </a:r>
            <a:r>
              <a:rPr lang="it-IT" sz="2400" dirty="0"/>
              <a:t>(X,[]),1):- !.</a:t>
            </a:r>
          </a:p>
          <a:p>
            <a:pPr marL="0" indent="0">
              <a:buNone/>
            </a:pPr>
            <a:r>
              <a:rPr lang="it-IT" sz="2400" dirty="0"/>
              <a:t>delta(</a:t>
            </a:r>
            <a:r>
              <a:rPr lang="it-IT" sz="2400" dirty="0" err="1"/>
              <a:t>tree</a:t>
            </a:r>
            <a:r>
              <a:rPr lang="it-IT" sz="2400" dirty="0"/>
              <a:t>(X,RX),</a:t>
            </a:r>
            <a:r>
              <a:rPr lang="it-IT" sz="2400" dirty="0" err="1"/>
              <a:t>tree</a:t>
            </a:r>
            <a:r>
              <a:rPr lang="it-IT" sz="2400" dirty="0"/>
              <a:t>(X,RX1),N):-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sons</a:t>
            </a:r>
            <a:r>
              <a:rPr lang="it-IT" sz="2400" dirty="0"/>
              <a:t>(RX,SX), </a:t>
            </a:r>
            <a:r>
              <a:rPr lang="it-IT" sz="2400" dirty="0" err="1"/>
              <a:t>sons</a:t>
            </a:r>
            <a:r>
              <a:rPr lang="it-IT" sz="2400" dirty="0"/>
              <a:t>(RX1,SX)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subdelta</a:t>
            </a:r>
            <a:r>
              <a:rPr lang="it-IT" sz="2400" dirty="0"/>
              <a:t>(RX,RX1,N), !.</a:t>
            </a:r>
          </a:p>
          <a:p>
            <a:pPr marL="0" indent="0">
              <a:buNone/>
            </a:pPr>
            <a:r>
              <a:rPr lang="it-IT" sz="2400" dirty="0"/>
              <a:t>delta(_,_,0):- !.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r>
              <a:rPr lang="it-IT" sz="2400" dirty="0" err="1"/>
              <a:t>subdelta</a:t>
            </a:r>
            <a:r>
              <a:rPr lang="it-IT" sz="2400" dirty="0"/>
              <a:t>([],[],1).</a:t>
            </a:r>
          </a:p>
          <a:p>
            <a:pPr marL="0" indent="0">
              <a:buNone/>
            </a:pPr>
            <a:r>
              <a:rPr lang="it-IT" sz="2400" dirty="0" err="1"/>
              <a:t>subdelta</a:t>
            </a:r>
            <a:r>
              <a:rPr lang="it-IT" sz="2400" dirty="0"/>
              <a:t>([T1|R1],[T2|R2], N):-</a:t>
            </a:r>
          </a:p>
          <a:p>
            <a:pPr marL="0" indent="0">
              <a:buNone/>
            </a:pPr>
            <a:r>
              <a:rPr lang="it-IT" sz="2400" dirty="0"/>
              <a:t>	delta(T1,T2,N1),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subdelta</a:t>
            </a:r>
            <a:r>
              <a:rPr lang="it-IT" sz="2400" dirty="0"/>
              <a:t>(R1,R2, NR),</a:t>
            </a:r>
          </a:p>
          <a:p>
            <a:pPr marL="0" indent="0">
              <a:buNone/>
            </a:pPr>
            <a:r>
              <a:rPr lang="it-IT" sz="2400" dirty="0"/>
              <a:t>	N </a:t>
            </a:r>
            <a:r>
              <a:rPr lang="it-IT" sz="2400" dirty="0" err="1"/>
              <a:t>is</a:t>
            </a:r>
            <a:r>
              <a:rPr lang="it-IT" sz="2400" dirty="0"/>
              <a:t> (1 + N1)*NR.</a:t>
            </a:r>
          </a:p>
          <a:p>
            <a:pPr marL="0" indent="0">
              <a:buNone/>
            </a:pPr>
            <a:r>
              <a:rPr lang="it-IT" dirty="0"/>
              <a:t>	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41503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k(T1,T2,N):-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bagof</a:t>
            </a:r>
            <a:r>
              <a:rPr lang="it-IT" dirty="0"/>
              <a:t>(ST1,complete_st(T1,ST1),STL1),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bagof</a:t>
            </a:r>
            <a:r>
              <a:rPr lang="it-IT" dirty="0"/>
              <a:t>(ST2,complete_st(T2,ST2),STL2),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sum_deltas</a:t>
            </a:r>
            <a:r>
              <a:rPr lang="it-IT" dirty="0"/>
              <a:t>(STL1, STL2,N).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complete_st</a:t>
            </a:r>
            <a:r>
              <a:rPr lang="it-IT" dirty="0"/>
              <a:t>(T,T).</a:t>
            </a:r>
          </a:p>
          <a:p>
            <a:pPr marL="0" indent="0">
              <a:buNone/>
            </a:pPr>
            <a:r>
              <a:rPr lang="it-IT" dirty="0" err="1"/>
              <a:t>complete_st</a:t>
            </a:r>
            <a:r>
              <a:rPr lang="it-IT" dirty="0"/>
              <a:t>(</a:t>
            </a:r>
            <a:r>
              <a:rPr lang="it-IT" dirty="0" err="1"/>
              <a:t>tree</a:t>
            </a:r>
            <a:r>
              <a:rPr lang="it-IT" dirty="0"/>
              <a:t>(_,S),T):- 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member</a:t>
            </a:r>
            <a:r>
              <a:rPr lang="it-IT" dirty="0"/>
              <a:t>(T1,S), </a:t>
            </a:r>
            <a:r>
              <a:rPr lang="it-IT" dirty="0" err="1"/>
              <a:t>complete_st</a:t>
            </a:r>
            <a:r>
              <a:rPr lang="it-IT" dirty="0"/>
              <a:t>(T1,T).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	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68180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dirty="0" err="1"/>
              <a:t>sum_deltas</a:t>
            </a:r>
            <a:r>
              <a:rPr lang="it-IT" sz="2400" dirty="0"/>
              <a:t>([], _,0).</a:t>
            </a:r>
          </a:p>
          <a:p>
            <a:pPr marL="0" indent="0">
              <a:buNone/>
            </a:pPr>
            <a:r>
              <a:rPr lang="it-IT" sz="2400" dirty="0" err="1"/>
              <a:t>sum_deltas</a:t>
            </a:r>
            <a:r>
              <a:rPr lang="it-IT" sz="2400" dirty="0"/>
              <a:t>([ST|STL1], STL2,N):-</a:t>
            </a:r>
          </a:p>
          <a:p>
            <a:pPr marL="0" indent="0">
              <a:buNone/>
            </a:pPr>
            <a:r>
              <a:rPr lang="it-IT" sz="2400" dirty="0"/>
              <a:t>	sum_deltas1(ST,STL2,N1),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sum_deltas</a:t>
            </a:r>
            <a:r>
              <a:rPr lang="it-IT" sz="2400" dirty="0"/>
              <a:t>(STL1, STL2,N2),</a:t>
            </a:r>
          </a:p>
          <a:p>
            <a:pPr marL="0" indent="0">
              <a:buNone/>
            </a:pPr>
            <a:r>
              <a:rPr lang="it-IT" sz="2400" dirty="0"/>
              <a:t>	N </a:t>
            </a:r>
            <a:r>
              <a:rPr lang="it-IT" sz="2400" dirty="0" err="1"/>
              <a:t>is</a:t>
            </a:r>
            <a:r>
              <a:rPr lang="it-IT" sz="2400" dirty="0"/>
              <a:t> N1 + N2.</a:t>
            </a:r>
          </a:p>
          <a:p>
            <a:pPr marL="0" indent="0">
              <a:buNone/>
            </a:pPr>
            <a:r>
              <a:rPr lang="it-IT" sz="2400" dirty="0"/>
              <a:t>sum_deltas1(_,[],0).</a:t>
            </a:r>
          </a:p>
          <a:p>
            <a:pPr marL="0" indent="0">
              <a:buNone/>
            </a:pPr>
            <a:r>
              <a:rPr lang="it-IT" sz="2400" dirty="0"/>
              <a:t>sum_deltas1(ST,[ST2|STL2],N):-</a:t>
            </a:r>
          </a:p>
          <a:p>
            <a:pPr marL="0" indent="0">
              <a:buNone/>
            </a:pPr>
            <a:r>
              <a:rPr lang="it-IT" sz="2400" dirty="0"/>
              <a:t>	!, delta(ST,ST2,N1),</a:t>
            </a:r>
          </a:p>
          <a:p>
            <a:pPr marL="0" indent="0">
              <a:buNone/>
            </a:pPr>
            <a:r>
              <a:rPr lang="it-IT" sz="2400" dirty="0"/>
              <a:t>	sum_deltas1(ST, STL2,N2),</a:t>
            </a:r>
          </a:p>
          <a:p>
            <a:pPr marL="0" indent="0">
              <a:buNone/>
            </a:pPr>
            <a:r>
              <a:rPr lang="it-IT" sz="2400" dirty="0"/>
              <a:t>	N </a:t>
            </a:r>
            <a:r>
              <a:rPr lang="it-IT" sz="2400" dirty="0" err="1"/>
              <a:t>is</a:t>
            </a:r>
            <a:r>
              <a:rPr lang="it-IT" sz="2400" dirty="0"/>
              <a:t> N1 + N2.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62298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 </a:t>
            </a:r>
            <a:br>
              <a:rPr lang="it-IT" dirty="0"/>
            </a:br>
            <a:r>
              <a:rPr lang="it-IT" dirty="0"/>
              <a:t>con 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Scrivere il predicato:</a:t>
            </a:r>
          </a:p>
          <a:p>
            <a:pPr marL="0" indent="0" algn="ctr">
              <a:buNone/>
            </a:pPr>
            <a:r>
              <a:rPr lang="it-IT" dirty="0"/>
              <a:t>k(T1,T2,N) </a:t>
            </a:r>
          </a:p>
          <a:p>
            <a:pPr marL="0" indent="0">
              <a:buNone/>
            </a:pPr>
            <a:r>
              <a:rPr lang="it-IT" dirty="0"/>
              <a:t>vero se T1 e T2 sono alberi ed essi hanno in comune N sottoalberi, usando la definizione ricorsiva e memorizzando i risultati parziali di delta in </a:t>
            </a:r>
            <a:r>
              <a:rPr lang="it-IT" dirty="0" err="1"/>
              <a:t>delta_m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7034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 </a:t>
            </a:r>
            <a:br>
              <a:rPr lang="it-IT" dirty="0"/>
            </a:br>
            <a:r>
              <a:rPr lang="it-IT" dirty="0"/>
              <a:t>con 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it-IT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:- </a:t>
            </a:r>
            <a:r>
              <a:rPr lang="it-IT" dirty="0" err="1">
                <a:solidFill>
                  <a:srgbClr val="FF0000"/>
                </a:solidFill>
              </a:rPr>
              <a:t>dynamic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delta_m</a:t>
            </a:r>
            <a:r>
              <a:rPr lang="it-IT" dirty="0">
                <a:solidFill>
                  <a:srgbClr val="FF0000"/>
                </a:solidFill>
              </a:rPr>
              <a:t>/3.</a:t>
            </a:r>
          </a:p>
          <a:p>
            <a:pPr marL="0" indent="0">
              <a:buNone/>
            </a:pPr>
            <a:endParaRPr lang="it-IT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dirty="0" err="1">
                <a:solidFill>
                  <a:srgbClr val="FF0000"/>
                </a:solidFill>
              </a:rPr>
              <a:t>delta_m</a:t>
            </a:r>
            <a:r>
              <a:rPr lang="it-IT" dirty="0">
                <a:solidFill>
                  <a:srgbClr val="FF0000"/>
                </a:solidFill>
              </a:rPr>
              <a:t>(x,x,0).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9272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 </a:t>
            </a:r>
            <a:br>
              <a:rPr lang="it-IT" dirty="0"/>
            </a:br>
            <a:r>
              <a:rPr lang="it-IT" dirty="0"/>
              <a:t>con 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it-IT" sz="2400" dirty="0">
                <a:solidFill>
                  <a:srgbClr val="FF0000"/>
                </a:solidFill>
              </a:rPr>
              <a:t>delta(T1,T2,N):- </a:t>
            </a:r>
            <a:r>
              <a:rPr lang="it-IT" sz="2400" dirty="0" err="1">
                <a:solidFill>
                  <a:srgbClr val="FF0000"/>
                </a:solidFill>
              </a:rPr>
              <a:t>delta_m</a:t>
            </a:r>
            <a:r>
              <a:rPr lang="it-IT" sz="2400" dirty="0">
                <a:solidFill>
                  <a:srgbClr val="FF0000"/>
                </a:solidFill>
              </a:rPr>
              <a:t>(T1,T2,N).</a:t>
            </a:r>
          </a:p>
          <a:p>
            <a:pPr marL="0" indent="0">
              <a:buNone/>
            </a:pPr>
            <a:r>
              <a:rPr lang="it-IT" sz="2400" dirty="0"/>
              <a:t>delta(</a:t>
            </a:r>
            <a:r>
              <a:rPr lang="it-IT" sz="2400" dirty="0" err="1"/>
              <a:t>tree</a:t>
            </a:r>
            <a:r>
              <a:rPr lang="it-IT" sz="2400" dirty="0"/>
              <a:t>(X,[]),</a:t>
            </a:r>
            <a:r>
              <a:rPr lang="it-IT" sz="2400" dirty="0" err="1"/>
              <a:t>tree</a:t>
            </a:r>
            <a:r>
              <a:rPr lang="it-IT" sz="2400" dirty="0"/>
              <a:t>(X,[]),1):- !.</a:t>
            </a:r>
          </a:p>
          <a:p>
            <a:pPr marL="0" indent="0">
              <a:buNone/>
            </a:pPr>
            <a:r>
              <a:rPr lang="it-IT" sz="2400" dirty="0"/>
              <a:t>delta(</a:t>
            </a:r>
            <a:r>
              <a:rPr lang="it-IT" sz="2400" dirty="0" err="1"/>
              <a:t>tree</a:t>
            </a:r>
            <a:r>
              <a:rPr lang="it-IT" sz="2400" dirty="0"/>
              <a:t>(X,RX),</a:t>
            </a:r>
            <a:r>
              <a:rPr lang="it-IT" sz="2400" dirty="0" err="1"/>
              <a:t>tree</a:t>
            </a:r>
            <a:r>
              <a:rPr lang="it-IT" sz="2400" dirty="0"/>
              <a:t>(X,RX1),N):-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sons</a:t>
            </a:r>
            <a:r>
              <a:rPr lang="it-IT" sz="2400" dirty="0"/>
              <a:t>(RX,SX), </a:t>
            </a:r>
            <a:r>
              <a:rPr lang="it-IT" sz="2400" dirty="0" err="1"/>
              <a:t>sons</a:t>
            </a:r>
            <a:r>
              <a:rPr lang="it-IT" sz="2400" dirty="0"/>
              <a:t>(RX1,SX)</a:t>
            </a:r>
          </a:p>
          <a:p>
            <a:pPr marL="0" indent="0">
              <a:buNone/>
            </a:pPr>
            <a:r>
              <a:rPr lang="it-IT" sz="2400" dirty="0"/>
              <a:t>	</a:t>
            </a:r>
            <a:r>
              <a:rPr lang="it-IT" sz="2400" dirty="0" err="1"/>
              <a:t>subdelta</a:t>
            </a:r>
            <a:r>
              <a:rPr lang="it-IT" sz="2400" dirty="0"/>
              <a:t>(RX,RX1,N), !, 	</a:t>
            </a:r>
            <a:r>
              <a:rPr lang="it-IT" sz="2400" dirty="0" err="1">
                <a:solidFill>
                  <a:srgbClr val="FF0000"/>
                </a:solidFill>
              </a:rPr>
              <a:t>assert</a:t>
            </a:r>
            <a:r>
              <a:rPr lang="it-IT" sz="2400" dirty="0">
                <a:solidFill>
                  <a:srgbClr val="FF0000"/>
                </a:solidFill>
              </a:rPr>
              <a:t>(</a:t>
            </a:r>
            <a:r>
              <a:rPr lang="it-IT" sz="2400" dirty="0" err="1">
                <a:solidFill>
                  <a:srgbClr val="FF0000"/>
                </a:solidFill>
              </a:rPr>
              <a:t>delta_m</a:t>
            </a:r>
            <a:r>
              <a:rPr lang="it-IT" sz="2400" dirty="0">
                <a:solidFill>
                  <a:srgbClr val="FF0000"/>
                </a:solidFill>
              </a:rPr>
              <a:t>(</a:t>
            </a:r>
            <a:r>
              <a:rPr lang="it-IT" sz="2400" dirty="0" err="1">
                <a:solidFill>
                  <a:srgbClr val="FF0000"/>
                </a:solidFill>
              </a:rPr>
              <a:t>tree</a:t>
            </a:r>
            <a:r>
              <a:rPr lang="it-IT" sz="2400" dirty="0">
                <a:solidFill>
                  <a:srgbClr val="FF0000"/>
                </a:solidFill>
              </a:rPr>
              <a:t>(X,RX),</a:t>
            </a:r>
            <a:r>
              <a:rPr lang="it-IT" sz="2400" dirty="0" err="1">
                <a:solidFill>
                  <a:srgbClr val="FF0000"/>
                </a:solidFill>
              </a:rPr>
              <a:t>tree</a:t>
            </a:r>
            <a:r>
              <a:rPr lang="it-IT" sz="2400" dirty="0">
                <a:solidFill>
                  <a:srgbClr val="FF0000"/>
                </a:solidFill>
              </a:rPr>
              <a:t>(X,RX1),N).</a:t>
            </a:r>
          </a:p>
          <a:p>
            <a:pPr marL="0" indent="0">
              <a:buNone/>
            </a:pPr>
            <a:r>
              <a:rPr lang="it-IT" sz="2400" dirty="0"/>
              <a:t>delta(_,_,0):- !.</a:t>
            </a:r>
          </a:p>
          <a:p>
            <a:pPr marL="0" indent="0">
              <a:buNone/>
            </a:pPr>
            <a:r>
              <a:rPr lang="it-IT" dirty="0"/>
              <a:t>	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20551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Versione ricorsiva </a:t>
            </a:r>
            <a:br>
              <a:rPr lang="it-IT" dirty="0"/>
            </a:br>
            <a:r>
              <a:rPr lang="it-IT" dirty="0"/>
              <a:t>con programmazione dinamica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k(T1,T2,N):-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bagof</a:t>
            </a:r>
            <a:r>
              <a:rPr lang="it-IT" dirty="0"/>
              <a:t>(ST1,complete_st(T1,ST1),STL1),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bagof</a:t>
            </a:r>
            <a:r>
              <a:rPr lang="it-IT" dirty="0"/>
              <a:t>(ST2,complete_st(T2,ST2),STL2),</a:t>
            </a:r>
          </a:p>
          <a:p>
            <a:pPr marL="0" indent="0">
              <a:buNone/>
            </a:pPr>
            <a:r>
              <a:rPr lang="it-IT" dirty="0"/>
              <a:t>	</a:t>
            </a:r>
            <a:r>
              <a:rPr lang="it-IT" dirty="0" err="1"/>
              <a:t>sum_deltas</a:t>
            </a:r>
            <a:r>
              <a:rPr lang="it-IT" dirty="0"/>
              <a:t>(STL1, STL2,N),</a:t>
            </a:r>
          </a:p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	</a:t>
            </a:r>
            <a:r>
              <a:rPr lang="it-IT" dirty="0" err="1">
                <a:solidFill>
                  <a:srgbClr val="FF0000"/>
                </a:solidFill>
              </a:rPr>
              <a:t>retractall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delta_m</a:t>
            </a:r>
            <a:r>
              <a:rPr lang="it-IT" dirty="0">
                <a:solidFill>
                  <a:srgbClr val="FF0000"/>
                </a:solidFill>
              </a:rPr>
              <a:t>(_,_,_)),</a:t>
            </a:r>
          </a:p>
          <a:p>
            <a:pPr marL="0" indent="0">
              <a:buNone/>
            </a:pPr>
            <a:r>
              <a:rPr lang="it-IT" dirty="0">
                <a:solidFill>
                  <a:srgbClr val="FF0000"/>
                </a:solidFill>
              </a:rPr>
              <a:t>	</a:t>
            </a:r>
            <a:r>
              <a:rPr lang="it-IT" dirty="0" err="1">
                <a:solidFill>
                  <a:srgbClr val="FF0000"/>
                </a:solidFill>
              </a:rPr>
              <a:t>assert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delta_m</a:t>
            </a:r>
            <a:r>
              <a:rPr lang="it-IT" dirty="0">
                <a:solidFill>
                  <a:srgbClr val="FF0000"/>
                </a:solidFill>
              </a:rPr>
              <a:t>(x,x,0)).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	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2214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Implementare ciò che manca :-)</a:t>
            </a:r>
          </a:p>
        </p:txBody>
      </p:sp>
    </p:spTree>
    <p:extLst>
      <p:ext uri="{BB962C8B-B14F-4D97-AF65-F5344CB8AC3E}">
        <p14:creationId xmlns:p14="http://schemas.microsoft.com/office/powerpoint/2010/main" val="382091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Settings\fabio\Dati applicazioni\Microsoft\Modelli\Template.pot</Template>
  <TotalTime>10040</TotalTime>
  <Words>1910</Words>
  <Application>Microsoft Office PowerPoint</Application>
  <PresentationFormat>Presentazione su schermo (4:3)</PresentationFormat>
  <Paragraphs>318</Paragraphs>
  <Slides>35</Slides>
  <Notes>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35</vt:i4>
      </vt:variant>
    </vt:vector>
  </HeadingPairs>
  <TitlesOfParts>
    <vt:vector size="43" baseType="lpstr">
      <vt:lpstr>Calibri</vt:lpstr>
      <vt:lpstr>Monotype Corsiva</vt:lpstr>
      <vt:lpstr>Smudger LET</vt:lpstr>
      <vt:lpstr>Symbol</vt:lpstr>
      <vt:lpstr>Times New Roman</vt:lpstr>
      <vt:lpstr>Template</vt:lpstr>
      <vt:lpstr>Documento</vt:lpstr>
      <vt:lpstr>Equazione</vt:lpstr>
      <vt:lpstr>Percorsi su grafi, Sottoalberi Comuni e Programmazione Dinamica</vt:lpstr>
      <vt:lpstr>Percorso su grafi</vt:lpstr>
      <vt:lpstr>Percorso su grafi</vt:lpstr>
      <vt:lpstr>Percorso su Grafi</vt:lpstr>
      <vt:lpstr>Percorso su grafi con limite</vt:lpstr>
      <vt:lpstr>Percorso su grafi con limite</vt:lpstr>
      <vt:lpstr>Percorso su grafi con limite</vt:lpstr>
      <vt:lpstr>Percorso su grafi con limite</vt:lpstr>
      <vt:lpstr>Programmazione dinamica</vt:lpstr>
      <vt:lpstr>Programmazione dinamica</vt:lpstr>
      <vt:lpstr>Programmazione dinamica</vt:lpstr>
      <vt:lpstr>Fibonacci: prima!</vt:lpstr>
      <vt:lpstr>Fibonacci: prima!</vt:lpstr>
      <vt:lpstr>Fibonacci dinamico</vt:lpstr>
      <vt:lpstr>Programmazione Dinamica</vt:lpstr>
      <vt:lpstr>Prog Din: Similitudine tra alberi</vt:lpstr>
      <vt:lpstr>Prog Din: Similitudine tra alberi</vt:lpstr>
      <vt:lpstr>Prog Din: Similitudine tra alberi</vt:lpstr>
      <vt:lpstr>Soluzioni</vt:lpstr>
      <vt:lpstr>Ricerca esaustiva</vt:lpstr>
      <vt:lpstr>Ricerca esaustiva</vt:lpstr>
      <vt:lpstr>Ricerca esaustiva</vt:lpstr>
      <vt:lpstr>Ricerca esaustiva</vt:lpstr>
      <vt:lpstr>Eercizio</vt:lpstr>
      <vt:lpstr>Versione ricorsiva</vt:lpstr>
      <vt:lpstr>Versione ricorsiva</vt:lpstr>
      <vt:lpstr>Versione ricorsiva</vt:lpstr>
      <vt:lpstr>Versione ricorsiva</vt:lpstr>
      <vt:lpstr>Versione ricorsiva</vt:lpstr>
      <vt:lpstr>Versione ricorsiva</vt:lpstr>
      <vt:lpstr>Versione ricorsiva  con programmazione dinamica</vt:lpstr>
      <vt:lpstr>Versione ricorsiva  con programmazione dinamica</vt:lpstr>
      <vt:lpstr>Versione ricorsiva  con programmazione dinamica</vt:lpstr>
      <vt:lpstr>Versione ricorsiva  con programmazione dinamica</vt:lpstr>
      <vt:lpstr>Esercizi</vt:lpstr>
    </vt:vector>
  </TitlesOfParts>
  <Company>DISP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fabio</dc:creator>
  <cp:lastModifiedBy>william damico</cp:lastModifiedBy>
  <cp:revision>195</cp:revision>
  <dcterms:created xsi:type="dcterms:W3CDTF">2006-11-03T14:20:30Z</dcterms:created>
  <dcterms:modified xsi:type="dcterms:W3CDTF">2025-09-11T16:13:38Z</dcterms:modified>
</cp:coreProperties>
</file>