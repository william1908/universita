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22"/>
  </p:notesMasterIdLst>
  <p:handoutMasterIdLst>
    <p:handoutMasterId r:id="rId23"/>
  </p:handoutMasterIdLst>
  <p:sldIdLst>
    <p:sldId id="413" r:id="rId2"/>
    <p:sldId id="442" r:id="rId3"/>
    <p:sldId id="443" r:id="rId4"/>
    <p:sldId id="444" r:id="rId5"/>
    <p:sldId id="445" r:id="rId6"/>
    <p:sldId id="446" r:id="rId7"/>
    <p:sldId id="447" r:id="rId8"/>
    <p:sldId id="448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456" r:id="rId17"/>
    <p:sldId id="457" r:id="rId18"/>
    <p:sldId id="458" r:id="rId19"/>
    <p:sldId id="459" r:id="rId20"/>
    <p:sldId id="466" r:id="rId21"/>
  </p:sldIdLst>
  <p:sldSz cx="9144000" cy="6858000" type="screen4x3"/>
  <p:notesSz cx="6681788" cy="98171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33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64" autoAdjust="0"/>
    <p:restoredTop sz="90833" autoAdjust="0"/>
  </p:normalViewPr>
  <p:slideViewPr>
    <p:cSldViewPr>
      <p:cViewPr varScale="1">
        <p:scale>
          <a:sx n="161" d="100"/>
          <a:sy n="161" d="100"/>
        </p:scale>
        <p:origin x="2082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732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5336" cy="490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574" tIns="46287" rIns="92574" bIns="46287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9331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86454" y="0"/>
            <a:ext cx="2895334" cy="490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574" tIns="46287" rIns="92574" bIns="46287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9332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26326"/>
            <a:ext cx="2895336" cy="490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574" tIns="46287" rIns="92574" bIns="46287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9333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86454" y="9326326"/>
            <a:ext cx="2895334" cy="490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574" tIns="46287" rIns="92574" bIns="46287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134899E2-2B3C-4337-AE10-A1D9AC34322C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8239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95336" cy="490774"/>
          </a:xfrm>
          <a:prstGeom prst="rect">
            <a:avLst/>
          </a:prstGeom>
        </p:spPr>
        <p:txBody>
          <a:bodyPr vert="horz" lIns="92574" tIns="46287" rIns="92574" bIns="46287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784856" y="0"/>
            <a:ext cx="2895336" cy="490774"/>
          </a:xfrm>
          <a:prstGeom prst="rect">
            <a:avLst/>
          </a:prstGeom>
        </p:spPr>
        <p:txBody>
          <a:bodyPr vert="horz" lIns="92574" tIns="46287" rIns="92574" bIns="46287" rtlCol="0"/>
          <a:lstStyle>
            <a:lvl1pPr algn="r">
              <a:defRPr sz="1200"/>
            </a:lvl1pPr>
          </a:lstStyle>
          <a:p>
            <a:fld id="{7220D4B4-DB4A-4951-846C-1595D423D78F}" type="datetimeFigureOut">
              <a:rPr lang="it-IT" smtClean="0"/>
              <a:pPr/>
              <a:t>04/09/2025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889000" y="736600"/>
            <a:ext cx="4903788" cy="3679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574" tIns="46287" rIns="92574" bIns="46287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67540" y="4662356"/>
            <a:ext cx="5346708" cy="4418583"/>
          </a:xfrm>
          <a:prstGeom prst="rect">
            <a:avLst/>
          </a:prstGeom>
        </p:spPr>
        <p:txBody>
          <a:bodyPr vert="horz" lIns="92574" tIns="46287" rIns="92574" bIns="46287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24711"/>
            <a:ext cx="2895336" cy="490774"/>
          </a:xfrm>
          <a:prstGeom prst="rect">
            <a:avLst/>
          </a:prstGeom>
        </p:spPr>
        <p:txBody>
          <a:bodyPr vert="horz" lIns="92574" tIns="46287" rIns="92574" bIns="46287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784856" y="9324711"/>
            <a:ext cx="2895336" cy="490774"/>
          </a:xfrm>
          <a:prstGeom prst="rect">
            <a:avLst/>
          </a:prstGeom>
        </p:spPr>
        <p:txBody>
          <a:bodyPr vert="horz" lIns="92574" tIns="46287" rIns="92574" bIns="46287" rtlCol="0" anchor="b"/>
          <a:lstStyle>
            <a:lvl1pPr algn="r">
              <a:defRPr sz="1200"/>
            </a:lvl1pPr>
          </a:lstStyle>
          <a:p>
            <a:fld id="{F56DCA88-440A-4061-B96D-E8F387BC1DEE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3332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4"/>
          <p:cNvSpPr>
            <a:spLocks noChangeShapeType="1"/>
          </p:cNvSpPr>
          <p:nvPr/>
        </p:nvSpPr>
        <p:spPr bwMode="auto">
          <a:xfrm>
            <a:off x="457200" y="3657600"/>
            <a:ext cx="8610600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 sz="4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67E25B-E2DE-4F42-BBFF-4275E3601AAC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495E59-FD02-46A5-87FB-59FC9089A558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685800" y="1371600"/>
            <a:ext cx="3810000" cy="4724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371600"/>
            <a:ext cx="3810000" cy="4724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7B2856-BE83-47A8-8EBD-2B09A9946713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252AA03-1DEF-479B-BA90-0449EFBD82A6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66CAC-0257-4ABB-A901-4B67BBAA5A62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6A0B8F-3B02-459C-88CC-B52092B8F18A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0808E5-A24B-42A1-9AB3-95F5F820D4B4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561E8A-B616-4326-922B-C87CA87E5F63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78C8DD-59AB-4FBB-B81B-791193D3028B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515100" y="457200"/>
            <a:ext cx="1943100" cy="5638800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5676900" cy="5638800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924E71-A39B-4480-9796-7D555468585B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1026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lo stile del titolo dello schema</a:t>
            </a:r>
          </a:p>
        </p:txBody>
      </p:sp>
      <p:sp>
        <p:nvSpPr>
          <p:cNvPr id="23555" name="Rectangle 102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371600"/>
            <a:ext cx="77724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3076" name="Rectangle 102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/>
            </a:lvl1pPr>
          </a:lstStyle>
          <a:p>
            <a:pPr>
              <a:defRPr/>
            </a:pPr>
            <a:fld id="{977BCD32-25A8-43C4-A4F8-AE217E922E39}" type="slidenum">
              <a:rPr lang="it-IT"/>
              <a:pPr>
                <a:defRPr/>
              </a:pPr>
              <a:t>‹N›</a:t>
            </a:fld>
            <a:endParaRPr lang="it-IT"/>
          </a:p>
        </p:txBody>
      </p:sp>
      <p:sp>
        <p:nvSpPr>
          <p:cNvPr id="3077" name="Line 1029"/>
          <p:cNvSpPr>
            <a:spLocks noChangeShapeType="1"/>
          </p:cNvSpPr>
          <p:nvPr/>
        </p:nvSpPr>
        <p:spPr bwMode="auto">
          <a:xfrm>
            <a:off x="228600" y="6248400"/>
            <a:ext cx="8610600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78" name="Line 1030"/>
          <p:cNvSpPr>
            <a:spLocks noChangeShapeType="1"/>
          </p:cNvSpPr>
          <p:nvPr/>
        </p:nvSpPr>
        <p:spPr bwMode="auto">
          <a:xfrm>
            <a:off x="228600" y="152400"/>
            <a:ext cx="7848600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79" name="Text Box 1031"/>
          <p:cNvSpPr txBox="1">
            <a:spLocks noChangeArrowheads="1"/>
          </p:cNvSpPr>
          <p:nvPr/>
        </p:nvSpPr>
        <p:spPr bwMode="auto">
          <a:xfrm>
            <a:off x="152400" y="6248400"/>
            <a:ext cx="1446230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it-IT" sz="900" dirty="0"/>
              <a:t>©</a:t>
            </a:r>
            <a:r>
              <a:rPr lang="it-IT" sz="900" baseline="0" dirty="0"/>
              <a:t> </a:t>
            </a:r>
            <a:r>
              <a:rPr lang="it-IT" sz="900" baseline="0" dirty="0" err="1"/>
              <a:t>A.Turbati</a:t>
            </a:r>
            <a:r>
              <a:rPr lang="it-IT" sz="900" baseline="0" dirty="0"/>
              <a:t>, </a:t>
            </a:r>
            <a:r>
              <a:rPr lang="it-IT" sz="900" dirty="0" err="1"/>
              <a:t>F.M.Zanzotto</a:t>
            </a:r>
            <a:endParaRPr lang="it-IT" sz="900" dirty="0"/>
          </a:p>
        </p:txBody>
      </p:sp>
      <p:sp>
        <p:nvSpPr>
          <p:cNvPr id="3080" name="Text Box 1032"/>
          <p:cNvSpPr txBox="1">
            <a:spLocks noChangeArrowheads="1"/>
          </p:cNvSpPr>
          <p:nvPr/>
        </p:nvSpPr>
        <p:spPr bwMode="auto">
          <a:xfrm>
            <a:off x="3157579" y="6248400"/>
            <a:ext cx="3079690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it-IT" sz="900" dirty="0"/>
              <a:t>Logica</a:t>
            </a:r>
            <a:r>
              <a:rPr lang="it-IT" sz="900" baseline="0" dirty="0"/>
              <a:t> per la Programmazione e la </a:t>
            </a:r>
            <a:r>
              <a:rPr lang="it-IT" sz="900" baseline="0"/>
              <a:t>Dimostrazione Automatica</a:t>
            </a:r>
            <a:endParaRPr lang="it-IT" sz="900" dirty="0"/>
          </a:p>
        </p:txBody>
      </p:sp>
      <p:pic>
        <p:nvPicPr>
          <p:cNvPr id="23561" name="Picture 1033" descr="U:\Lavoro\Articoli\Presentazioni\tvlogo.gif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25400" y="0"/>
            <a:ext cx="2032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82" name="Text Box 1034"/>
          <p:cNvSpPr txBox="1">
            <a:spLocks noChangeArrowheads="1"/>
          </p:cNvSpPr>
          <p:nvPr/>
        </p:nvSpPr>
        <p:spPr bwMode="auto">
          <a:xfrm>
            <a:off x="142875" y="131763"/>
            <a:ext cx="1566863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it-IT" sz="900">
                <a:solidFill>
                  <a:schemeClr val="accent1"/>
                </a:solidFill>
                <a:latin typeface="Monotype Corsiva" pitchFamily="66" charset="0"/>
              </a:rPr>
              <a:t>University of Rome “Tor Vergata”</a:t>
            </a:r>
          </a:p>
        </p:txBody>
      </p:sp>
      <p:pic>
        <p:nvPicPr>
          <p:cNvPr id="23563" name="Picture 1035" descr="C:\HOME\LAVORO\Laboratorio\Logo\logo art2 copy.gif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8153400" y="0"/>
            <a:ext cx="83820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3399FF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it-IT" dirty="0"/>
            </a:br>
            <a:r>
              <a:rPr lang="it-IT" dirty="0"/>
              <a:t>Strutture dati 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it-IT" dirty="0"/>
              <a:t>Fabio Massimo Zanzotto</a:t>
            </a:r>
          </a:p>
          <a:p>
            <a:pPr algn="ctr"/>
            <a:r>
              <a:rPr lang="it-IT" dirty="0"/>
              <a:t>(</a:t>
            </a:r>
            <a:r>
              <a:rPr lang="it-IT" dirty="0" err="1"/>
              <a:t>slides</a:t>
            </a:r>
            <a:r>
              <a:rPr lang="it-IT" dirty="0"/>
              <a:t> di Andrea Turbati)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48598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contenuto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it-IT" dirty="0"/>
          </a:p>
          <a:p>
            <a:r>
              <a:rPr lang="it-IT" dirty="0"/>
              <a:t>Le strutture dati, anche complesse, sono alla base dei vari linguaggi di programmazione</a:t>
            </a:r>
          </a:p>
          <a:p>
            <a:endParaRPr lang="it-IT" dirty="0"/>
          </a:p>
          <a:p>
            <a:r>
              <a:rPr lang="it-IT" dirty="0"/>
              <a:t>In </a:t>
            </a:r>
            <a:r>
              <a:rPr lang="it-IT" dirty="0" err="1"/>
              <a:t>Prolog</a:t>
            </a:r>
            <a:r>
              <a:rPr lang="it-IT" dirty="0"/>
              <a:t> è possibile creare ed utilizzarle in modo palese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Titolo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Strutture dati</a:t>
            </a:r>
          </a:p>
        </p:txBody>
      </p:sp>
    </p:spTree>
    <p:extLst>
      <p:ext uri="{BB962C8B-B14F-4D97-AF65-F5344CB8AC3E}">
        <p14:creationId xmlns:p14="http://schemas.microsoft.com/office/powerpoint/2010/main" val="3356721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 database può essere rappresentato in </a:t>
            </a:r>
            <a:r>
              <a:rPr lang="it-IT" dirty="0" err="1"/>
              <a:t>Prolog</a:t>
            </a:r>
            <a:r>
              <a:rPr lang="it-IT" dirty="0"/>
              <a:t> come un elenco di fatti</a:t>
            </a:r>
          </a:p>
          <a:p>
            <a:endParaRPr lang="it-IT" dirty="0"/>
          </a:p>
          <a:p>
            <a:r>
              <a:rPr lang="it-IT" dirty="0"/>
              <a:t>Per comprendere come creare/usare le strutture dati in </a:t>
            </a:r>
            <a:r>
              <a:rPr lang="it-IT" dirty="0" err="1"/>
              <a:t>Prolog</a:t>
            </a:r>
            <a:r>
              <a:rPr lang="it-IT" dirty="0"/>
              <a:t> useremo i seguenti esempi:</a:t>
            </a:r>
          </a:p>
          <a:p>
            <a:pPr lvl="1"/>
            <a:r>
              <a:rPr lang="it-IT" dirty="0"/>
              <a:t>Famiglia</a:t>
            </a:r>
          </a:p>
          <a:p>
            <a:pPr lvl="1"/>
            <a:r>
              <a:rPr lang="it-IT" dirty="0"/>
              <a:t>Automa non deterministico</a:t>
            </a:r>
          </a:p>
          <a:p>
            <a:pPr lvl="1"/>
            <a:r>
              <a:rPr lang="it-IT" dirty="0"/>
              <a:t>Problema delle 8 Regine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Strutture dati</a:t>
            </a:r>
          </a:p>
        </p:txBody>
      </p:sp>
    </p:spTree>
    <p:extLst>
      <p:ext uri="{BB962C8B-B14F-4D97-AF65-F5344CB8AC3E}">
        <p14:creationId xmlns:p14="http://schemas.microsoft.com/office/powerpoint/2010/main" val="126967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Una famiglia può essere rappresentata da un fatto, </a:t>
            </a:r>
            <a:r>
              <a:rPr lang="it-IT" i="1" dirty="0"/>
              <a:t>family</a:t>
            </a:r>
            <a:r>
              <a:rPr lang="it-IT" dirty="0"/>
              <a:t>, con 3 argomenti:</a:t>
            </a:r>
          </a:p>
          <a:p>
            <a:pPr lvl="1"/>
            <a:r>
              <a:rPr lang="it-IT" dirty="0"/>
              <a:t>Padre</a:t>
            </a:r>
          </a:p>
          <a:p>
            <a:pPr lvl="1"/>
            <a:r>
              <a:rPr lang="it-IT" dirty="0"/>
              <a:t>Madre</a:t>
            </a:r>
          </a:p>
          <a:p>
            <a:pPr lvl="1"/>
            <a:r>
              <a:rPr lang="it-IT" dirty="0"/>
              <a:t>Figli (tramite una lista)</a:t>
            </a:r>
          </a:p>
          <a:p>
            <a:endParaRPr lang="it-IT" dirty="0"/>
          </a:p>
          <a:p>
            <a:r>
              <a:rPr lang="it-IT" dirty="0"/>
              <a:t>Gli elementi della famiglia sono delle persone (</a:t>
            </a:r>
            <a:r>
              <a:rPr lang="it-IT" i="1" dirty="0" err="1"/>
              <a:t>person</a:t>
            </a:r>
            <a:r>
              <a:rPr lang="it-IT" dirty="0"/>
              <a:t>), rappresentati a sua volta da dei termini complessi formati da 4 elementi: nome, cognome, data di nascita e salario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Famiglia</a:t>
            </a:r>
          </a:p>
        </p:txBody>
      </p:sp>
    </p:spTree>
    <p:extLst>
      <p:ext uri="{BB962C8B-B14F-4D97-AF65-F5344CB8AC3E}">
        <p14:creationId xmlns:p14="http://schemas.microsoft.com/office/powerpoint/2010/main" val="2046189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Rappresentazione della famiglia Smith</a:t>
            </a:r>
          </a:p>
          <a:p>
            <a:endParaRPr lang="it-IT" dirty="0"/>
          </a:p>
          <a:p>
            <a:r>
              <a:rPr lang="it-IT" dirty="0"/>
              <a:t>family(</a:t>
            </a:r>
          </a:p>
          <a:p>
            <a:pPr lvl="1">
              <a:buNone/>
            </a:pPr>
            <a:r>
              <a:rPr lang="it-IT" dirty="0"/>
              <a:t>	</a:t>
            </a:r>
            <a:r>
              <a:rPr lang="it-IT" dirty="0" err="1"/>
              <a:t>person</a:t>
            </a:r>
            <a:r>
              <a:rPr lang="it-IT" dirty="0"/>
              <a:t>(bob, </a:t>
            </a:r>
            <a:r>
              <a:rPr lang="it-IT" dirty="0" err="1"/>
              <a:t>smith</a:t>
            </a:r>
            <a:r>
              <a:rPr lang="it-IT" dirty="0"/>
              <a:t>, date(7, </a:t>
            </a:r>
            <a:r>
              <a:rPr lang="it-IT" dirty="0" err="1"/>
              <a:t>may</a:t>
            </a:r>
            <a:r>
              <a:rPr lang="it-IT" dirty="0"/>
              <a:t>,1968),30000),</a:t>
            </a:r>
          </a:p>
          <a:p>
            <a:pPr lvl="1">
              <a:buNone/>
            </a:pPr>
            <a:r>
              <a:rPr lang="it-IT" dirty="0"/>
              <a:t>	 </a:t>
            </a:r>
            <a:r>
              <a:rPr lang="it-IT" dirty="0" err="1"/>
              <a:t>person</a:t>
            </a:r>
            <a:r>
              <a:rPr lang="it-IT" dirty="0"/>
              <a:t>(</a:t>
            </a:r>
            <a:r>
              <a:rPr lang="it-IT" dirty="0" err="1"/>
              <a:t>ann</a:t>
            </a:r>
            <a:r>
              <a:rPr lang="it-IT" dirty="0"/>
              <a:t>, </a:t>
            </a:r>
            <a:r>
              <a:rPr lang="it-IT" dirty="0" err="1"/>
              <a:t>smith</a:t>
            </a:r>
            <a:r>
              <a:rPr lang="it-IT" dirty="0"/>
              <a:t>, date(18, </a:t>
            </a:r>
            <a:r>
              <a:rPr lang="it-IT" dirty="0" err="1"/>
              <a:t>july</a:t>
            </a:r>
            <a:r>
              <a:rPr lang="it-IT" dirty="0"/>
              <a:t>,1970),32000),</a:t>
            </a:r>
          </a:p>
          <a:p>
            <a:pPr lvl="1">
              <a:buNone/>
            </a:pPr>
            <a:r>
              <a:rPr lang="it-IT" dirty="0"/>
              <a:t>	 [</a:t>
            </a:r>
            <a:r>
              <a:rPr lang="it-IT" dirty="0" err="1"/>
              <a:t>person</a:t>
            </a:r>
            <a:r>
              <a:rPr lang="it-IT" dirty="0"/>
              <a:t>(</a:t>
            </a:r>
            <a:r>
              <a:rPr lang="it-IT" dirty="0" err="1"/>
              <a:t>dave</a:t>
            </a:r>
            <a:r>
              <a:rPr lang="it-IT" dirty="0"/>
              <a:t>, </a:t>
            </a:r>
            <a:r>
              <a:rPr lang="it-IT" dirty="0" err="1"/>
              <a:t>smith</a:t>
            </a:r>
            <a:r>
              <a:rPr lang="it-IT" dirty="0"/>
              <a:t>, date(1, </a:t>
            </a:r>
            <a:r>
              <a:rPr lang="it-IT" dirty="0" err="1"/>
              <a:t>june</a:t>
            </a:r>
            <a:r>
              <a:rPr lang="it-IT" dirty="0"/>
              <a:t>,1984),0),</a:t>
            </a:r>
          </a:p>
          <a:p>
            <a:pPr lvl="1">
              <a:buNone/>
            </a:pPr>
            <a:r>
              <a:rPr lang="it-IT" dirty="0"/>
              <a:t>	 </a:t>
            </a:r>
            <a:r>
              <a:rPr lang="it-IT" dirty="0" err="1"/>
              <a:t>person</a:t>
            </a:r>
            <a:r>
              <a:rPr lang="it-IT" dirty="0"/>
              <a:t>(</a:t>
            </a:r>
            <a:r>
              <a:rPr lang="it-IT" dirty="0" err="1"/>
              <a:t>edna</a:t>
            </a:r>
            <a:r>
              <a:rPr lang="it-IT" dirty="0"/>
              <a:t>, </a:t>
            </a:r>
            <a:r>
              <a:rPr lang="it-IT" dirty="0" err="1"/>
              <a:t>smith</a:t>
            </a:r>
            <a:r>
              <a:rPr lang="it-IT" dirty="0"/>
              <a:t>, date(25, </a:t>
            </a:r>
            <a:r>
              <a:rPr lang="it-IT" dirty="0" err="1"/>
              <a:t>may</a:t>
            </a:r>
            <a:r>
              <a:rPr lang="it-IT" dirty="0"/>
              <a:t>,1990),0)]).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Famiglia</a:t>
            </a:r>
          </a:p>
        </p:txBody>
      </p:sp>
    </p:spTree>
    <p:extLst>
      <p:ext uri="{BB962C8B-B14F-4D97-AF65-F5344CB8AC3E}">
        <p14:creationId xmlns:p14="http://schemas.microsoft.com/office/powerpoint/2010/main" val="3202183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Possiamo effettuare varie </a:t>
            </a:r>
            <a:r>
              <a:rPr lang="it-IT" dirty="0" err="1"/>
              <a:t>query</a:t>
            </a:r>
            <a:r>
              <a:rPr lang="it-IT" dirty="0"/>
              <a:t>, basandoci non solo sui valori ma anche sulla </a:t>
            </a:r>
            <a:r>
              <a:rPr lang="it-IT" b="1" dirty="0"/>
              <a:t>struttura</a:t>
            </a:r>
            <a:r>
              <a:rPr lang="it-IT" dirty="0"/>
              <a:t> stessa</a:t>
            </a:r>
          </a:p>
          <a:p>
            <a:endParaRPr lang="it-IT" dirty="0"/>
          </a:p>
          <a:p>
            <a:r>
              <a:rPr lang="it-IT" dirty="0"/>
              <a:t>family(</a:t>
            </a:r>
            <a:r>
              <a:rPr lang="it-IT" dirty="0" err="1"/>
              <a:t>person</a:t>
            </a:r>
            <a:r>
              <a:rPr lang="it-IT" dirty="0"/>
              <a:t>(_,</a:t>
            </a:r>
            <a:r>
              <a:rPr lang="it-IT" dirty="0" err="1"/>
              <a:t>fox</a:t>
            </a:r>
            <a:r>
              <a:rPr lang="it-IT" dirty="0"/>
              <a:t>, _, _), _, _).  si riferisce alla famiglia </a:t>
            </a:r>
            <a:r>
              <a:rPr lang="it-IT" dirty="0" err="1"/>
              <a:t>fox</a:t>
            </a:r>
            <a:r>
              <a:rPr lang="it-IT" dirty="0"/>
              <a:t>, usando solo il cognome del padre e nessun altra informazione</a:t>
            </a:r>
          </a:p>
          <a:p>
            <a:endParaRPr lang="it-IT" dirty="0"/>
          </a:p>
          <a:p>
            <a:r>
              <a:rPr lang="it-IT" dirty="0"/>
              <a:t>Esiste un altro modo per riferirsi alla famiglia </a:t>
            </a:r>
            <a:r>
              <a:rPr lang="it-IT" dirty="0" err="1"/>
              <a:t>fox</a:t>
            </a:r>
            <a:r>
              <a:rPr lang="it-IT" dirty="0"/>
              <a:t>? 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Famiglia</a:t>
            </a:r>
          </a:p>
        </p:txBody>
      </p:sp>
    </p:spTree>
    <p:extLst>
      <p:ext uri="{BB962C8B-B14F-4D97-AF65-F5344CB8AC3E}">
        <p14:creationId xmlns:p14="http://schemas.microsoft.com/office/powerpoint/2010/main" val="457882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family(_, _, [_,_,_]). Indica una famiglia con 3 figli</a:t>
            </a:r>
          </a:p>
          <a:p>
            <a:endParaRPr lang="it-IT" dirty="0"/>
          </a:p>
          <a:p>
            <a:r>
              <a:rPr lang="it-IT" dirty="0"/>
              <a:t>Come si può indicare una famiglia con </a:t>
            </a:r>
            <a:r>
              <a:rPr lang="it-IT" b="1" dirty="0"/>
              <a:t>almeno</a:t>
            </a:r>
            <a:r>
              <a:rPr lang="it-IT" dirty="0"/>
              <a:t> 3 figli ?</a:t>
            </a:r>
          </a:p>
          <a:p>
            <a:endParaRPr lang="it-IT" dirty="0"/>
          </a:p>
          <a:p>
            <a:r>
              <a:rPr lang="it-IT" dirty="0"/>
              <a:t>Creiamo ora delle regole  più “generiche” che però si appoggiano sempre al termine </a:t>
            </a:r>
            <a:r>
              <a:rPr lang="it-IT" i="1" dirty="0"/>
              <a:t>family</a:t>
            </a:r>
            <a:r>
              <a:rPr lang="it-IT" dirty="0"/>
              <a:t> 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Famiglia</a:t>
            </a:r>
          </a:p>
        </p:txBody>
      </p:sp>
    </p:spTree>
    <p:extLst>
      <p:ext uri="{BB962C8B-B14F-4D97-AF65-F5344CB8AC3E}">
        <p14:creationId xmlns:p14="http://schemas.microsoft.com/office/powerpoint/2010/main" val="187347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it-IT" dirty="0" err="1"/>
              <a:t>husband</a:t>
            </a:r>
            <a:r>
              <a:rPr lang="it-IT" dirty="0"/>
              <a:t>(X):-</a:t>
            </a:r>
          </a:p>
          <a:p>
            <a:pPr>
              <a:buNone/>
            </a:pPr>
            <a:r>
              <a:rPr lang="it-IT" dirty="0"/>
              <a:t>		family(X, _, _).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wife</a:t>
            </a:r>
            <a:r>
              <a:rPr lang="it-IT" dirty="0"/>
              <a:t>(X):-</a:t>
            </a:r>
          </a:p>
          <a:p>
            <a:pPr>
              <a:buNone/>
            </a:pPr>
            <a:r>
              <a:rPr lang="it-IT" dirty="0"/>
              <a:t>		family(_, X, _).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child</a:t>
            </a:r>
            <a:r>
              <a:rPr lang="it-IT" dirty="0"/>
              <a:t>(X):-</a:t>
            </a:r>
          </a:p>
          <a:p>
            <a:pPr>
              <a:buNone/>
            </a:pPr>
            <a:r>
              <a:rPr lang="it-IT" dirty="0"/>
              <a:t>		family(_, _, </a:t>
            </a:r>
            <a:r>
              <a:rPr lang="it-IT" dirty="0" err="1"/>
              <a:t>Children</a:t>
            </a:r>
            <a:r>
              <a:rPr lang="it-IT" dirty="0"/>
              <a:t>),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member</a:t>
            </a:r>
            <a:r>
              <a:rPr lang="it-IT" dirty="0"/>
              <a:t>(X, </a:t>
            </a:r>
            <a:r>
              <a:rPr lang="it-IT" dirty="0" err="1"/>
              <a:t>Children</a:t>
            </a:r>
            <a:r>
              <a:rPr lang="it-IT" dirty="0"/>
              <a:t>).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Regole per </a:t>
            </a:r>
            <a:r>
              <a:rPr lang="it-IT" i="1" dirty="0"/>
              <a:t>family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7788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it-IT" dirty="0" err="1"/>
              <a:t>exists</a:t>
            </a:r>
            <a:r>
              <a:rPr lang="it-IT" dirty="0"/>
              <a:t>(X):-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husband</a:t>
            </a:r>
            <a:r>
              <a:rPr lang="it-IT" dirty="0"/>
              <a:t>(X) </a:t>
            </a:r>
          </a:p>
          <a:p>
            <a:pPr>
              <a:buNone/>
            </a:pPr>
            <a:r>
              <a:rPr lang="it-IT" dirty="0"/>
              <a:t>		;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wife</a:t>
            </a:r>
            <a:r>
              <a:rPr lang="it-IT" dirty="0"/>
              <a:t>(X) </a:t>
            </a:r>
          </a:p>
          <a:p>
            <a:pPr>
              <a:buNone/>
            </a:pPr>
            <a:r>
              <a:rPr lang="it-IT" dirty="0"/>
              <a:t>		;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child</a:t>
            </a:r>
            <a:r>
              <a:rPr lang="it-IT" dirty="0"/>
              <a:t>(X).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salary</a:t>
            </a:r>
            <a:r>
              <a:rPr lang="it-IT" dirty="0"/>
              <a:t>(</a:t>
            </a:r>
            <a:r>
              <a:rPr lang="it-IT" dirty="0" err="1"/>
              <a:t>person</a:t>
            </a:r>
            <a:r>
              <a:rPr lang="it-IT" dirty="0"/>
              <a:t>(_, _, _, S), </a:t>
            </a:r>
            <a:r>
              <a:rPr lang="it-IT" dirty="0" err="1"/>
              <a:t>S</a:t>
            </a:r>
            <a:r>
              <a:rPr lang="it-IT" dirty="0"/>
              <a:t>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dateOfBirth</a:t>
            </a:r>
            <a:r>
              <a:rPr lang="it-IT" dirty="0"/>
              <a:t>(</a:t>
            </a:r>
            <a:r>
              <a:rPr lang="it-IT" dirty="0" err="1"/>
              <a:t>person</a:t>
            </a:r>
            <a:r>
              <a:rPr lang="it-IT" dirty="0"/>
              <a:t>(_, _, Date, _),</a:t>
            </a:r>
            <a:r>
              <a:rPr lang="it-IT" dirty="0" err="1"/>
              <a:t>Date</a:t>
            </a:r>
            <a:r>
              <a:rPr lang="it-IT" dirty="0"/>
              <a:t>).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Regole per </a:t>
            </a:r>
            <a:r>
              <a:rPr lang="it-IT" i="1" dirty="0"/>
              <a:t>family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53179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dirty="0"/>
              <a:t>?- </a:t>
            </a:r>
            <a:r>
              <a:rPr lang="it-IT" dirty="0" err="1"/>
              <a:t>exists</a:t>
            </a:r>
            <a:r>
              <a:rPr lang="it-IT" dirty="0"/>
              <a:t>(</a:t>
            </a:r>
            <a:r>
              <a:rPr lang="it-IT" dirty="0" err="1"/>
              <a:t>person</a:t>
            </a:r>
            <a:r>
              <a:rPr lang="it-IT" dirty="0"/>
              <a:t>(</a:t>
            </a:r>
            <a:r>
              <a:rPr lang="it-IT" dirty="0" err="1"/>
              <a:t>mario</a:t>
            </a:r>
            <a:r>
              <a:rPr lang="it-IT" dirty="0"/>
              <a:t>, rossi, _, _)).</a:t>
            </a:r>
          </a:p>
          <a:p>
            <a:endParaRPr lang="it-IT" dirty="0"/>
          </a:p>
          <a:p>
            <a:r>
              <a:rPr lang="it-IT" dirty="0"/>
              <a:t>?- </a:t>
            </a:r>
            <a:r>
              <a:rPr lang="it-IT" dirty="0" err="1"/>
              <a:t>exists</a:t>
            </a:r>
            <a:r>
              <a:rPr lang="it-IT" dirty="0"/>
              <a:t>(</a:t>
            </a:r>
            <a:r>
              <a:rPr lang="it-IT" dirty="0" err="1"/>
              <a:t>person</a:t>
            </a:r>
            <a:r>
              <a:rPr lang="it-IT" dirty="0"/>
              <a:t>(</a:t>
            </a:r>
            <a:r>
              <a:rPr lang="it-IT" dirty="0" err="1"/>
              <a:t>Name</a:t>
            </a:r>
            <a:r>
              <a:rPr lang="it-IT" dirty="0"/>
              <a:t>, </a:t>
            </a:r>
            <a:r>
              <a:rPr lang="it-IT" dirty="0" err="1"/>
              <a:t>Surname</a:t>
            </a:r>
            <a:r>
              <a:rPr lang="it-IT" dirty="0"/>
              <a:t>, _, _)).</a:t>
            </a:r>
          </a:p>
          <a:p>
            <a:endParaRPr lang="it-IT" dirty="0"/>
          </a:p>
          <a:p>
            <a:r>
              <a:rPr lang="it-IT" dirty="0"/>
              <a:t>?- </a:t>
            </a:r>
            <a:r>
              <a:rPr lang="it-IT" dirty="0" err="1"/>
              <a:t>child</a:t>
            </a:r>
            <a:r>
              <a:rPr lang="it-IT" dirty="0"/>
              <a:t>(X),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dateOfBirth</a:t>
            </a:r>
            <a:r>
              <a:rPr lang="it-IT" dirty="0"/>
              <a:t>(X, date(_,_,Y)),</a:t>
            </a:r>
          </a:p>
          <a:p>
            <a:pPr>
              <a:buNone/>
            </a:pPr>
            <a:r>
              <a:rPr lang="it-IT" dirty="0"/>
              <a:t>		Y &lt; 2000.</a:t>
            </a:r>
          </a:p>
          <a:p>
            <a:pPr>
              <a:buNone/>
            </a:pPr>
            <a:endParaRPr lang="it-IT" dirty="0"/>
          </a:p>
          <a:p>
            <a:r>
              <a:rPr lang="it-IT" dirty="0"/>
              <a:t>?- </a:t>
            </a:r>
            <a:r>
              <a:rPr lang="it-IT" dirty="0" err="1"/>
              <a:t>exists</a:t>
            </a:r>
            <a:r>
              <a:rPr lang="it-IT" dirty="0"/>
              <a:t>(X),</a:t>
            </a:r>
          </a:p>
          <a:p>
            <a:pPr>
              <a:buNone/>
            </a:pPr>
            <a:r>
              <a:rPr lang="it-IT" dirty="0"/>
              <a:t>		</a:t>
            </a:r>
            <a:r>
              <a:rPr lang="it-IT" dirty="0" err="1"/>
              <a:t>salary</a:t>
            </a:r>
            <a:r>
              <a:rPr lang="it-IT" dirty="0"/>
              <a:t>(X, Y),</a:t>
            </a:r>
          </a:p>
          <a:p>
            <a:pPr>
              <a:buNone/>
            </a:pPr>
            <a:r>
              <a:rPr lang="it-IT" dirty="0"/>
              <a:t>		Y &gt;30000.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Possibili </a:t>
            </a:r>
            <a:r>
              <a:rPr lang="it-IT" dirty="0" err="1"/>
              <a:t>query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349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Automa non deterministico</a:t>
            </a:r>
          </a:p>
        </p:txBody>
      </p:sp>
      <p:sp>
        <p:nvSpPr>
          <p:cNvPr id="5" name="CasellaDiTesto 4"/>
          <p:cNvSpPr txBox="1"/>
          <p:nvPr/>
        </p:nvSpPr>
        <p:spPr>
          <a:xfrm>
            <a:off x="2214456" y="4869160"/>
            <a:ext cx="629352" cy="5193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s4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2142448" y="2564904"/>
            <a:ext cx="629352" cy="5193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s1</a:t>
            </a:r>
          </a:p>
        </p:txBody>
      </p:sp>
      <p:sp>
        <p:nvSpPr>
          <p:cNvPr id="7" name="CasellaDiTesto 6"/>
          <p:cNvSpPr txBox="1"/>
          <p:nvPr/>
        </p:nvSpPr>
        <p:spPr>
          <a:xfrm>
            <a:off x="5796136" y="4869160"/>
            <a:ext cx="629352" cy="519351"/>
          </a:xfrm>
          <a:prstGeom prst="ellipse">
            <a:avLst/>
          </a:prstGeom>
          <a:noFill/>
          <a:ln w="76200"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s3</a:t>
            </a:r>
          </a:p>
        </p:txBody>
      </p:sp>
      <p:sp>
        <p:nvSpPr>
          <p:cNvPr id="8" name="CasellaDiTesto 7"/>
          <p:cNvSpPr txBox="1"/>
          <p:nvPr/>
        </p:nvSpPr>
        <p:spPr>
          <a:xfrm>
            <a:off x="5796136" y="2564904"/>
            <a:ext cx="629352" cy="5193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s2</a:t>
            </a:r>
          </a:p>
        </p:txBody>
      </p:sp>
      <p:cxnSp>
        <p:nvCxnSpPr>
          <p:cNvPr id="10" name="Connettore 2 9"/>
          <p:cNvCxnSpPr>
            <a:stCxn id="6" idx="6"/>
            <a:endCxn id="8" idx="2"/>
          </p:cNvCxnSpPr>
          <p:nvPr/>
        </p:nvCxnSpPr>
        <p:spPr>
          <a:xfrm>
            <a:off x="2771800" y="2824580"/>
            <a:ext cx="3024336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ttore 2 12"/>
          <p:cNvCxnSpPr>
            <a:stCxn id="8" idx="3"/>
            <a:endCxn id="5" idx="7"/>
          </p:cNvCxnSpPr>
          <p:nvPr/>
        </p:nvCxnSpPr>
        <p:spPr>
          <a:xfrm rot="5400000">
            <a:off x="3351463" y="2408376"/>
            <a:ext cx="1937019" cy="31366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ttore 2 13"/>
          <p:cNvCxnSpPr>
            <a:stCxn id="7" idx="1"/>
            <a:endCxn id="6" idx="5"/>
          </p:cNvCxnSpPr>
          <p:nvPr/>
        </p:nvCxnSpPr>
        <p:spPr>
          <a:xfrm rot="16200000" flipV="1">
            <a:off x="3315459" y="2372373"/>
            <a:ext cx="1937019" cy="32086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ttore 2 14"/>
          <p:cNvCxnSpPr>
            <a:stCxn id="8" idx="4"/>
            <a:endCxn id="7" idx="0"/>
          </p:cNvCxnSpPr>
          <p:nvPr/>
        </p:nvCxnSpPr>
        <p:spPr>
          <a:xfrm rot="5400000">
            <a:off x="5218360" y="3976707"/>
            <a:ext cx="1784905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ttore 2 15"/>
          <p:cNvCxnSpPr>
            <a:stCxn id="7" idx="2"/>
            <a:endCxn id="5" idx="6"/>
          </p:cNvCxnSpPr>
          <p:nvPr/>
        </p:nvCxnSpPr>
        <p:spPr>
          <a:xfrm rot="10800000">
            <a:off x="2843808" y="5128836"/>
            <a:ext cx="2952328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CasellaDiTesto 24"/>
          <p:cNvSpPr txBox="1"/>
          <p:nvPr/>
        </p:nvSpPr>
        <p:spPr>
          <a:xfrm>
            <a:off x="6156176" y="3789040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</a:t>
            </a:r>
          </a:p>
        </p:txBody>
      </p:sp>
      <p:sp>
        <p:nvSpPr>
          <p:cNvPr id="28" name="CasellaDiTesto 27"/>
          <p:cNvSpPr txBox="1"/>
          <p:nvPr/>
        </p:nvSpPr>
        <p:spPr>
          <a:xfrm>
            <a:off x="4211960" y="515719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</a:t>
            </a:r>
          </a:p>
        </p:txBody>
      </p:sp>
      <p:sp>
        <p:nvSpPr>
          <p:cNvPr id="29" name="CasellaDiTesto 28"/>
          <p:cNvSpPr txBox="1"/>
          <p:nvPr/>
        </p:nvSpPr>
        <p:spPr>
          <a:xfrm>
            <a:off x="4932040" y="4139788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null</a:t>
            </a:r>
            <a:endParaRPr lang="it-IT" dirty="0"/>
          </a:p>
        </p:txBody>
      </p:sp>
      <p:sp>
        <p:nvSpPr>
          <p:cNvPr id="30" name="CasellaDiTesto 29"/>
          <p:cNvSpPr txBox="1"/>
          <p:nvPr/>
        </p:nvSpPr>
        <p:spPr>
          <a:xfrm>
            <a:off x="1403648" y="3140968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</a:t>
            </a:r>
          </a:p>
        </p:txBody>
      </p:sp>
      <p:sp>
        <p:nvSpPr>
          <p:cNvPr id="31" name="CasellaDiTesto 30"/>
          <p:cNvSpPr txBox="1"/>
          <p:nvPr/>
        </p:nvSpPr>
        <p:spPr>
          <a:xfrm>
            <a:off x="4427984" y="3275692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null</a:t>
            </a:r>
            <a:endParaRPr lang="it-IT" dirty="0"/>
          </a:p>
        </p:txBody>
      </p:sp>
      <p:cxnSp>
        <p:nvCxnSpPr>
          <p:cNvPr id="39" name="Forma 32"/>
          <p:cNvCxnSpPr>
            <a:stCxn id="6" idx="4"/>
            <a:endCxn id="6" idx="2"/>
          </p:cNvCxnSpPr>
          <p:nvPr/>
        </p:nvCxnSpPr>
        <p:spPr>
          <a:xfrm rot="5400000" flipH="1">
            <a:off x="2169948" y="2797080"/>
            <a:ext cx="259675" cy="314676"/>
          </a:xfrm>
          <a:prstGeom prst="curvedConnector4">
            <a:avLst>
              <a:gd name="adj1" fmla="val -82700"/>
              <a:gd name="adj2" fmla="val 247494"/>
            </a:avLst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Forma 32"/>
          <p:cNvCxnSpPr>
            <a:stCxn id="6" idx="1"/>
            <a:endCxn id="6" idx="7"/>
          </p:cNvCxnSpPr>
          <p:nvPr/>
        </p:nvCxnSpPr>
        <p:spPr>
          <a:xfrm rot="5400000" flipH="1" flipV="1">
            <a:off x="2457124" y="2418452"/>
            <a:ext cx="1588" cy="445018"/>
          </a:xfrm>
          <a:prstGeom prst="curvedConnector3">
            <a:avLst>
              <a:gd name="adj1" fmla="val 45358515"/>
            </a:avLst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CasellaDiTesto 49"/>
          <p:cNvSpPr txBox="1"/>
          <p:nvPr/>
        </p:nvSpPr>
        <p:spPr>
          <a:xfrm>
            <a:off x="4076328" y="2573288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</a:t>
            </a:r>
          </a:p>
        </p:txBody>
      </p:sp>
      <p:sp>
        <p:nvSpPr>
          <p:cNvPr id="51" name="CasellaDiTesto 50"/>
          <p:cNvSpPr txBox="1"/>
          <p:nvPr/>
        </p:nvSpPr>
        <p:spPr>
          <a:xfrm>
            <a:off x="2555776" y="1772816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46918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it-IT" dirty="0" err="1"/>
              <a:t>final</a:t>
            </a:r>
            <a:r>
              <a:rPr lang="it-IT" dirty="0"/>
              <a:t>(s3).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/>
              <a:t>trans(s1, a, s1).</a:t>
            </a:r>
          </a:p>
          <a:p>
            <a:pPr>
              <a:buNone/>
            </a:pPr>
            <a:r>
              <a:rPr lang="it-IT" dirty="0"/>
              <a:t>trans(s1, a, s2).</a:t>
            </a:r>
          </a:p>
          <a:p>
            <a:pPr>
              <a:buNone/>
            </a:pPr>
            <a:r>
              <a:rPr lang="it-IT" dirty="0"/>
              <a:t>trans(s1, b, s1).</a:t>
            </a:r>
          </a:p>
          <a:p>
            <a:pPr>
              <a:buNone/>
            </a:pPr>
            <a:r>
              <a:rPr lang="it-IT" dirty="0"/>
              <a:t>trans(s2, b, s3).</a:t>
            </a:r>
          </a:p>
          <a:p>
            <a:pPr>
              <a:buNone/>
            </a:pPr>
            <a:r>
              <a:rPr lang="it-IT" dirty="0"/>
              <a:t>trans(s3, b, s2).</a:t>
            </a:r>
          </a:p>
          <a:p>
            <a:pPr>
              <a:buNone/>
            </a:pPr>
            <a:r>
              <a:rPr lang="it-IT" dirty="0"/>
              <a:t>trans(s1, a, s4).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silent</a:t>
            </a:r>
            <a:r>
              <a:rPr lang="it-IT" dirty="0"/>
              <a:t>(s2, s4).</a:t>
            </a:r>
          </a:p>
          <a:p>
            <a:pPr>
              <a:buNone/>
            </a:pPr>
            <a:r>
              <a:rPr lang="it-IT" dirty="0" err="1"/>
              <a:t>silent</a:t>
            </a:r>
            <a:r>
              <a:rPr lang="it-IT" dirty="0"/>
              <a:t>(s3, s1).</a:t>
            </a:r>
          </a:p>
          <a:p>
            <a:pPr>
              <a:buNone/>
            </a:pPr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Automa non deterministico</a:t>
            </a:r>
          </a:p>
        </p:txBody>
      </p:sp>
    </p:spTree>
    <p:extLst>
      <p:ext uri="{BB962C8B-B14F-4D97-AF65-F5344CB8AC3E}">
        <p14:creationId xmlns:p14="http://schemas.microsoft.com/office/powerpoint/2010/main" val="1017075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it-IT" dirty="0" err="1"/>
              <a:t>accepts</a:t>
            </a:r>
            <a:r>
              <a:rPr lang="it-IT" dirty="0"/>
              <a:t>(State, []):-</a:t>
            </a:r>
          </a:p>
          <a:p>
            <a:pPr>
              <a:buNone/>
            </a:pPr>
            <a:r>
              <a:rPr lang="it-IT" dirty="0"/>
              <a:t>	</a:t>
            </a:r>
            <a:r>
              <a:rPr lang="it-IT" dirty="0" err="1"/>
              <a:t>final</a:t>
            </a:r>
            <a:r>
              <a:rPr lang="it-IT" dirty="0"/>
              <a:t>(State).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accepts</a:t>
            </a:r>
            <a:r>
              <a:rPr lang="it-IT" dirty="0"/>
              <a:t>(State, [</a:t>
            </a:r>
            <a:r>
              <a:rPr lang="it-IT" dirty="0" err="1"/>
              <a:t>X|Rest</a:t>
            </a:r>
            <a:r>
              <a:rPr lang="it-IT" dirty="0"/>
              <a:t>]):-</a:t>
            </a:r>
          </a:p>
          <a:p>
            <a:pPr>
              <a:buNone/>
            </a:pPr>
            <a:r>
              <a:rPr lang="it-IT" dirty="0"/>
              <a:t>	trans(State, X, State1),</a:t>
            </a:r>
          </a:p>
          <a:p>
            <a:pPr>
              <a:buNone/>
            </a:pPr>
            <a:r>
              <a:rPr lang="it-IT" dirty="0"/>
              <a:t>	</a:t>
            </a:r>
            <a:r>
              <a:rPr lang="it-IT" dirty="0" err="1"/>
              <a:t>accepts</a:t>
            </a:r>
            <a:r>
              <a:rPr lang="it-IT" dirty="0"/>
              <a:t>(State1, </a:t>
            </a:r>
            <a:r>
              <a:rPr lang="it-IT" dirty="0" err="1"/>
              <a:t>Rest</a:t>
            </a:r>
            <a:r>
              <a:rPr lang="it-IT" dirty="0"/>
              <a:t>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accepts</a:t>
            </a:r>
            <a:r>
              <a:rPr lang="it-IT" dirty="0"/>
              <a:t>(State, </a:t>
            </a:r>
            <a:r>
              <a:rPr lang="it-IT" dirty="0" err="1"/>
              <a:t>Rest</a:t>
            </a:r>
            <a:r>
              <a:rPr lang="it-IT" dirty="0"/>
              <a:t>):-</a:t>
            </a:r>
          </a:p>
          <a:p>
            <a:pPr>
              <a:buNone/>
            </a:pPr>
            <a:r>
              <a:rPr lang="it-IT" dirty="0"/>
              <a:t>	</a:t>
            </a:r>
            <a:r>
              <a:rPr lang="it-IT" dirty="0" err="1"/>
              <a:t>silent</a:t>
            </a:r>
            <a:r>
              <a:rPr lang="it-IT" dirty="0"/>
              <a:t>(State, State1),</a:t>
            </a:r>
          </a:p>
          <a:p>
            <a:pPr>
              <a:buNone/>
            </a:pPr>
            <a:r>
              <a:rPr lang="it-IT" dirty="0"/>
              <a:t>	</a:t>
            </a:r>
            <a:r>
              <a:rPr lang="it-IT" dirty="0" err="1"/>
              <a:t>accepts</a:t>
            </a:r>
            <a:r>
              <a:rPr lang="it-IT" dirty="0"/>
              <a:t>(State1, </a:t>
            </a:r>
            <a:r>
              <a:rPr lang="it-IT" dirty="0" err="1"/>
              <a:t>Rest</a:t>
            </a:r>
            <a:r>
              <a:rPr lang="it-IT" dirty="0"/>
              <a:t>).</a:t>
            </a:r>
          </a:p>
          <a:p>
            <a:pPr>
              <a:buNone/>
            </a:pPr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Automa non deterministico</a:t>
            </a:r>
          </a:p>
        </p:txBody>
      </p:sp>
    </p:spTree>
    <p:extLst>
      <p:ext uri="{BB962C8B-B14F-4D97-AF65-F5344CB8AC3E}">
        <p14:creationId xmlns:p14="http://schemas.microsoft.com/office/powerpoint/2010/main" val="2528741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?- </a:t>
            </a:r>
            <a:r>
              <a:rPr lang="it-IT" dirty="0" err="1"/>
              <a:t>accepts</a:t>
            </a:r>
            <a:r>
              <a:rPr lang="it-IT" dirty="0"/>
              <a:t>(s1, [a,</a:t>
            </a:r>
            <a:r>
              <a:rPr lang="it-IT" dirty="0" err="1"/>
              <a:t>a</a:t>
            </a:r>
            <a:r>
              <a:rPr lang="it-IT" dirty="0"/>
              <a:t>,</a:t>
            </a:r>
            <a:r>
              <a:rPr lang="it-IT" dirty="0" err="1"/>
              <a:t>a</a:t>
            </a:r>
            <a:r>
              <a:rPr lang="it-IT" dirty="0"/>
              <a:t>,b]).</a:t>
            </a:r>
          </a:p>
          <a:p>
            <a:pPr lvl="1"/>
            <a:r>
              <a:rPr lang="it-IT" dirty="0" err="1"/>
              <a:t>true</a:t>
            </a:r>
            <a:endParaRPr lang="it-IT" dirty="0"/>
          </a:p>
          <a:p>
            <a:r>
              <a:rPr lang="it-IT" dirty="0"/>
              <a:t>?- </a:t>
            </a:r>
            <a:r>
              <a:rPr lang="it-IT" dirty="0" err="1"/>
              <a:t>accepts</a:t>
            </a:r>
            <a:r>
              <a:rPr lang="it-IT" dirty="0"/>
              <a:t>(S, [a,b]).</a:t>
            </a:r>
          </a:p>
          <a:p>
            <a:pPr lvl="1"/>
            <a:r>
              <a:rPr lang="it-IT" dirty="0"/>
              <a:t>S=s1;</a:t>
            </a:r>
          </a:p>
          <a:p>
            <a:pPr lvl="1"/>
            <a:r>
              <a:rPr lang="it-IT" dirty="0"/>
              <a:t>S=s3;</a:t>
            </a:r>
          </a:p>
          <a:p>
            <a:r>
              <a:rPr lang="it-IT" dirty="0"/>
              <a:t>?- </a:t>
            </a:r>
            <a:r>
              <a:rPr lang="it-IT" dirty="0" err="1"/>
              <a:t>accepts</a:t>
            </a:r>
            <a:r>
              <a:rPr lang="it-IT" dirty="0"/>
              <a:t>(s1, [X1,X2,X3]).</a:t>
            </a:r>
          </a:p>
          <a:p>
            <a:pPr lvl="1"/>
            <a:r>
              <a:rPr lang="it-IT" dirty="0"/>
              <a:t>X1=a   X2=a    X3=b</a:t>
            </a:r>
          </a:p>
          <a:p>
            <a:pPr lvl="1"/>
            <a:r>
              <a:rPr lang="it-IT" dirty="0"/>
              <a:t>…</a:t>
            </a:r>
          </a:p>
          <a:p>
            <a:r>
              <a:rPr lang="it-IT" dirty="0"/>
              <a:t>?- </a:t>
            </a:r>
            <a:r>
              <a:rPr lang="it-IT" dirty="0" err="1"/>
              <a:t>String=</a:t>
            </a:r>
            <a:r>
              <a:rPr lang="it-IT" dirty="0"/>
              <a:t>[_,_,_], </a:t>
            </a:r>
            <a:r>
              <a:rPr lang="it-IT" dirty="0" err="1"/>
              <a:t>accepts</a:t>
            </a:r>
            <a:r>
              <a:rPr lang="it-IT" dirty="0"/>
              <a:t>(s1, </a:t>
            </a:r>
            <a:r>
              <a:rPr lang="it-IT" dirty="0" err="1"/>
              <a:t>String</a:t>
            </a:r>
            <a:r>
              <a:rPr lang="it-IT" dirty="0"/>
              <a:t>).</a:t>
            </a:r>
          </a:p>
          <a:p>
            <a:pPr lvl="1"/>
            <a:r>
              <a:rPr lang="it-IT" dirty="0" err="1"/>
              <a:t>String</a:t>
            </a:r>
            <a:r>
              <a:rPr lang="it-IT" dirty="0"/>
              <a:t> = [a,</a:t>
            </a:r>
            <a:r>
              <a:rPr lang="it-IT" dirty="0" err="1"/>
              <a:t>a</a:t>
            </a:r>
            <a:r>
              <a:rPr lang="it-IT" dirty="0"/>
              <a:t>,b];</a:t>
            </a:r>
          </a:p>
          <a:p>
            <a:pPr lvl="1"/>
            <a:r>
              <a:rPr lang="it-IT" dirty="0"/>
              <a:t>…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Query</a:t>
            </a:r>
            <a:r>
              <a:rPr lang="it-IT" dirty="0"/>
              <a:t> Automa</a:t>
            </a:r>
          </a:p>
        </p:txBody>
      </p:sp>
    </p:spTree>
    <p:extLst>
      <p:ext uri="{BB962C8B-B14F-4D97-AF65-F5344CB8AC3E}">
        <p14:creationId xmlns:p14="http://schemas.microsoft.com/office/powerpoint/2010/main" val="2585636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Posizionare 8 regine su di una scacchiera vuota in modo che nessuna possa mangiare o essere mangiata da un’altra</a:t>
            </a:r>
          </a:p>
          <a:p>
            <a:endParaRPr lang="it-IT" dirty="0"/>
          </a:p>
          <a:p>
            <a:r>
              <a:rPr lang="it-IT" dirty="0"/>
              <a:t>Esistono varie soluzione in </a:t>
            </a:r>
            <a:r>
              <a:rPr lang="it-IT" dirty="0" err="1"/>
              <a:t>Prolog</a:t>
            </a:r>
            <a:r>
              <a:rPr lang="it-IT" dirty="0"/>
              <a:t>, qui ne viene presentata una semplice con il minimo numero </a:t>
            </a:r>
            <a:r>
              <a:rPr lang="it-IT"/>
              <a:t>di variabili</a:t>
            </a:r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Problema delle 8 Regine</a:t>
            </a:r>
          </a:p>
        </p:txBody>
      </p:sp>
    </p:spTree>
    <p:extLst>
      <p:ext uri="{BB962C8B-B14F-4D97-AF65-F5344CB8AC3E}">
        <p14:creationId xmlns:p14="http://schemas.microsoft.com/office/powerpoint/2010/main" val="2639062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755984"/>
          </a:xfrm>
        </p:spPr>
        <p:txBody>
          <a:bodyPr>
            <a:normAutofit fontScale="55000" lnSpcReduction="20000"/>
          </a:bodyPr>
          <a:lstStyle/>
          <a:p>
            <a:pPr>
              <a:buNone/>
            </a:pPr>
            <a:r>
              <a:rPr lang="it-IT" dirty="0" err="1"/>
              <a:t>solution</a:t>
            </a:r>
            <a:r>
              <a:rPr lang="it-IT" dirty="0"/>
              <a:t>( [] 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solution</a:t>
            </a:r>
            <a:r>
              <a:rPr lang="it-IT" dirty="0"/>
              <a:t>( [X/Y | </a:t>
            </a:r>
            <a:r>
              <a:rPr lang="it-IT" dirty="0" err="1"/>
              <a:t>Others</a:t>
            </a:r>
            <a:r>
              <a:rPr lang="it-IT" dirty="0"/>
              <a:t>] )  :-      % First queen at X/Y,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queens</a:t>
            </a:r>
            <a:r>
              <a:rPr lang="it-IT" dirty="0"/>
              <a:t> at </a:t>
            </a:r>
            <a:r>
              <a:rPr lang="it-IT" dirty="0" err="1"/>
              <a:t>Others</a:t>
            </a:r>
            <a:endParaRPr lang="it-IT" dirty="0"/>
          </a:p>
          <a:p>
            <a:pPr>
              <a:buNone/>
            </a:pPr>
            <a:r>
              <a:rPr lang="it-IT" dirty="0"/>
              <a:t>  </a:t>
            </a:r>
            <a:r>
              <a:rPr lang="it-IT" dirty="0" err="1"/>
              <a:t>solution</a:t>
            </a:r>
            <a:r>
              <a:rPr lang="it-IT" dirty="0"/>
              <a:t>( </a:t>
            </a:r>
            <a:r>
              <a:rPr lang="it-IT" dirty="0" err="1"/>
              <a:t>Others</a:t>
            </a:r>
            <a:r>
              <a:rPr lang="it-IT" dirty="0"/>
              <a:t>),</a:t>
            </a:r>
          </a:p>
          <a:p>
            <a:pPr>
              <a:buNone/>
            </a:pPr>
            <a:r>
              <a:rPr lang="it-IT" dirty="0"/>
              <a:t>  </a:t>
            </a:r>
            <a:r>
              <a:rPr lang="it-IT" dirty="0" err="1"/>
              <a:t>member</a:t>
            </a:r>
            <a:r>
              <a:rPr lang="it-IT" dirty="0"/>
              <a:t>( Y, [1,2,3,4,5,6,7,8] ),</a:t>
            </a:r>
          </a:p>
          <a:p>
            <a:pPr>
              <a:buNone/>
            </a:pPr>
            <a:r>
              <a:rPr lang="it-IT" dirty="0"/>
              <a:t>  </a:t>
            </a:r>
            <a:r>
              <a:rPr lang="it-IT" dirty="0" err="1"/>
              <a:t>noattack</a:t>
            </a:r>
            <a:r>
              <a:rPr lang="it-IT" dirty="0"/>
              <a:t>( X/Y, </a:t>
            </a:r>
            <a:r>
              <a:rPr lang="it-IT" dirty="0" err="1"/>
              <a:t>Others</a:t>
            </a:r>
            <a:r>
              <a:rPr lang="it-IT" dirty="0"/>
              <a:t>).           % First queen </a:t>
            </a:r>
            <a:r>
              <a:rPr lang="it-IT" dirty="0" err="1"/>
              <a:t>does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attack</a:t>
            </a:r>
            <a:r>
              <a:rPr lang="it-IT" dirty="0"/>
              <a:t> </a:t>
            </a:r>
            <a:r>
              <a:rPr lang="it-IT" dirty="0" err="1"/>
              <a:t>others</a:t>
            </a:r>
            <a:endParaRPr lang="it-IT" dirty="0"/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noattack</a:t>
            </a:r>
            <a:r>
              <a:rPr lang="it-IT" dirty="0"/>
              <a:t>( _, [] ).                  % </a:t>
            </a:r>
            <a:r>
              <a:rPr lang="it-IT" dirty="0" err="1"/>
              <a:t>Nothing</a:t>
            </a:r>
            <a:r>
              <a:rPr lang="it-IT" dirty="0"/>
              <a:t> </a:t>
            </a:r>
            <a:r>
              <a:rPr lang="it-IT" dirty="0" err="1"/>
              <a:t>to</a:t>
            </a:r>
            <a:r>
              <a:rPr lang="it-IT" dirty="0"/>
              <a:t> </a:t>
            </a:r>
            <a:r>
              <a:rPr lang="it-IT" dirty="0" err="1"/>
              <a:t>attack</a:t>
            </a:r>
            <a:endParaRPr lang="it-IT" dirty="0"/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noattack</a:t>
            </a:r>
            <a:r>
              <a:rPr lang="it-IT" dirty="0"/>
              <a:t>( X/Y, [X1/Y1 | </a:t>
            </a:r>
            <a:r>
              <a:rPr lang="it-IT" dirty="0" err="1"/>
              <a:t>Others</a:t>
            </a:r>
            <a:r>
              <a:rPr lang="it-IT" dirty="0"/>
              <a:t>] )  :-</a:t>
            </a:r>
          </a:p>
          <a:p>
            <a:pPr>
              <a:buNone/>
            </a:pPr>
            <a:r>
              <a:rPr lang="it-IT" dirty="0"/>
              <a:t>  Y =\= Y1,                         %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Y-coordinates</a:t>
            </a:r>
            <a:endParaRPr lang="it-IT" dirty="0"/>
          </a:p>
          <a:p>
            <a:pPr>
              <a:buNone/>
            </a:pPr>
            <a:r>
              <a:rPr lang="it-IT" dirty="0"/>
              <a:t>  Y1-Y =\= X1-X,                    %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diagonals</a:t>
            </a:r>
            <a:endParaRPr lang="it-IT" dirty="0"/>
          </a:p>
          <a:p>
            <a:pPr>
              <a:buNone/>
            </a:pPr>
            <a:r>
              <a:rPr lang="it-IT" dirty="0"/>
              <a:t>  Y1-Y =\= X-X1,</a:t>
            </a:r>
          </a:p>
          <a:p>
            <a:pPr>
              <a:buNone/>
            </a:pPr>
            <a:r>
              <a:rPr lang="it-IT" dirty="0"/>
              <a:t>  </a:t>
            </a:r>
            <a:r>
              <a:rPr lang="it-IT" dirty="0" err="1"/>
              <a:t>noattack</a:t>
            </a:r>
            <a:r>
              <a:rPr lang="it-IT" dirty="0"/>
              <a:t>( X/Y, </a:t>
            </a:r>
            <a:r>
              <a:rPr lang="it-IT" dirty="0" err="1"/>
              <a:t>Others</a:t>
            </a:r>
            <a:r>
              <a:rPr lang="it-IT" dirty="0"/>
              <a:t>).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/>
              <a:t>% A </a:t>
            </a:r>
            <a:r>
              <a:rPr lang="it-IT" dirty="0" err="1"/>
              <a:t>solution</a:t>
            </a:r>
            <a:r>
              <a:rPr lang="it-IT" dirty="0"/>
              <a:t> </a:t>
            </a:r>
            <a:r>
              <a:rPr lang="it-IT" dirty="0" err="1"/>
              <a:t>template</a:t>
            </a:r>
            <a:endParaRPr lang="it-IT" dirty="0"/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 err="1"/>
              <a:t>template</a:t>
            </a:r>
            <a:r>
              <a:rPr lang="it-IT" dirty="0"/>
              <a:t>( [1/Y1,2/Y2,3/Y3,4/Y4,5/Y5,6/Y6,7/Y7,8/Y8] ).</a:t>
            </a:r>
          </a:p>
          <a:p>
            <a:pPr>
              <a:buNone/>
            </a:pPr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8 Regine</a:t>
            </a:r>
          </a:p>
        </p:txBody>
      </p:sp>
    </p:spTree>
    <p:extLst>
      <p:ext uri="{BB962C8B-B14F-4D97-AF65-F5344CB8AC3E}">
        <p14:creationId xmlns:p14="http://schemas.microsoft.com/office/powerpoint/2010/main" val="333127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Famiglia: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Scrivere la regola per avere le famiglie senza figli</a:t>
            </a:r>
          </a:p>
          <a:p>
            <a:endParaRPr lang="it-IT" dirty="0"/>
          </a:p>
          <a:p>
            <a:pPr lvl="1"/>
            <a:r>
              <a:rPr lang="it-IT" dirty="0"/>
              <a:t>Scrivere la regola per avere Il reddito totale di una famiglia</a:t>
            </a:r>
          </a:p>
          <a:p>
            <a:endParaRPr lang="it-IT" dirty="0"/>
          </a:p>
          <a:p>
            <a:pPr lvl="1"/>
            <a:r>
              <a:rPr lang="it-IT" dirty="0"/>
              <a:t>Scrivere la regola per avere le famiglie in cui i figli guadagnano più dei genitori 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</a:t>
            </a:r>
          </a:p>
        </p:txBody>
      </p:sp>
    </p:spTree>
    <p:extLst>
      <p:ext uri="{BB962C8B-B14F-4D97-AF65-F5344CB8AC3E}">
        <p14:creationId xmlns:p14="http://schemas.microsoft.com/office/powerpoint/2010/main" val="2358746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Automa:</a:t>
            </a:r>
          </a:p>
          <a:p>
            <a:pPr lvl="1"/>
            <a:r>
              <a:rPr lang="it-IT" dirty="0"/>
              <a:t>Scrivere una regola che accetti lo stato iniziale e due numeri che rappresentino il numero minimo e massimo di transizioni (non nulle) che si possono fare. Tale regola dovrà accettare anche una variabile che conterrà la lista dei simboli di input usati per andare dallo stato iniziare a quello finale</a:t>
            </a:r>
          </a:p>
          <a:p>
            <a:pPr lvl="1"/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</a:t>
            </a:r>
          </a:p>
        </p:txBody>
      </p:sp>
    </p:spTree>
    <p:extLst>
      <p:ext uri="{BB962C8B-B14F-4D97-AF65-F5344CB8AC3E}">
        <p14:creationId xmlns:p14="http://schemas.microsoft.com/office/powerpoint/2010/main" val="1747195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8 Regine: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Modificare il programma per trattare un numero variabile di regine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Scrivere una nuova versione della soluzione al problema delle 8 regine</a:t>
            </a:r>
          </a:p>
          <a:p>
            <a:pPr lvl="1"/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</a:t>
            </a:r>
          </a:p>
        </p:txBody>
      </p:sp>
    </p:spTree>
    <p:extLst>
      <p:ext uri="{BB962C8B-B14F-4D97-AF65-F5344CB8AC3E}">
        <p14:creationId xmlns:p14="http://schemas.microsoft.com/office/powerpoint/2010/main" val="4074213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Studiamo la sintassi della lingua</a:t>
            </a:r>
          </a:p>
          <a:p>
            <a:pPr marL="0" indent="0">
              <a:buNone/>
            </a:pPr>
            <a:r>
              <a:rPr lang="it-IT" dirty="0"/>
              <a:t>Realizziamo gli operatori «ha» e «di»,  di modo che con frasi:</a:t>
            </a:r>
          </a:p>
          <a:p>
            <a:r>
              <a:rPr lang="it-IT" dirty="0"/>
              <a:t>mario ha la macchina di </a:t>
            </a:r>
            <a:r>
              <a:rPr lang="it-IT" dirty="0" err="1"/>
              <a:t>dario</a:t>
            </a:r>
            <a:endParaRPr lang="it-IT" dirty="0"/>
          </a:p>
          <a:p>
            <a:r>
              <a:rPr lang="it-IT" dirty="0" err="1"/>
              <a:t>giovanni</a:t>
            </a:r>
            <a:r>
              <a:rPr lang="it-IT" dirty="0"/>
              <a:t> ha il cestino di mario</a:t>
            </a:r>
          </a:p>
          <a:p>
            <a:pPr marL="0" indent="0">
              <a:buNone/>
            </a:pPr>
            <a:r>
              <a:rPr lang="it-IT" dirty="0"/>
              <a:t>Risponda a interrogazioni come </a:t>
            </a:r>
          </a:p>
          <a:p>
            <a:pPr marL="0" indent="0" algn="ctr">
              <a:buNone/>
            </a:pPr>
            <a:r>
              <a:rPr lang="it-IT" dirty="0"/>
              <a:t>Chi ha Cosa di X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67591382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Templat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C:\Documents and Settings\fabio\Dati applicazioni\Microsoft\Modelli\Template.pot</Template>
  <TotalTime>8909</TotalTime>
  <Words>1019</Words>
  <Application>Microsoft Office PowerPoint</Application>
  <PresentationFormat>Presentazione su schermo (4:3)</PresentationFormat>
  <Paragraphs>169</Paragraphs>
  <Slides>20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4" baseType="lpstr">
      <vt:lpstr>Calibri</vt:lpstr>
      <vt:lpstr>Monotype Corsiva</vt:lpstr>
      <vt:lpstr>Times New Roman</vt:lpstr>
      <vt:lpstr>Template</vt:lpstr>
      <vt:lpstr> Strutture dati </vt:lpstr>
      <vt:lpstr>Strutture dati</vt:lpstr>
      <vt:lpstr>Strutture dati</vt:lpstr>
      <vt:lpstr>Famiglia</vt:lpstr>
      <vt:lpstr>Famiglia</vt:lpstr>
      <vt:lpstr>Famiglia</vt:lpstr>
      <vt:lpstr>Famiglia</vt:lpstr>
      <vt:lpstr>Regole per family</vt:lpstr>
      <vt:lpstr>Regole per family</vt:lpstr>
      <vt:lpstr>Possibili query</vt:lpstr>
      <vt:lpstr>Automa non deterministico</vt:lpstr>
      <vt:lpstr>Automa non deterministico</vt:lpstr>
      <vt:lpstr>Automa non deterministico</vt:lpstr>
      <vt:lpstr>Query Automa</vt:lpstr>
      <vt:lpstr>Problema delle 8 Regine</vt:lpstr>
      <vt:lpstr>8 Regine</vt:lpstr>
      <vt:lpstr>Esercizi</vt:lpstr>
      <vt:lpstr>Esercizi</vt:lpstr>
      <vt:lpstr>Esercizi</vt:lpstr>
      <vt:lpstr>Esercizio</vt:lpstr>
    </vt:vector>
  </TitlesOfParts>
  <Company>DISP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fabio</dc:creator>
  <cp:lastModifiedBy>william damico</cp:lastModifiedBy>
  <cp:revision>143</cp:revision>
  <dcterms:created xsi:type="dcterms:W3CDTF">2006-11-03T14:20:30Z</dcterms:created>
  <dcterms:modified xsi:type="dcterms:W3CDTF">2025-09-04T14:51:48Z</dcterms:modified>
</cp:coreProperties>
</file>