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75"/>
  </p:notesMasterIdLst>
  <p:handoutMasterIdLst>
    <p:handoutMasterId r:id="rId76"/>
  </p:handoutMasterIdLst>
  <p:sldIdLst>
    <p:sldId id="485" r:id="rId2"/>
    <p:sldId id="442" r:id="rId3"/>
    <p:sldId id="486" r:id="rId4"/>
    <p:sldId id="487" r:id="rId5"/>
    <p:sldId id="488" r:id="rId6"/>
    <p:sldId id="489" r:id="rId7"/>
    <p:sldId id="490" r:id="rId8"/>
    <p:sldId id="491" r:id="rId9"/>
    <p:sldId id="492" r:id="rId10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  <p:sldId id="502" r:id="rId20"/>
    <p:sldId id="503" r:id="rId21"/>
    <p:sldId id="504" r:id="rId22"/>
    <p:sldId id="505" r:id="rId23"/>
    <p:sldId id="545" r:id="rId24"/>
    <p:sldId id="506" r:id="rId25"/>
    <p:sldId id="507" r:id="rId26"/>
    <p:sldId id="508" r:id="rId27"/>
    <p:sldId id="509" r:id="rId28"/>
    <p:sldId id="544" r:id="rId29"/>
    <p:sldId id="510" r:id="rId30"/>
    <p:sldId id="555" r:id="rId31"/>
    <p:sldId id="511" r:id="rId32"/>
    <p:sldId id="512" r:id="rId33"/>
    <p:sldId id="513" r:id="rId34"/>
    <p:sldId id="514" r:id="rId35"/>
    <p:sldId id="547" r:id="rId36"/>
    <p:sldId id="548" r:id="rId37"/>
    <p:sldId id="515" r:id="rId38"/>
    <p:sldId id="516" r:id="rId39"/>
    <p:sldId id="517" r:id="rId40"/>
    <p:sldId id="518" r:id="rId41"/>
    <p:sldId id="552" r:id="rId42"/>
    <p:sldId id="519" r:id="rId43"/>
    <p:sldId id="520" r:id="rId44"/>
    <p:sldId id="551" r:id="rId45"/>
    <p:sldId id="521" r:id="rId46"/>
    <p:sldId id="553" r:id="rId47"/>
    <p:sldId id="522" r:id="rId48"/>
    <p:sldId id="549" r:id="rId49"/>
    <p:sldId id="550" r:id="rId50"/>
    <p:sldId id="523" r:id="rId51"/>
    <p:sldId id="524" r:id="rId52"/>
    <p:sldId id="525" r:id="rId53"/>
    <p:sldId id="526" r:id="rId54"/>
    <p:sldId id="527" r:id="rId55"/>
    <p:sldId id="528" r:id="rId56"/>
    <p:sldId id="529" r:id="rId57"/>
    <p:sldId id="530" r:id="rId58"/>
    <p:sldId id="531" r:id="rId59"/>
    <p:sldId id="532" r:id="rId60"/>
    <p:sldId id="533" r:id="rId61"/>
    <p:sldId id="534" r:id="rId62"/>
    <p:sldId id="535" r:id="rId63"/>
    <p:sldId id="536" r:id="rId64"/>
    <p:sldId id="554" r:id="rId65"/>
    <p:sldId id="537" r:id="rId66"/>
    <p:sldId id="538" r:id="rId67"/>
    <p:sldId id="539" r:id="rId68"/>
    <p:sldId id="540" r:id="rId69"/>
    <p:sldId id="541" r:id="rId70"/>
    <p:sldId id="542" r:id="rId71"/>
    <p:sldId id="543" r:id="rId72"/>
    <p:sldId id="443" r:id="rId73"/>
    <p:sldId id="546" r:id="rId74"/>
  </p:sldIdLst>
  <p:sldSz cx="9144000" cy="6858000" type="screen4x3"/>
  <p:notesSz cx="6794500" cy="9931400"/>
  <p:custDataLst>
    <p:tags r:id="rId7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008000"/>
    <a:srgbClr val="0000FF"/>
    <a:srgbClr val="3333CC"/>
    <a:srgbClr val="006600"/>
    <a:srgbClr val="666699"/>
    <a:srgbClr val="3399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78607" autoAdjust="0"/>
  </p:normalViewPr>
  <p:slideViewPr>
    <p:cSldViewPr>
      <p:cViewPr varScale="1">
        <p:scale>
          <a:sx n="70" d="100"/>
          <a:sy n="70" d="100"/>
        </p:scale>
        <p:origin x="171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70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7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51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34513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D4F34A4-1658-4D72-A2B1-CBF5236D811F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120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8050"/>
            <a:ext cx="49815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451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4513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265154F4-48DD-48AA-B0EC-009061BEB80D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735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F860A1-D9D6-4F16-98D4-C20D659F7300}" type="slidenum">
              <a:rPr lang="en-US" smtClean="0">
                <a:latin typeface="Times New Roman" pitchFamily="16" charset="0"/>
              </a:rPr>
              <a:pPr/>
              <a:t>1</a:t>
            </a:fld>
            <a:endParaRPr lang="en-US">
              <a:latin typeface="Times New Roman" pitchFamily="16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0" y="758825"/>
            <a:ext cx="4965700" cy="3725863"/>
          </a:xfrm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4711700"/>
            <a:ext cx="4991100" cy="44831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GB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838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EF32B6F-1FF3-4612-AC13-737859CD0C32}" type="slidenum">
              <a:rPr lang="en-GB" altLang="en-US" sz="1200" b="0"/>
              <a:pPr eaLnBrk="1" hangingPunct="1"/>
              <a:t>3</a:t>
            </a:fld>
            <a:endParaRPr lang="en-GB" altLang="en-US" sz="1200" b="0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L’agente per il </a:t>
            </a:r>
            <a:r>
              <a:rPr lang="it-IT" altLang="en-US" i="1">
                <a:latin typeface="Arial" panose="020B0604020202020204" pitchFamily="34" charset="0"/>
                <a:cs typeface="Times New Roman" panose="02020603050405020304" pitchFamily="18" charset="0"/>
              </a:rPr>
              <a:t>problem solving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 è un tipo particolare e semplice di agente con obiettivo: determina la sequenza di azioni da compiere per raggiungere stati desiderabili.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Passi da seguire nel processo di risoluzione di un problema: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1.</a:t>
            </a:r>
            <a:r>
              <a:rPr lang="it-I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Formulazione dell’obiettivo (un insieme di stati caratterizzati in qualche modo)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2.</a:t>
            </a:r>
            <a:r>
              <a:rPr lang="it-I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Formulazione del problema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        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rappresentazione degli stati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        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rappresentazione delle azioni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3.</a:t>
            </a:r>
            <a:r>
              <a:rPr lang="it-I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Ricerca della soluzione mediante un processo di ricerca nello spazio degli stati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4. Esecuzione del “piano”, un’azione alla volta</a:t>
            </a:r>
            <a:r>
              <a:rPr lang="en-US" altLang="en-US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05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F98F25B-87AE-494D-AEDA-16E6E1468332}" type="slidenum">
              <a:rPr lang="en-GB" altLang="en-US" sz="1200" b="0"/>
              <a:pPr eaLnBrk="1" hangingPunct="1"/>
              <a:t>4</a:t>
            </a:fld>
            <a:endParaRPr lang="en-GB" altLang="en-US" sz="1200" b="0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L’agente per il </a:t>
            </a:r>
            <a:r>
              <a:rPr lang="it-IT" altLang="en-US" i="1" dirty="0">
                <a:latin typeface="Arial" panose="020B0604020202020204" pitchFamily="34" charset="0"/>
                <a:cs typeface="Times New Roman" panose="02020603050405020304" pitchFamily="18" charset="0"/>
              </a:rPr>
              <a:t>problem solving</a:t>
            </a:r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è un tipo particolare e semplice di agente con obiettivo: determina la sequenza di azioni da compiere per raggiungere stati desiderabili.</a:t>
            </a:r>
            <a:endParaRPr lang="en-GB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Passi da seguire nel processo di risoluzione di un problema:</a:t>
            </a:r>
            <a:endParaRPr lang="en-GB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1.</a:t>
            </a:r>
            <a:r>
              <a:rPr lang="it-IT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Formulazione dell’obiettivo (un insieme di stati caratterizzati in qualche modo)</a:t>
            </a:r>
            <a:endParaRPr lang="en-GB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2.</a:t>
            </a:r>
            <a:r>
              <a:rPr lang="it-IT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Formulazione del problema</a:t>
            </a:r>
            <a:endParaRPr lang="en-GB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        </a:t>
            </a:r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rappresentazione degli stati</a:t>
            </a:r>
            <a:endParaRPr lang="en-GB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        </a:t>
            </a:r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rappresentazione delle azioni</a:t>
            </a:r>
            <a:endParaRPr lang="en-GB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3.</a:t>
            </a:r>
            <a:r>
              <a:rPr lang="it-IT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Ricerca della soluzione mediante un processo di ricerca nello spazio degli stati</a:t>
            </a:r>
            <a:endParaRPr lang="en-GB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4. Esecuzione del “piano”, un’azione alla volta</a:t>
            </a:r>
            <a:r>
              <a:rPr lang="en-US" altLang="en-US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en-GB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54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DD3A8CE-9D93-4D38-8028-D780747B6965}" type="slidenum">
              <a:rPr lang="en-GB" altLang="en-US" sz="1200" b="0"/>
              <a:pPr eaLnBrk="1" hangingPunct="1"/>
              <a:t>5</a:t>
            </a:fld>
            <a:endParaRPr lang="en-GB" altLang="en-US" sz="1200" b="0"/>
          </a:p>
        </p:txBody>
      </p:sp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539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861B019-1C65-4038-BB7C-79319BADF160}" type="slidenum">
              <a:rPr lang="en-GB" altLang="en-US" sz="1200" b="0"/>
              <a:pPr eaLnBrk="1" hangingPunct="1"/>
              <a:t>6</a:t>
            </a:fld>
            <a:endParaRPr lang="en-GB" altLang="en-US" sz="1200" b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Un problema è una struttura dati con quattro componenti: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28600" indent="-228600" eaLnBrk="1" hangingPunct="1">
              <a:buFontTx/>
              <a:buAutoNum type="arabicPeriod"/>
            </a:pP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Uno stato iniziale, tipicamente lo stato attuale per l’agente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28600" indent="-228600" eaLnBrk="1" hangingPunct="1">
              <a:buFontTx/>
              <a:buAutoNum type="arabicPeriod"/>
            </a:pP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Succ-fn: stato </a:t>
            </a: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{&lt;azione, stato&gt;*}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, un insieme di azioni possibili per l’agente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28600" indent="-228600" eaLnBrk="1" hangingPunct="1">
              <a:buFontTx/>
              <a:buAutoNum type="arabicPeriod"/>
            </a:pP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Una funzione Goal-Test:  stato </a:t>
            </a:r>
            <a:r>
              <a:rPr lang="en-GB" altLang="en-US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 { </a:t>
            </a:r>
            <a:r>
              <a:rPr lang="it-IT" altLang="en-US" i="1">
                <a:latin typeface="Arial" panose="020B0604020202020204" pitchFamily="34" charset="0"/>
                <a:cs typeface="Times New Roman" panose="02020603050405020304" pitchFamily="18" charset="0"/>
              </a:rPr>
              <a:t>true, false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 }</a:t>
            </a:r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 che verifica se uno stato è goal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28600" indent="-228600" eaLnBrk="1" hangingPunct="1">
              <a:buFontTx/>
              <a:buAutoNum type="arabicPeriod"/>
            </a:pP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Una funzione Path-Cost-Function che assegna un costo a un cammino (somma dei costi delle azioni)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28600" indent="-228600"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Nella scelta degli stati e delle azioni è fondamentale la scelta del livello di astrazione più adeguato per il problema.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666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6661348-6416-45FB-AA8B-655E19372B35}" type="slidenum">
              <a:rPr lang="en-GB" altLang="en-US" sz="1200" b="0"/>
              <a:pPr eaLnBrk="1" hangingPunct="1"/>
              <a:t>8</a:t>
            </a:fld>
            <a:endParaRPr lang="en-GB" altLang="en-US" sz="1200" b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en-US" i="1">
                <a:latin typeface="Arial" panose="020B0604020202020204" pitchFamily="34" charset="0"/>
                <a:cs typeface="Times New Roman" panose="02020603050405020304" pitchFamily="18" charset="0"/>
              </a:rPr>
              <a:t>Gli algoritmi di ricerca prendono in input un problema così formulato e restituiscono un cammino soluzione.</a:t>
            </a:r>
          </a:p>
          <a:p>
            <a:pPr eaLnBrk="1" hangingPunct="1"/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i="1">
                <a:latin typeface="Arial" panose="020B0604020202020204" pitchFamily="34" charset="0"/>
                <a:cs typeface="Times New Roman" panose="02020603050405020304" pitchFamily="18" charset="0"/>
              </a:rPr>
              <a:t>Misura delle prestazioni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: trova una soluzione? quanto costa trovarla? Quanto efficiente è la soluzione?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	</a:t>
            </a: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Costo totale = costo del cammino soluzione + costo della ricerca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 </a:t>
            </a:r>
          </a:p>
          <a:p>
            <a:pPr eaLnBrk="1" hangingPunct="1"/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016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EC61CDF-88AF-4AE2-BDF2-AA60F088A886}" type="slidenum">
              <a:rPr lang="en-GB" altLang="en-US" sz="1200" b="0"/>
              <a:pPr eaLnBrk="1" hangingPunct="1"/>
              <a:t>9</a:t>
            </a:fld>
            <a:endParaRPr lang="en-GB" altLang="en-US" sz="1200" b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Abbiano città collegate da strade con una lunghezza associata.</a:t>
            </a: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Si deve trovare il percorso più breve da una città di partenza a una città di arrivo.</a:t>
            </a:r>
          </a:p>
          <a:p>
            <a:pPr eaLnBrk="1" hangingPunct="1"/>
            <a:endParaRPr lang="it-IT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Variante: problema di viaggio: si deve visitare ciascuna città almeno una volta (gli stati sono le città visitate per poter controllare il goal)</a:t>
            </a:r>
          </a:p>
          <a:p>
            <a:pPr eaLnBrk="1" hangingPunct="1"/>
            <a:r>
              <a:rPr lang="it-IT" altLang="en-US" i="1">
                <a:latin typeface="Arial" panose="020B0604020202020204" pitchFamily="34" charset="0"/>
                <a:cs typeface="Times New Roman" panose="02020603050405020304" pitchFamily="18" charset="0"/>
              </a:rPr>
              <a:t>Variante</a:t>
            </a:r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: il commesso viaggiatore</a:t>
            </a:r>
            <a:r>
              <a:rPr lang="en-GB" altLang="en-US">
                <a:latin typeface="Arial" panose="020B0604020202020204" pitchFamily="34" charset="0"/>
                <a:cs typeface="Times New Roman" panose="02020603050405020304" pitchFamily="18" charset="0"/>
              </a:rPr>
              <a:t> (visitare le città esattamente una volta).</a:t>
            </a:r>
          </a:p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373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63754D2-57BD-43B6-9C49-337FE2DF729D}" type="slidenum">
              <a:rPr lang="en-GB" altLang="en-US" sz="1200" b="0"/>
              <a:pPr eaLnBrk="1" hangingPunct="1"/>
              <a:t>10</a:t>
            </a:fld>
            <a:endParaRPr lang="en-GB" altLang="en-US" sz="1200" b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La scelta degli stati e delle azioni è sostanzialmente la scelta del livello di astrazione più adeguato per il problema.</a:t>
            </a:r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L’obiettivo è recarsi in una città per la strada più corta. Quindi possiamo prescindere da fattori del tipo quali attrazioni turistiche ci sono lungo il cammino o quanto confortevole o veloce è la strada. </a:t>
            </a:r>
          </a:p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Una semplice rappresentazione dello stato come la città in cui ci si trova e macro-azioni del tipo “spostarsi sulla una città adiacente” saranno sufficienti per risolvere il problema.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Livello di astrazione giusto per gli stati: il più semplice possibile ma con tutti gli aspetti rilevanti per la scelta delle azioni.</a:t>
            </a:r>
            <a:endParaRPr lang="it-IT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Livello di astrazione giusto per le azioni: è tale che le azioni sono ragionevolmente facili da risolvere.</a:t>
            </a:r>
            <a:endParaRPr lang="it-IT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GB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192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8361513-ACF0-45E7-8000-C1DC72819B5F}" type="slidenum">
              <a:rPr lang="en-GB" altLang="en-US" sz="1200" b="0"/>
              <a:pPr eaLnBrk="1" hangingPunct="1"/>
              <a:t>11</a:t>
            </a:fld>
            <a:endParaRPr lang="en-GB" altLang="en-US" sz="1200" b="0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Si tratta di un agente aspirapolvere il cui obiettivo è aspirare lo sporco nelle locazioni fino ad averle tutte completamente pulite.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Gli stati sono tutte le possibili configurazioni delle locazioni che possono essere sporche o pulite con l’agente in una specifica locazione (otto in questo caso).</a:t>
            </a:r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13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5DA4560-0A1E-4D37-96AC-E8AB24FBA857}" type="slidenum">
              <a:rPr lang="en-GB" altLang="en-US" sz="1200" b="0"/>
              <a:pPr eaLnBrk="1" hangingPunct="1"/>
              <a:t>12</a:t>
            </a:fld>
            <a:endParaRPr lang="en-GB" altLang="en-US" sz="1200" b="0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Lo spazio degli stati è completamente determinato dato lo stato iniziale e le azioni che è possibile compiere. Anche in questo caso si tratta di un grafo perché lo stesso stato può essere raggiunto in più modi.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Es. Se l’agente si sposta a sinistra e poi di nuovo a destra di trova nello stesso stato da cui era partito.</a:t>
            </a:r>
          </a:p>
          <a:p>
            <a:pPr eaLnBrk="1" hangingPunct="1"/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665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81452F4-3681-49BF-B2AD-4DE4EC332B35}" type="slidenum">
              <a:rPr lang="en-GB" altLang="en-US" sz="1200" b="0"/>
              <a:pPr eaLnBrk="1" hangingPunct="1"/>
              <a:t>13</a:t>
            </a:fld>
            <a:endParaRPr lang="en-GB" altLang="en-US" sz="1200" b="0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Normalmente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si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gioca</a:t>
            </a:r>
            <a:r>
              <a:rPr lang="en-US" dirty="0">
                <a:ea typeface="ＭＳ Ｐゴシック" charset="0"/>
                <a:cs typeface="+mn-cs"/>
              </a:rPr>
              <a:t> con </a:t>
            </a:r>
            <a:r>
              <a:rPr lang="en-US" dirty="0" err="1">
                <a:ea typeface="ＭＳ Ｐゴシック" charset="0"/>
                <a:cs typeface="+mn-cs"/>
              </a:rPr>
              <a:t>una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scacchiera</a:t>
            </a:r>
            <a:r>
              <a:rPr lang="en-US" dirty="0">
                <a:ea typeface="ＭＳ Ｐゴシック" charset="0"/>
                <a:cs typeface="+mn-cs"/>
              </a:rPr>
              <a:t> 4 X 4 (</a:t>
            </a:r>
            <a:r>
              <a:rPr lang="en-US" dirty="0" err="1">
                <a:ea typeface="ＭＳ Ｐゴシック" charset="0"/>
                <a:cs typeface="+mn-cs"/>
              </a:rPr>
              <a:t>gioco</a:t>
            </a:r>
            <a:r>
              <a:rPr lang="en-US" dirty="0">
                <a:ea typeface="ＭＳ Ｐゴシック" charset="0"/>
                <a:cs typeface="+mn-cs"/>
              </a:rPr>
              <a:t> del 15, </a:t>
            </a:r>
            <a:r>
              <a:rPr lang="en-US" dirty="0" err="1">
                <a:ea typeface="ＭＳ Ｐゴシック" charset="0"/>
                <a:cs typeface="+mn-cs"/>
              </a:rPr>
              <a:t>anche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chiamato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i="1" dirty="0">
                <a:ea typeface="ＭＳ Ｐゴシック" charset="0"/>
                <a:cs typeface="+mn-cs"/>
              </a:rPr>
              <a:t>sliding tales</a:t>
            </a:r>
            <a:r>
              <a:rPr lang="en-US" dirty="0">
                <a:ea typeface="ＭＳ Ｐゴシック" charset="0"/>
                <a:cs typeface="+mn-cs"/>
              </a:rPr>
              <a:t>). Il </a:t>
            </a:r>
            <a:r>
              <a:rPr lang="en-US" dirty="0" err="1">
                <a:ea typeface="ＭＳ Ｐゴシック" charset="0"/>
                <a:cs typeface="+mn-cs"/>
              </a:rPr>
              <a:t>rompicapo</a:t>
            </a:r>
            <a:r>
              <a:rPr lang="en-US" dirty="0">
                <a:ea typeface="ＭＳ Ｐゴシック" charset="0"/>
                <a:cs typeface="+mn-cs"/>
              </a:rPr>
              <a:t> a 8 </a:t>
            </a:r>
            <a:r>
              <a:rPr lang="en-US" dirty="0" err="1">
                <a:ea typeface="ＭＳ Ｐゴシック" charset="0"/>
                <a:cs typeface="+mn-cs"/>
              </a:rPr>
              <a:t>tasselli</a:t>
            </a:r>
            <a:r>
              <a:rPr lang="en-US" dirty="0">
                <a:ea typeface="ＭＳ Ｐゴシック" charset="0"/>
                <a:cs typeface="+mn-cs"/>
              </a:rPr>
              <a:t>.</a:t>
            </a:r>
            <a:endParaRPr lang="it-IT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515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80B365D-863A-4EF7-AC85-741847B405E1}" type="slidenum">
              <a:rPr lang="en-GB" altLang="en-US" sz="1200" b="0"/>
              <a:pPr eaLnBrk="1" hangingPunct="1"/>
              <a:t>14</a:t>
            </a:fld>
            <a:endParaRPr lang="en-GB" altLang="en-US" sz="1200" b="0"/>
          </a:p>
        </p:txBody>
      </p:sp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8747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3624600-91F1-4C86-8B90-CBDE1C9CD1CF}" type="slidenum">
              <a:rPr lang="en-GB" altLang="en-US" sz="1200" b="0"/>
              <a:pPr eaLnBrk="1" hangingPunct="1"/>
              <a:t>15</a:t>
            </a:fld>
            <a:endParaRPr lang="en-GB" altLang="en-US" sz="1200" b="0"/>
          </a:p>
        </p:txBody>
      </p:sp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342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FE1DA6E-40A1-403F-8AF6-F69585C61FDE}" type="slidenum">
              <a:rPr lang="en-GB" altLang="en-US" sz="1200" b="0"/>
              <a:pPr eaLnBrk="1" hangingPunct="1"/>
              <a:t>16</a:t>
            </a:fld>
            <a:endParaRPr lang="en-GB" altLang="en-US" sz="1200" b="0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La prima è una formulazione incrementale in cui si aggiungono una alla volta le regine in una posizione qualsiasi.</a:t>
            </a:r>
          </a:p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Se, come in questo caso, non ci interessa il costo della soluzione (che è sempre e comunque 8), possiamo porre il costo delle azioni a zero.</a:t>
            </a:r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645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7AAEDD3-F064-458C-B1B1-ED267C442B2F}" type="slidenum">
              <a:rPr lang="en-GB" altLang="en-US" sz="1200" b="0"/>
              <a:pPr eaLnBrk="1" hangingPunct="1"/>
              <a:t>17</a:t>
            </a:fld>
            <a:endParaRPr lang="en-GB" altLang="en-US" sz="1200" b="0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ＭＳ Ｐゴシック" charset="0"/>
                <a:cs typeface="+mn-cs"/>
              </a:rPr>
              <a:t>In questa formulazione incrementale si aggiungono le regine una alla volta , una per colonna, e in modo che non si possano mangiare</a:t>
            </a:r>
          </a:p>
          <a:p>
            <a:pPr eaLnBrk="1" hangingPunct="1">
              <a:defRPr/>
            </a:pPr>
            <a:endParaRPr lang="en-GB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057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90E45C5-F818-4ADE-A42E-B70FCE5D5E49}" type="slidenum">
              <a:rPr lang="en-GB" altLang="en-US" sz="1200" b="0"/>
              <a:pPr eaLnBrk="1" hangingPunct="1"/>
              <a:t>18</a:t>
            </a:fld>
            <a:endParaRPr lang="en-GB" altLang="en-US" sz="1200" b="0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La terza  è una formulazione “a stato completo” in cui si parte con tutte le regine sulla scacchiera, una per colonna e poi si cerca di eliminare i problemi.</a:t>
            </a:r>
          </a:p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Lo spazio degli stati adesso è molto più piccolo.</a:t>
            </a:r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686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5DF8240-FF41-4777-9C12-FA8DD5B70B97}" type="slidenum">
              <a:rPr lang="en-GB" altLang="en-US" sz="1200" b="0"/>
              <a:pPr eaLnBrk="1" hangingPunct="1"/>
              <a:t>19</a:t>
            </a:fld>
            <a:endParaRPr lang="en-GB" altLang="en-US" sz="1200" b="0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928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071BFE3-C13F-4677-8C79-6D6EF1526856}" type="slidenum">
              <a:rPr lang="en-GB" altLang="en-US" sz="1200" b="0"/>
              <a:pPr eaLnBrk="1" hangingPunct="1"/>
              <a:t>20</a:t>
            </a:fld>
            <a:endParaRPr lang="en-GB" altLang="en-US" sz="1200" b="0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895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8C0D062-7E7D-4826-9259-F50DCE4F08E7}" type="slidenum">
              <a:rPr lang="en-GB" altLang="en-US" sz="1200" b="0"/>
              <a:pPr eaLnBrk="1" hangingPunct="1"/>
              <a:t>21</a:t>
            </a:fld>
            <a:endParaRPr lang="en-GB" altLang="en-US" sz="1200" b="0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469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5154F4-48DD-48AA-B0EC-009061BEB80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08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9044F2A-CD7C-4280-8FD7-9D3337CB1E61}" type="slidenum">
              <a:rPr lang="en-GB" altLang="en-US" sz="1200" b="0"/>
              <a:pPr eaLnBrk="1" hangingPunct="1"/>
              <a:t>24</a:t>
            </a:fld>
            <a:endParaRPr lang="en-GB" altLang="en-US" sz="1200" b="0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3129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0A2DC05-6E37-47FE-8567-89A2745AD5F2}" type="slidenum">
              <a:rPr lang="en-GB" altLang="en-US" sz="1200" b="0"/>
              <a:pPr eaLnBrk="1" hangingPunct="1"/>
              <a:t>25</a:t>
            </a:fld>
            <a:endParaRPr lang="en-GB" altLang="en-US" sz="1200" b="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Nota: L’albero di ricerca è una struttura dati che si usa per rappresentare la ricerca in uno spazio di stati, che può essere un grafo.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La radice dell’albero corrisponde allo stato iniziale dello spazio di ricerca. Ad ogni passo si sceglie una foglia dell’albero generato fino a quel momento (le foglie costituiscono la </a:t>
            </a:r>
            <a:r>
              <a:rPr lang="en-US" altLang="en-US" i="1">
                <a:latin typeface="Times New Roman" panose="02020603050405020304" pitchFamily="18" charset="0"/>
              </a:rPr>
              <a:t>frontiera</a:t>
            </a:r>
            <a:r>
              <a:rPr lang="en-US" altLang="en-US">
                <a:latin typeface="Times New Roman" panose="02020603050405020304" pitchFamily="18" charset="0"/>
              </a:rPr>
              <a:t> della ricerca) e si aggiungono gli stati successori come discendenti (si dice che il </a:t>
            </a:r>
            <a:r>
              <a:rPr lang="en-US" altLang="en-US" i="1">
                <a:latin typeface="Times New Roman" panose="02020603050405020304" pitchFamily="18" charset="0"/>
              </a:rPr>
              <a:t>nodo viene espanso</a:t>
            </a:r>
            <a:r>
              <a:rPr lang="en-US" altLang="en-US">
                <a:latin typeface="Times New Roman" panose="02020603050405020304" pitchFamily="18" charset="0"/>
              </a:rPr>
              <a:t>).</a:t>
            </a:r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13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E0F6EDA-041F-49FF-A07C-A977F2E5655C}" type="slidenum">
              <a:rPr lang="en-GB" altLang="en-US" sz="1200" b="0"/>
              <a:pPr eaLnBrk="1" hangingPunct="1"/>
              <a:t>26</a:t>
            </a:fld>
            <a:endParaRPr lang="en-GB" altLang="en-US" sz="1200" b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La strategia di ricerca determina quale tra i nodi sulla frontiera viene scelto ad ogni passo per l’espansione.</a:t>
            </a:r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1256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8693740-A202-4B97-9E9F-864FB18C4196}" type="slidenum">
              <a:rPr lang="en-GB" altLang="en-US" sz="1200" b="0"/>
              <a:pPr eaLnBrk="1" hangingPunct="1"/>
              <a:t>27</a:t>
            </a:fld>
            <a:endParaRPr lang="en-GB" altLang="en-US" sz="1200" b="0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30220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834DF69-B55D-481C-B68F-2330A42AB89B}" type="slidenum">
              <a:rPr lang="en-GB" altLang="en-US" sz="1200" b="0"/>
              <a:pPr eaLnBrk="1" hangingPunct="1"/>
              <a:t>29</a:t>
            </a:fld>
            <a:endParaRPr lang="en-GB" altLang="en-US" sz="1200" b="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La funzione di inserzione nella coda (</a:t>
            </a:r>
            <a:r>
              <a:rPr lang="en-US" altLang="en-US" i="1">
                <a:latin typeface="Times New Roman" panose="02020603050405020304" pitchFamily="18" charset="0"/>
              </a:rPr>
              <a:t>queueing function</a:t>
            </a:r>
            <a:r>
              <a:rPr lang="en-US" altLang="en-US">
                <a:latin typeface="Times New Roman" panose="02020603050405020304" pitchFamily="18" charset="0"/>
              </a:rPr>
              <a:t>) determina l’ordine in cui i nodi successori vengono aggiunti alla frontiera.</a:t>
            </a:r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4981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B311637-635D-4E35-B655-2ADD58FDD1BF}" type="slidenum">
              <a:rPr lang="en-GB" altLang="en-US" sz="1200" b="0"/>
              <a:pPr eaLnBrk="1" hangingPunct="1"/>
              <a:t>30</a:t>
            </a:fld>
            <a:endParaRPr lang="en-GB" altLang="en-US" sz="1200" b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>
                <a:ea typeface="ＭＳ Ｐゴシック" charset="0"/>
                <a:cs typeface="+mn-cs"/>
              </a:rPr>
              <a:t>Nota che  in questa versione gli stati sono goal-</a:t>
            </a:r>
            <a:r>
              <a:rPr lang="it-IT" dirty="0" err="1">
                <a:ea typeface="ＭＳ Ｐゴシック" charset="0"/>
                <a:cs typeface="+mn-cs"/>
              </a:rPr>
              <a:t>tested</a:t>
            </a:r>
            <a:r>
              <a:rPr lang="it-IT" dirty="0">
                <a:ea typeface="ＭＳ Ｐゴシック" charset="0"/>
                <a:cs typeface="+mn-cs"/>
              </a:rPr>
              <a:t> al momento in cui sono generati.</a:t>
            </a:r>
          </a:p>
        </p:txBody>
      </p:sp>
    </p:spTree>
    <p:extLst>
      <p:ext uri="{BB962C8B-B14F-4D97-AF65-F5344CB8AC3E}">
        <p14:creationId xmlns:p14="http://schemas.microsoft.com/office/powerpoint/2010/main" val="10490428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0EF9176-28E5-451E-AD8F-5191C84D2970}" type="slidenum">
              <a:rPr lang="en-GB" altLang="en-US" sz="1200" b="0"/>
              <a:pPr eaLnBrk="1" hangingPunct="1"/>
              <a:t>32</a:t>
            </a:fld>
            <a:endParaRPr lang="en-GB" altLang="en-US" sz="1200" b="0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4101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4D975E9-E271-485B-ACC4-ED96065B2FA4}" type="slidenum">
              <a:rPr lang="en-GB" altLang="en-US" sz="1200" b="0"/>
              <a:pPr eaLnBrk="1" hangingPunct="1"/>
              <a:t>33</a:t>
            </a:fld>
            <a:endParaRPr lang="en-GB" altLang="en-US" sz="1200" b="0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0799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EDC20FB-77C7-4940-B229-D8D3AFE6B7BE}" type="slidenum">
              <a:rPr lang="en-GB" altLang="en-US" sz="1200" b="0"/>
              <a:pPr eaLnBrk="1" hangingPunct="1"/>
              <a:t>34</a:t>
            </a:fld>
            <a:endParaRPr lang="en-GB" altLang="en-US" sz="1200" b="0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98398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EDC20FB-77C7-4940-B229-D8D3AFE6B7BE}" type="slidenum">
              <a:rPr lang="en-GB" altLang="en-US" sz="1200" b="0"/>
              <a:pPr eaLnBrk="1" hangingPunct="1"/>
              <a:t>35</a:t>
            </a:fld>
            <a:endParaRPr lang="en-GB" altLang="en-US" sz="1200" b="0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7029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EDC20FB-77C7-4940-B229-D8D3AFE6B7BE}" type="slidenum">
              <a:rPr lang="en-GB" altLang="en-US" sz="1200" b="0"/>
              <a:pPr eaLnBrk="1" hangingPunct="1"/>
              <a:t>36</a:t>
            </a:fld>
            <a:endParaRPr lang="en-GB" altLang="en-US" sz="1200" b="0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5314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B311637-635D-4E35-B655-2ADD58FDD1BF}" type="slidenum">
              <a:rPr lang="en-GB" altLang="en-US" sz="1200" b="0"/>
              <a:pPr eaLnBrk="1" hangingPunct="1"/>
              <a:t>37</a:t>
            </a:fld>
            <a:endParaRPr lang="en-GB" altLang="en-US" sz="1200" b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>
                <a:ea typeface="ＭＳ Ｐゴシック" charset="0"/>
                <a:cs typeface="+mn-cs"/>
              </a:rPr>
              <a:t>Nota che  in questa versione gli stati sono goal-</a:t>
            </a:r>
            <a:r>
              <a:rPr lang="it-IT" dirty="0" err="1">
                <a:ea typeface="ＭＳ Ｐゴシック" charset="0"/>
                <a:cs typeface="+mn-cs"/>
              </a:rPr>
              <a:t>tested</a:t>
            </a:r>
            <a:r>
              <a:rPr lang="it-IT" dirty="0">
                <a:ea typeface="ＭＳ Ｐゴシック" charset="0"/>
                <a:cs typeface="+mn-cs"/>
              </a:rPr>
              <a:t> al momento in cui sono generati.</a:t>
            </a:r>
          </a:p>
        </p:txBody>
      </p:sp>
    </p:spTree>
    <p:extLst>
      <p:ext uri="{BB962C8B-B14F-4D97-AF65-F5344CB8AC3E}">
        <p14:creationId xmlns:p14="http://schemas.microsoft.com/office/powerpoint/2010/main" val="17665398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E9BE199-3EBE-4902-8BA9-02C10D9F11CD}" type="slidenum">
              <a:rPr lang="en-GB" altLang="en-US" sz="1200" b="0"/>
              <a:pPr eaLnBrk="1" hangingPunct="1"/>
              <a:t>39</a:t>
            </a:fld>
            <a:endParaRPr lang="en-GB" altLang="en-US" sz="1200" b="0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La strategia è completa perché sicuramente, procedendo in ampiezza, se la soluzione esiste viene trovata.</a:t>
            </a:r>
            <a:endParaRPr lang="it-IT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È ottimale sotto questa condizione purché gli operatori abbiano un costo costante. Si può dimostrare per assurdo che altrimenti è possibile costruire una situazione in cui un nodo soluzione a livello più superficiale è più costoso di uno a profondità maggiore. Siccome la ricerca lo trova prima la soluzione trovata non è ottimale.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Nel conto del tempo consideriamo le operazioni di generazione di nodi. Nel caso peggiore si generano tutti i nodi a livello d.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Nel conto dello spazio teniamo conto dei nodi che si devono tenere in memoria (quelli già generati).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Nota qui si assume che un nodo viene testato per vedere se è un goal al momento in cui viene generato e non al momento in cui vene espanso.</a:t>
            </a:r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5223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F1501C7-701D-4CF7-AB66-01F36F2AD135}" type="slidenum">
              <a:rPr lang="en-GB" altLang="en-US" sz="1200" b="0"/>
              <a:pPr eaLnBrk="1" hangingPunct="1"/>
              <a:t>40</a:t>
            </a:fld>
            <a:endParaRPr lang="en-GB" altLang="en-US" sz="1200" b="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Osserva che quello che è più critico è il fattore memoria!!!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1 kilobyte = 1000 byte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1 megabyte = 1000000 byte = 1 milione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1 gigabyte = 1 miliardo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1 terabyte = 1000 miliardi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1 petabyte = 1 milione di miliardi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1 esabyte = 1 miliardo di miliardi</a:t>
            </a:r>
          </a:p>
          <a:p>
            <a:pPr eaLnBrk="1" hangingPunct="1"/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8608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B9540DE-8E5D-4DE3-AEC2-4320D82ADC65}" type="slidenum">
              <a:rPr lang="en-GB" altLang="en-US" sz="1200" b="0"/>
              <a:pPr eaLnBrk="1" hangingPunct="1"/>
              <a:t>42</a:t>
            </a:fld>
            <a:endParaRPr lang="en-GB" altLang="en-US" sz="1200" b="0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6867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F74A200-0997-4278-83F4-057F58DFD5C4}" type="slidenum">
              <a:rPr lang="en-GB" altLang="en-US" sz="1200" b="0"/>
              <a:pPr eaLnBrk="1" hangingPunct="1"/>
              <a:t>43</a:t>
            </a:fld>
            <a:endParaRPr lang="en-GB" altLang="en-US" sz="1200" b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en-US" dirty="0">
                <a:latin typeface="Times New Roman" panose="02020603050405020304" pitchFamily="18" charset="0"/>
              </a:rPr>
              <a:t>Nota che  in questa versione gli stati sono goal-</a:t>
            </a:r>
            <a:r>
              <a:rPr lang="it-IT" altLang="en-US" dirty="0" err="1">
                <a:latin typeface="Times New Roman" panose="02020603050405020304" pitchFamily="18" charset="0"/>
              </a:rPr>
              <a:t>tested</a:t>
            </a:r>
            <a:r>
              <a:rPr lang="it-IT" altLang="en-US" dirty="0">
                <a:latin typeface="Times New Roman" panose="02020603050405020304" pitchFamily="18" charset="0"/>
              </a:rPr>
              <a:t> al momento in cui sono </a:t>
            </a:r>
            <a:r>
              <a:rPr lang="it-IT" altLang="en-US" dirty="0" err="1">
                <a:latin typeface="Times New Roman" panose="02020603050405020304" pitchFamily="18" charset="0"/>
              </a:rPr>
              <a:t>selezonati</a:t>
            </a:r>
            <a:r>
              <a:rPr lang="it-IT" altLang="en-US" dirty="0">
                <a:latin typeface="Times New Roman" panose="02020603050405020304" pitchFamily="18" charset="0"/>
              </a:rPr>
              <a:t> per  l’ espansione</a:t>
            </a:r>
          </a:p>
        </p:txBody>
      </p:sp>
    </p:spTree>
    <p:extLst>
      <p:ext uri="{BB962C8B-B14F-4D97-AF65-F5344CB8AC3E}">
        <p14:creationId xmlns:p14="http://schemas.microsoft.com/office/powerpoint/2010/main" val="9891356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85F673A-661D-43FA-BD8B-BCA31E2B60D8}" type="slidenum">
              <a:rPr lang="en-GB" altLang="en-US" sz="1200" b="0"/>
              <a:pPr eaLnBrk="1" hangingPunct="1"/>
              <a:t>45</a:t>
            </a:fld>
            <a:endParaRPr lang="en-GB" altLang="en-US" sz="1200" b="0"/>
          </a:p>
        </p:txBody>
      </p:sp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Se il costo cresce sempre lungo un cammino, cioè il costo degli archi è positivo non si può trascurare all’infinito la soluzione e quindi la ricerca è completa.</a:t>
            </a:r>
          </a:p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È anche ottimale perchè si espandono sempre nodi di costo crescente.</a:t>
            </a:r>
          </a:p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Coincide con la ricerca in ampiezza quando ogni azione ha lo stesso costo.</a:t>
            </a:r>
            <a:endParaRPr lang="it-IT" altLang="en-US">
              <a:latin typeface="Times New Roman" panose="02020603050405020304" pitchFamily="18" charset="0"/>
            </a:endParaRPr>
          </a:p>
          <a:p>
            <a:pPr eaLnBrk="1" hangingPunct="1"/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3106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F9987EB-708B-4A94-8AEA-98B9366522E9}" type="slidenum">
              <a:rPr lang="en-GB" altLang="en-US" sz="1200" b="0"/>
              <a:pPr eaLnBrk="1" hangingPunct="1"/>
              <a:t>47</a:t>
            </a:fld>
            <a:endParaRPr lang="en-GB" altLang="en-US" sz="1200" b="0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2923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F9987EB-708B-4A94-8AEA-98B9366522E9}" type="slidenum">
              <a:rPr lang="en-GB" altLang="en-US" sz="1200" b="0"/>
              <a:pPr eaLnBrk="1" hangingPunct="1"/>
              <a:t>48</a:t>
            </a:fld>
            <a:endParaRPr lang="en-GB" altLang="en-US" sz="1200" b="0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2297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F9987EB-708B-4A94-8AEA-98B9366522E9}" type="slidenum">
              <a:rPr lang="en-GB" altLang="en-US" sz="1200" b="0"/>
              <a:pPr eaLnBrk="1" hangingPunct="1"/>
              <a:t>49</a:t>
            </a:fld>
            <a:endParaRPr lang="en-GB" altLang="en-US" sz="1200" b="0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887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C5D4753-999B-4288-8068-0C1C434D1F52}" type="slidenum">
              <a:rPr lang="en-GB" altLang="en-US" sz="1200" b="0"/>
              <a:pPr eaLnBrk="1" hangingPunct="1"/>
              <a:t>50</a:t>
            </a:fld>
            <a:endParaRPr lang="en-GB" altLang="en-US" sz="1200" b="0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Il numero di nodi da tenere in memoria sono b per ogni livello e al massimo la profondità della soluzione è </a:t>
            </a:r>
            <a:r>
              <a:rPr lang="en-US" altLang="en-US" i="1">
                <a:latin typeface="Times New Roman" panose="02020603050405020304" pitchFamily="18" charset="0"/>
              </a:rPr>
              <a:t>m</a:t>
            </a:r>
            <a:r>
              <a:rPr lang="en-US" altLang="en-US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Il numero dei nodi generati è, nel caso peggiore, come nel caso della ricerca in ampiezza.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La strategia non è completa perché andando in profondità su un ramo infinito la soluzione potrebbe non essere trovata e non c’è niente che ridirige la ricerca. A maggior ragione è non ottimale.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Il risparmio in memoria è drastico.</a:t>
            </a:r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5393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000B916-851E-43AB-A251-7A56BA782E58}" type="slidenum">
              <a:rPr lang="en-GB" altLang="en-US" sz="1200" b="0"/>
              <a:pPr eaLnBrk="1" hangingPunct="1"/>
              <a:t>51</a:t>
            </a:fld>
            <a:endParaRPr lang="en-GB" altLang="en-US" sz="1200" b="0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88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E4D152E-233D-459F-B70B-5D754B164190}" type="slidenum">
              <a:rPr lang="en-GB" altLang="en-US" sz="1200" b="0"/>
              <a:pPr eaLnBrk="1" hangingPunct="1"/>
              <a:t>52</a:t>
            </a:fld>
            <a:endParaRPr lang="en-GB" altLang="en-US" sz="1200" b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en-US">
                <a:latin typeface="Times New Roman" panose="02020603050405020304" pitchFamily="18" charset="0"/>
              </a:rPr>
              <a:t>Nota che  in questa versione gli stati sono goal-tested al momento in cui sono selezonati per  l’ espansione</a:t>
            </a:r>
          </a:p>
        </p:txBody>
      </p:sp>
    </p:spTree>
    <p:extLst>
      <p:ext uri="{BB962C8B-B14F-4D97-AF65-F5344CB8AC3E}">
        <p14:creationId xmlns:p14="http://schemas.microsoft.com/office/powerpoint/2010/main" val="32588740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B5F2E57-F6CC-4C8C-92FC-FB94793240A7}" type="slidenum">
              <a:rPr lang="en-GB" altLang="en-US" sz="1200" b="0"/>
              <a:pPr eaLnBrk="1" hangingPunct="1"/>
              <a:t>53</a:t>
            </a:fld>
            <a:endParaRPr lang="en-GB" altLang="en-US" sz="1200" b="0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2394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64BDCA2-2A1E-4F7D-A5B2-80D89B030108}" type="slidenum">
              <a:rPr lang="en-GB" altLang="en-US" sz="1200" b="0"/>
              <a:pPr eaLnBrk="1" hangingPunct="1"/>
              <a:t>54</a:t>
            </a:fld>
            <a:endParaRPr lang="en-GB" altLang="en-US" sz="1200" b="0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it-IT" altLang="en-US">
                <a:latin typeface="Arial" panose="020B0604020202020204" pitchFamily="34" charset="0"/>
                <a:cs typeface="Times New Roman" panose="02020603050405020304" pitchFamily="18" charset="0"/>
              </a:rPr>
              <a:t>Si prova con limite di profondità 0, poi 1, poi 2, poi 3, … fino a trovare la soluzione</a:t>
            </a:r>
            <a:r>
              <a:rPr lang="en-GB" altLang="en-US"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03838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917FB0E-1BBB-4E01-B7BC-BBD2953AC18F}" type="slidenum">
              <a:rPr lang="en-GB" altLang="en-US" sz="1200" b="0"/>
              <a:pPr eaLnBrk="1" hangingPunct="1"/>
              <a:t>55</a:t>
            </a:fld>
            <a:endParaRPr lang="en-GB" altLang="en-US" sz="1200" b="0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Nota: nella ricerca in profondità limitata si guarda se si è raggiunto il limite di profondità prima di espandere il nodo.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Quindi non si espandono nodi a livello d, e quindi non si generano nodi a livello d+1. Lo stesso come per la ricerca in ampiezza.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Per questo motivo i nodi a livello d sono generati solo una volta (tutti nel caso pessimo).</a:t>
            </a:r>
          </a:p>
          <a:p>
            <a:pPr eaLnBrk="1" hangingPunct="1"/>
            <a:endParaRPr lang="it-IT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6103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590FDBE-10DE-42E4-B6BD-8A6021842972}" type="slidenum">
              <a:rPr lang="en-GB" altLang="en-US" sz="1200" b="0"/>
              <a:pPr eaLnBrk="1" hangingPunct="1"/>
              <a:t>56</a:t>
            </a:fld>
            <a:endParaRPr lang="en-GB" altLang="en-US" sz="1200" b="0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9208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A515A24-AE15-4B1B-8AE3-B95F9FCDA894}" type="slidenum">
              <a:rPr lang="en-GB" altLang="en-US" sz="1200" b="0"/>
              <a:pPr eaLnBrk="1" hangingPunct="1"/>
              <a:t>57</a:t>
            </a:fld>
            <a:endParaRPr lang="en-GB" altLang="en-US" sz="1200" b="0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4319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333AF73-F407-4E83-99C6-00D8335BB3C1}" type="slidenum">
              <a:rPr lang="en-GB" altLang="en-US" sz="1200" b="0"/>
              <a:pPr eaLnBrk="1" hangingPunct="1"/>
              <a:t>58</a:t>
            </a:fld>
            <a:endParaRPr lang="en-GB" altLang="en-US" sz="1200" b="0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5239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6B30FB4-E26D-43A0-B7B5-5F42B194425B}" type="slidenum">
              <a:rPr lang="en-GB" altLang="en-US" sz="1200" b="0"/>
              <a:pPr eaLnBrk="1" hangingPunct="1"/>
              <a:t>59</a:t>
            </a:fld>
            <a:endParaRPr lang="en-GB" altLang="en-US" sz="1200" b="0"/>
          </a:p>
        </p:txBody>
      </p:sp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8092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0F5EF6D-451F-4328-8A1F-1504434B4194}" type="slidenum">
              <a:rPr lang="en-GB" altLang="en-US" sz="1200" b="0"/>
              <a:pPr eaLnBrk="1" hangingPunct="1"/>
              <a:t>60</a:t>
            </a:fld>
            <a:endParaRPr lang="en-GB" altLang="en-US" sz="1200" b="0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576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CBA8DFD-2656-423F-A820-B9A65C4D7625}" type="slidenum">
              <a:rPr lang="en-GB" altLang="en-US" sz="1200" b="0"/>
              <a:pPr eaLnBrk="1" hangingPunct="1"/>
              <a:t>61</a:t>
            </a:fld>
            <a:endParaRPr lang="en-GB" altLang="en-US" sz="1200" b="0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0151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30E1A87-D1CA-4890-8B1A-6049EC93F330}" type="slidenum">
              <a:rPr lang="en-GB" altLang="en-US" sz="1200" b="0"/>
              <a:pPr eaLnBrk="1" hangingPunct="1"/>
              <a:t>62</a:t>
            </a:fld>
            <a:endParaRPr lang="en-GB" altLang="en-US" sz="1200" b="0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Il problema si presenta anche se il grafo non ha cicli come nell’esempio.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Esaminare stati gia’ visitati ci fa compiere del lavoro inutile.</a:t>
            </a:r>
          </a:p>
        </p:txBody>
      </p:sp>
    </p:spTree>
    <p:extLst>
      <p:ext uri="{BB962C8B-B14F-4D97-AF65-F5344CB8AC3E}">
        <p14:creationId xmlns:p14="http://schemas.microsoft.com/office/powerpoint/2010/main" val="34077836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01DAB62-BCCC-48DD-B5F1-D11088A6BDB6}" type="slidenum">
              <a:rPr lang="en-GB" altLang="en-US" sz="1200" b="0"/>
              <a:pPr eaLnBrk="1" hangingPunct="1"/>
              <a:t>65</a:t>
            </a:fld>
            <a:endParaRPr lang="en-GB" altLang="en-US" sz="1200" b="0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85667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D8C62AB-F211-4571-ADFD-CEBDD25442A7}" type="slidenum">
              <a:rPr lang="en-GB" altLang="en-US" sz="1200" b="0"/>
              <a:pPr eaLnBrk="1" hangingPunct="1"/>
              <a:t>66</a:t>
            </a:fld>
            <a:endParaRPr lang="en-GB" altLang="en-US" sz="1200" b="0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5935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3C6D3E6-E392-4A6B-8BD5-C8D9720E687A}" type="slidenum">
              <a:rPr lang="en-GB" altLang="en-US" sz="1200" b="0"/>
              <a:pPr eaLnBrk="1" hangingPunct="1"/>
              <a:t>67</a:t>
            </a:fld>
            <a:endParaRPr lang="en-GB" altLang="en-US" sz="1200" b="0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ＭＳ Ｐゴシック" charset="0"/>
                <a:cs typeface="+mn-cs"/>
              </a:rPr>
              <a:t>Ottimale se possiamo dimostrare che la ricerca espande sempre prima i nodi di costo minore.</a:t>
            </a:r>
          </a:p>
        </p:txBody>
      </p:sp>
    </p:spTree>
    <p:extLst>
      <p:ext uri="{BB962C8B-B14F-4D97-AF65-F5344CB8AC3E}">
        <p14:creationId xmlns:p14="http://schemas.microsoft.com/office/powerpoint/2010/main" val="24204528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1444E2A-3F0E-440E-A6CA-2718ACCDE452}" type="slidenum">
              <a:rPr lang="en-GB" altLang="en-US" sz="1200" b="0"/>
              <a:pPr eaLnBrk="1" hangingPunct="1"/>
              <a:t>69</a:t>
            </a:fld>
            <a:endParaRPr lang="en-GB" altLang="en-US" sz="1200" b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>
                <a:ea typeface="ＭＳ Ｐゴシック" charset="0"/>
                <a:cs typeface="+mn-cs"/>
              </a:rPr>
              <a:t>Nota che  in questa versione gli stati sono goal-</a:t>
            </a:r>
            <a:r>
              <a:rPr lang="it-IT" dirty="0" err="1">
                <a:ea typeface="ＭＳ Ｐゴシック" charset="0"/>
                <a:cs typeface="+mn-cs"/>
              </a:rPr>
              <a:t>tested</a:t>
            </a:r>
            <a:r>
              <a:rPr lang="it-IT" dirty="0">
                <a:ea typeface="ＭＳ Ｐゴシック" charset="0"/>
                <a:cs typeface="+mn-cs"/>
              </a:rPr>
              <a:t> al momento in cui sono generati.</a:t>
            </a:r>
          </a:p>
        </p:txBody>
      </p:sp>
    </p:spTree>
    <p:extLst>
      <p:ext uri="{BB962C8B-B14F-4D97-AF65-F5344CB8AC3E}">
        <p14:creationId xmlns:p14="http://schemas.microsoft.com/office/powerpoint/2010/main" val="126215670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70F1CF5-D6E0-4299-9DC9-ED81F9497306}" type="slidenum">
              <a:rPr lang="en-GB" altLang="en-US" sz="1200" b="0"/>
              <a:pPr eaLnBrk="1" hangingPunct="1"/>
              <a:t>70</a:t>
            </a:fld>
            <a:endParaRPr lang="en-GB" altLang="en-US" sz="1200" b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en-US">
                <a:latin typeface="Times New Roman" panose="02020603050405020304" pitchFamily="18" charset="0"/>
              </a:rPr>
              <a:t>Nota che  in questa versione gli stati sono goal-tested al momento in cui sono selezionati per  l’ espansione</a:t>
            </a:r>
          </a:p>
        </p:txBody>
      </p:sp>
    </p:spTree>
    <p:extLst>
      <p:ext uri="{BB962C8B-B14F-4D97-AF65-F5344CB8AC3E}">
        <p14:creationId xmlns:p14="http://schemas.microsoft.com/office/powerpoint/2010/main" val="8137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3270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58706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172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7630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916D5D-8B1B-4936-88F6-CB5EE4DE63C0}" type="slidenum">
              <a:rPr lang="it-IT" smtClean="0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855925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0893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95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743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426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9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0129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Rectangle 3194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194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19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16D5D-8B1B-4936-88F6-CB5EE4DE63C0}" type="slidenum">
              <a:rPr lang="it-IT" smtClean="0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3962664"/>
      </p:ext>
    </p:extLst>
  </p:cSld>
  <p:clrMapOvr>
    <a:masterClrMapping/>
  </p:clrMapOvr>
  <p:transition spd="med">
    <p:randomBar dir="vert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28613" y="1941513"/>
            <a:ext cx="4027487" cy="4114800"/>
          </a:xfrm>
        </p:spPr>
        <p:txBody>
          <a:bodyPr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0" y="1941513"/>
            <a:ext cx="4029075" cy="4114800"/>
          </a:xfrm>
        </p:spPr>
        <p:txBody>
          <a:bodyPr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Rectangle 31949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194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319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16D5D-8B1B-4936-88F6-CB5EE4DE63C0}" type="slidenum">
              <a:rPr lang="it-IT" smtClean="0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1379390"/>
      </p:ext>
    </p:extLst>
  </p:cSld>
  <p:clrMapOvr>
    <a:masterClrMapping/>
  </p:clrMapOvr>
  <p:transition spd="med">
    <p:randomBar dir="vert"/>
  </p:transition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asic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90419" y="1467862"/>
            <a:ext cx="8368903" cy="4254500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/>
              <a:defRPr>
                <a:solidFill>
                  <a:schemeClr val="accent1"/>
                </a:solidFill>
              </a:defRPr>
            </a:lvl1pPr>
            <a:lvl2pPr marL="194072" indent="-194072">
              <a:buClr>
                <a:schemeClr val="tx2"/>
              </a:buClr>
              <a:tabLst/>
              <a:defRPr>
                <a:solidFill>
                  <a:schemeClr val="tx2"/>
                </a:solidFill>
              </a:defRPr>
            </a:lvl2pPr>
            <a:lvl3pPr marL="358379" indent="-164306">
              <a:buClr>
                <a:schemeClr val="tx2"/>
              </a:buClr>
              <a:buFont typeface="Arial" panose="020B0604020202020204" pitchFamily="34" charset="0"/>
              <a:buChar char="‒"/>
              <a:tabLst/>
              <a:defRPr>
                <a:solidFill>
                  <a:schemeClr val="tx2"/>
                </a:solidFill>
              </a:defRPr>
            </a:lvl3pPr>
            <a:lvl4pPr marL="532210" indent="-173831">
              <a:buClr>
                <a:schemeClr val="tx2"/>
              </a:buClr>
              <a:tabLst/>
              <a:defRPr>
                <a:solidFill>
                  <a:schemeClr val="tx2"/>
                </a:solidFill>
              </a:defRPr>
            </a:lvl4pPr>
            <a:lvl5pPr marL="710804" indent="-171450">
              <a:buClr>
                <a:schemeClr val="tx2"/>
              </a:buClr>
              <a:buFont typeface="Arial" panose="020B0604020202020204" pitchFamily="34" charset="0"/>
              <a:buChar char="‒"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90417" y="441208"/>
            <a:ext cx="8368904" cy="756360"/>
          </a:xfrm>
          <a:prstGeom prst="rect">
            <a:avLst/>
          </a:prstGeom>
        </p:spPr>
        <p:txBody>
          <a:bodyPr anchor="ctr"/>
          <a:lstStyle>
            <a:lvl1pPr>
              <a:defRPr lang="en-US" sz="2700" b="1" kern="120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1"/>
              </a:buClr>
              <a:buFontTx/>
              <a:buNone/>
              <a:tabLst/>
            </a:pPr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0418" y="6386224"/>
            <a:ext cx="117020" cy="92333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6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B916D5D-8B1B-4936-88F6-CB5EE4DE63C0}" type="slidenum">
              <a:rPr lang="it-IT" smtClean="0"/>
              <a:pPr>
                <a:defRPr/>
              </a:pPr>
              <a:t>‹N›</a:t>
            </a:fld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216" y="5544562"/>
            <a:ext cx="788864" cy="119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1196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91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071208"/>
            <a:ext cx="7772400" cy="2233612"/>
          </a:xfrm>
        </p:spPr>
        <p:txBody>
          <a:bodyPr/>
          <a:lstStyle/>
          <a:p>
            <a:pPr eaLnBrk="1" hangingPunct="1">
              <a:spcBef>
                <a:spcPts val="3600"/>
              </a:spcBef>
            </a:pPr>
            <a:r>
              <a:rPr lang="it-IT" sz="4000" i="1" cap="small" dirty="0"/>
              <a:t>Intelligenza Artificiale</a:t>
            </a:r>
            <a:br>
              <a:rPr lang="it-IT" sz="4000" i="1" cap="small" dirty="0"/>
            </a:br>
            <a:br>
              <a:rPr lang="it-IT" sz="1200" i="1" dirty="0"/>
            </a:br>
            <a:r>
              <a:rPr lang="it-IT" sz="2400" i="1" dirty="0" err="1"/>
              <a:t>Problem-solving</a:t>
            </a:r>
            <a:r>
              <a:rPr lang="it-IT" sz="2400" i="1" dirty="0"/>
              <a:t> &amp; Ricerca delle soluzioni (*)</a:t>
            </a:r>
            <a:endParaRPr lang="it-IT" sz="2800" i="1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358412"/>
            <a:ext cx="7342584" cy="1752600"/>
          </a:xfrm>
        </p:spPr>
        <p:txBody>
          <a:bodyPr>
            <a:noAutofit/>
          </a:bodyPr>
          <a:lstStyle/>
          <a:p>
            <a:pPr eaLnBrk="1" hangingPunct="1"/>
            <a:r>
              <a:rPr lang="it-IT" sz="2000" dirty="0"/>
              <a:t>Corsi di Laurea in Informatica, Ing. Gestionale, Ing. Informatica, Ing. di Internet </a:t>
            </a:r>
          </a:p>
          <a:p>
            <a:pPr eaLnBrk="1" hangingPunct="1"/>
            <a:r>
              <a:rPr lang="it-IT" sz="1600" dirty="0"/>
              <a:t>(a.a. 2024-2025)</a:t>
            </a:r>
          </a:p>
          <a:p>
            <a:pPr eaLnBrk="1" hangingPunct="1"/>
            <a:endParaRPr lang="it-IT" sz="1800" dirty="0"/>
          </a:p>
          <a:p>
            <a:pPr eaLnBrk="1" hangingPunct="1"/>
            <a:r>
              <a:rPr lang="it-IT" sz="1800" dirty="0"/>
              <a:t>Roberto Basili</a:t>
            </a:r>
          </a:p>
          <a:p>
            <a:pPr eaLnBrk="1" hangingPunct="1"/>
            <a:endParaRPr lang="it-IT" sz="1800" dirty="0"/>
          </a:p>
          <a:p>
            <a:pPr eaLnBrk="1" hangingPunct="1"/>
            <a:r>
              <a:rPr lang="it-IT" sz="1800" dirty="0"/>
              <a:t>AIMA: </a:t>
            </a:r>
            <a:r>
              <a:rPr lang="it-IT" sz="1800" dirty="0" err="1"/>
              <a:t>Chpt</a:t>
            </a:r>
            <a:r>
              <a:rPr lang="it-IT" sz="1800" dirty="0"/>
              <a:t>. 3.1-3.4</a:t>
            </a:r>
          </a:p>
          <a:p>
            <a:pPr eaLnBrk="1" hangingPunct="1"/>
            <a:endParaRPr lang="it-IT" sz="1800" dirty="0"/>
          </a:p>
          <a:p>
            <a:pPr eaLnBrk="1" hangingPunct="1"/>
            <a:r>
              <a:rPr lang="it-IT" sz="1800" dirty="0"/>
              <a:t>(*) alcune </a:t>
            </a:r>
            <a:r>
              <a:rPr lang="it-IT" sz="1800" i="1" dirty="0" err="1"/>
              <a:t>slides</a:t>
            </a:r>
            <a:r>
              <a:rPr lang="it-IT" sz="1800" dirty="0"/>
              <a:t> sono di </a:t>
            </a:r>
          </a:p>
          <a:p>
            <a:pPr eaLnBrk="1" hangingPunct="1"/>
            <a:r>
              <a:rPr lang="it-IT" sz="1800" dirty="0"/>
              <a:t>    Maria Simi (</a:t>
            </a:r>
            <a:r>
              <a:rPr lang="it-IT" sz="1800" dirty="0" err="1"/>
              <a:t>Univ</a:t>
            </a:r>
            <a:r>
              <a:rPr lang="it-IT" sz="1800" dirty="0"/>
              <a:t>. Pisa)</a:t>
            </a:r>
          </a:p>
        </p:txBody>
      </p:sp>
      <p:sp>
        <p:nvSpPr>
          <p:cNvPr id="15362" name="Segnaposto numero diapositiva 5"/>
          <p:cNvSpPr>
            <a:spLocks noGrp="1"/>
          </p:cNvSpPr>
          <p:nvPr>
            <p:ph type="sldNum" sz="quarter" idx="4294967295"/>
          </p:nvPr>
        </p:nvSpPr>
        <p:spPr>
          <a:xfrm>
            <a:off x="8077200" y="19050"/>
            <a:ext cx="1066800" cy="328613"/>
          </a:xfrm>
          <a:prstGeom prst="rect">
            <a:avLst/>
          </a:prstGeom>
          <a:noFill/>
        </p:spPr>
        <p:txBody>
          <a:bodyPr/>
          <a:lstStyle/>
          <a:p>
            <a:pPr algn="r"/>
            <a:fld id="{2C68BC1F-87CB-40A1-8F6A-CD9FD962540F}" type="slidenum">
              <a:rPr lang="it-IT" smtClean="0">
                <a:latin typeface="Times New Roman" pitchFamily="16" charset="0"/>
              </a:rPr>
              <a:pPr algn="r"/>
              <a:t>1</a:t>
            </a:fld>
            <a:endParaRPr lang="it-IT" dirty="0">
              <a:latin typeface="Times New Roman" pitchFamily="16" charset="0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852" y="3645024"/>
            <a:ext cx="6528724" cy="3672408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394128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Overview</a:t>
            </a:r>
            <a:endParaRPr lang="en-GB" dirty="0"/>
          </a:p>
        </p:txBody>
      </p:sp>
      <p:sp>
        <p:nvSpPr>
          <p:cNvPr id="7" name="Segnaposto test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4294967295"/>
          </p:nvPr>
        </p:nvSpPr>
        <p:spPr>
          <a:xfrm>
            <a:off x="8077200" y="19050"/>
            <a:ext cx="1066800" cy="328613"/>
          </a:xfrm>
          <a:prstGeom prst="rect">
            <a:avLst/>
          </a:prstGeom>
        </p:spPr>
        <p:txBody>
          <a:bodyPr/>
          <a:lstStyle/>
          <a:p>
            <a:fld id="{1E4679F8-E171-4E7B-8AA5-77A2802B5174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09600" y="1752600"/>
            <a:ext cx="8229600" cy="48768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63525" indent="-263525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 err="1"/>
              <a:t>Risoluzione</a:t>
            </a:r>
            <a:r>
              <a:rPr lang="en-US" altLang="en-US" dirty="0"/>
              <a:t> di </a:t>
            </a:r>
            <a:r>
              <a:rPr lang="en-US" altLang="en-US" dirty="0" err="1"/>
              <a:t>problemi</a:t>
            </a:r>
            <a:r>
              <a:rPr lang="en-US" altLang="en-US" dirty="0"/>
              <a:t> e </a:t>
            </a:r>
            <a:r>
              <a:rPr lang="en-US" altLang="en-US" dirty="0" err="1"/>
              <a:t>ricerca</a:t>
            </a:r>
            <a:r>
              <a:rPr lang="en-US" altLang="en-US" dirty="0"/>
              <a:t>: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 err="1"/>
              <a:t>Esemi</a:t>
            </a:r>
            <a:r>
              <a:rPr lang="en-US" altLang="en-US" dirty="0"/>
              <a:t> di </a:t>
            </a:r>
            <a:r>
              <a:rPr lang="en-US" altLang="en-US" dirty="0" err="1"/>
              <a:t>problemi</a:t>
            </a:r>
            <a:r>
              <a:rPr lang="en-US" altLang="en-US" dirty="0"/>
              <a:t> e </a:t>
            </a:r>
            <a:r>
              <a:rPr lang="en-US" altLang="en-US" dirty="0" err="1"/>
              <a:t>loro</a:t>
            </a:r>
            <a:r>
              <a:rPr lang="en-US" altLang="en-US" dirty="0"/>
              <a:t> </a:t>
            </a:r>
            <a:r>
              <a:rPr lang="en-US" altLang="en-US" dirty="0" err="1"/>
              <a:t>mappatura</a:t>
            </a:r>
            <a:r>
              <a:rPr lang="en-US" altLang="en-US" dirty="0"/>
              <a:t> in </a:t>
            </a:r>
            <a:r>
              <a:rPr lang="en-US" altLang="en-US" dirty="0" err="1"/>
              <a:t>problemi</a:t>
            </a:r>
            <a:r>
              <a:rPr lang="en-US" altLang="en-US" dirty="0"/>
              <a:t> di </a:t>
            </a:r>
            <a:r>
              <a:rPr lang="en-US" altLang="en-US" dirty="0" err="1"/>
              <a:t>ricerca</a:t>
            </a:r>
            <a:r>
              <a:rPr lang="en-US" altLang="en-US" dirty="0"/>
              <a:t> (</a:t>
            </a:r>
            <a:r>
              <a:rPr lang="en-US" altLang="en-US" dirty="0" err="1"/>
              <a:t>PdR</a:t>
            </a:r>
            <a:r>
              <a:rPr lang="en-US" altLang="en-US" dirty="0"/>
              <a:t>)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 err="1"/>
              <a:t>Formalizzazione</a:t>
            </a:r>
            <a:r>
              <a:rPr lang="en-US" altLang="en-US" dirty="0"/>
              <a:t> di un </a:t>
            </a:r>
            <a:r>
              <a:rPr lang="en-US" altLang="en-US" dirty="0" err="1"/>
              <a:t>PdR</a:t>
            </a:r>
            <a:endParaRPr lang="en-US" altLang="en-US" dirty="0"/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 err="1"/>
              <a:t>Obbiettivi</a:t>
            </a:r>
            <a:r>
              <a:rPr lang="en-US" altLang="en-US" dirty="0"/>
              <a:t>, </a:t>
            </a:r>
            <a:r>
              <a:rPr lang="en-US" altLang="en-US" dirty="0" err="1"/>
              <a:t>Stati</a:t>
            </a:r>
            <a:r>
              <a:rPr lang="en-US" altLang="en-US" dirty="0"/>
              <a:t>, </a:t>
            </a:r>
            <a:r>
              <a:rPr lang="en-US" altLang="en-US" dirty="0" err="1"/>
              <a:t>Azioni</a:t>
            </a:r>
            <a:r>
              <a:rPr lang="en-US" altLang="en-US" dirty="0"/>
              <a:t>, </a:t>
            </a:r>
            <a:r>
              <a:rPr lang="en-US" altLang="en-US" dirty="0" err="1"/>
              <a:t>Transizioni</a:t>
            </a:r>
            <a:r>
              <a:rPr lang="en-US" altLang="en-US" dirty="0"/>
              <a:t> e </a:t>
            </a:r>
            <a:r>
              <a:rPr lang="en-US" altLang="en-US" dirty="0" err="1"/>
              <a:t>Costo</a:t>
            </a:r>
            <a:endParaRPr lang="en-US" altLang="en-US" dirty="0"/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 err="1"/>
              <a:t>Algoritmi</a:t>
            </a:r>
            <a:r>
              <a:rPr lang="en-US" altLang="en-US" dirty="0"/>
              <a:t> di </a:t>
            </a:r>
            <a:r>
              <a:rPr lang="en-US" altLang="en-US" dirty="0" err="1"/>
              <a:t>Ricerca</a:t>
            </a:r>
            <a:r>
              <a:rPr lang="en-US" altLang="en-US" dirty="0"/>
              <a:t> (</a:t>
            </a:r>
            <a:r>
              <a:rPr lang="en-US" altLang="en-US" dirty="0" err="1"/>
              <a:t>AdR</a:t>
            </a:r>
            <a:r>
              <a:rPr lang="en-US" altLang="en-US" dirty="0"/>
              <a:t>)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 err="1"/>
              <a:t>Strutture</a:t>
            </a:r>
            <a:r>
              <a:rPr lang="en-US" altLang="en-US" dirty="0"/>
              <a:t> </a:t>
            </a:r>
            <a:r>
              <a:rPr lang="en-US" altLang="en-US" dirty="0" err="1"/>
              <a:t>Dati</a:t>
            </a:r>
            <a:r>
              <a:rPr lang="en-US" altLang="en-US" dirty="0"/>
              <a:t> </a:t>
            </a:r>
            <a:r>
              <a:rPr lang="en-US" altLang="en-US" dirty="0" err="1"/>
              <a:t>coinvolte</a:t>
            </a:r>
            <a:endParaRPr lang="en-US" altLang="en-US" dirty="0"/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 err="1"/>
              <a:t>Valutazione</a:t>
            </a:r>
            <a:r>
              <a:rPr lang="en-US" altLang="en-US" dirty="0"/>
              <a:t> </a:t>
            </a:r>
            <a:r>
              <a:rPr lang="en-US" altLang="en-US" dirty="0" err="1"/>
              <a:t>Algoritmi</a:t>
            </a:r>
            <a:r>
              <a:rPr lang="en-US" altLang="en-US" dirty="0"/>
              <a:t> di </a:t>
            </a:r>
            <a:r>
              <a:rPr lang="en-US" altLang="en-US" dirty="0" err="1"/>
              <a:t>Ricerca</a:t>
            </a:r>
            <a:r>
              <a:rPr lang="en-US" altLang="en-US" dirty="0"/>
              <a:t>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 err="1"/>
              <a:t>Algoritmi</a:t>
            </a:r>
            <a:r>
              <a:rPr lang="en-US" altLang="en-US" dirty="0"/>
              <a:t> non </a:t>
            </a:r>
            <a:r>
              <a:rPr lang="en-US" altLang="en-US" dirty="0" err="1"/>
              <a:t>informati</a:t>
            </a:r>
            <a:endParaRPr lang="en-US" altLang="en-US" dirty="0"/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Breadth-first, Depth-first, Uniform Cost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en-US" dirty="0" err="1"/>
              <a:t>Profondità</a:t>
            </a:r>
            <a:r>
              <a:rPr lang="en-US" altLang="en-US" dirty="0"/>
              <a:t> </a:t>
            </a:r>
            <a:r>
              <a:rPr lang="en-US" altLang="en-US" dirty="0" err="1"/>
              <a:t>Limitata</a:t>
            </a:r>
            <a:r>
              <a:rPr lang="en-US" altLang="en-US" dirty="0"/>
              <a:t>, </a:t>
            </a:r>
            <a:r>
              <a:rPr lang="en-US" altLang="en-US" dirty="0" err="1"/>
              <a:t>Approfondimento</a:t>
            </a:r>
            <a:r>
              <a:rPr lang="en-US" altLang="en-US" dirty="0"/>
              <a:t> </a:t>
            </a:r>
            <a:r>
              <a:rPr lang="en-US" altLang="en-US" dirty="0" err="1"/>
              <a:t>Iterativo</a:t>
            </a:r>
            <a:endParaRPr lang="en-US" altLang="en-US" dirty="0"/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95190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8463" y="620713"/>
            <a:ext cx="8637587" cy="7699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Agenti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i="1" dirty="0" err="1">
                <a:ea typeface="+mj-ea"/>
                <a:cs typeface="+mj-cs"/>
              </a:rPr>
              <a:t>risolutori</a:t>
            </a:r>
            <a:r>
              <a:rPr lang="en-US" sz="4400" i="1" dirty="0">
                <a:ea typeface="+mj-ea"/>
                <a:cs typeface="+mj-cs"/>
              </a:rPr>
              <a:t> di </a:t>
            </a:r>
            <a:r>
              <a:rPr lang="en-US" sz="4400" i="1" dirty="0" err="1">
                <a:ea typeface="+mj-ea"/>
                <a:cs typeface="+mj-cs"/>
              </a:rPr>
              <a:t>problemi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Adottano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paradigma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della</a:t>
            </a:r>
            <a:r>
              <a:rPr lang="en-US" altLang="en-US" sz="2800" dirty="0"/>
              <a:t> </a:t>
            </a:r>
            <a:r>
              <a:rPr lang="en-US" altLang="en-US" sz="2800" dirty="0" err="1">
                <a:solidFill>
                  <a:srgbClr val="009999"/>
                </a:solidFill>
              </a:rPr>
              <a:t>risoluzione</a:t>
            </a:r>
            <a:r>
              <a:rPr lang="en-US" altLang="en-US" sz="2800" dirty="0">
                <a:solidFill>
                  <a:srgbClr val="009999"/>
                </a:solidFill>
              </a:rPr>
              <a:t> di </a:t>
            </a:r>
            <a:r>
              <a:rPr lang="en-US" altLang="en-US" sz="2800" dirty="0" err="1">
                <a:solidFill>
                  <a:srgbClr val="009999"/>
                </a:solidFill>
              </a:rPr>
              <a:t>problemi</a:t>
            </a:r>
            <a:r>
              <a:rPr lang="en-US" altLang="en-US" sz="2800" dirty="0">
                <a:solidFill>
                  <a:srgbClr val="009999"/>
                </a:solidFill>
              </a:rPr>
              <a:t> come </a:t>
            </a:r>
            <a:r>
              <a:rPr lang="en-US" altLang="en-US" sz="2800" dirty="0" err="1">
                <a:solidFill>
                  <a:srgbClr val="009999"/>
                </a:solidFill>
              </a:rPr>
              <a:t>ricerca</a:t>
            </a:r>
            <a:r>
              <a:rPr lang="en-US" altLang="en-US" sz="2800" dirty="0">
                <a:solidFill>
                  <a:srgbClr val="009999"/>
                </a:solidFill>
              </a:rPr>
              <a:t> </a:t>
            </a:r>
            <a:r>
              <a:rPr lang="en-US" altLang="en-US" sz="2800" dirty="0"/>
              <a:t>in </a:t>
            </a:r>
            <a:r>
              <a:rPr lang="en-US" altLang="en-US" sz="2800" dirty="0" err="1"/>
              <a:t>uno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spazio</a:t>
            </a:r>
            <a:r>
              <a:rPr lang="en-US" altLang="en-US" sz="2800" dirty="0"/>
              <a:t> di </a:t>
            </a:r>
            <a:r>
              <a:rPr lang="en-US" altLang="en-US" sz="2800" dirty="0" err="1"/>
              <a:t>stati</a:t>
            </a:r>
            <a:r>
              <a:rPr lang="en-US" altLang="en-US" sz="2800" dirty="0"/>
              <a:t> (</a:t>
            </a:r>
            <a:r>
              <a:rPr lang="en-US" altLang="en-US" sz="2800" i="1" dirty="0"/>
              <a:t>problem solving</a:t>
            </a:r>
            <a:r>
              <a:rPr lang="en-US" altLang="en-US" sz="2800" dirty="0"/>
              <a:t>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Sono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agenti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modello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adottano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una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rappresentazione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atomica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dello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stato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Sono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particolari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agenti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obiettivo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che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pianificano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l’intera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sequenza</a:t>
            </a:r>
            <a:r>
              <a:rPr lang="en-US" altLang="en-US" sz="2800" dirty="0"/>
              <a:t> di </a:t>
            </a:r>
            <a:r>
              <a:rPr lang="en-US" altLang="en-US" sz="2800" dirty="0" err="1"/>
              <a:t>mosse</a:t>
            </a:r>
            <a:r>
              <a:rPr lang="en-US" altLang="en-US" sz="2800" dirty="0"/>
              <a:t> prima di </a:t>
            </a:r>
            <a:r>
              <a:rPr lang="en-US" altLang="en-US" sz="2800" dirty="0" err="1"/>
              <a:t>agire</a:t>
            </a:r>
            <a:endParaRPr lang="en-US" altLang="en-US" sz="2800" dirty="0"/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5018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8463" y="620713"/>
            <a:ext cx="8637587" cy="7699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>
                <a:ea typeface="+mj-ea"/>
                <a:cs typeface="+mj-cs"/>
              </a:rPr>
              <a:t>Il </a:t>
            </a:r>
            <a:r>
              <a:rPr lang="en-US" sz="4400" dirty="0" err="1">
                <a:ea typeface="+mj-ea"/>
                <a:cs typeface="+mj-cs"/>
              </a:rPr>
              <a:t>processo</a:t>
            </a:r>
            <a:r>
              <a:rPr lang="en-US" sz="4400" dirty="0">
                <a:ea typeface="+mj-ea"/>
                <a:cs typeface="+mj-cs"/>
              </a:rPr>
              <a:t> di </a:t>
            </a:r>
            <a:r>
              <a:rPr lang="en-US" sz="4400" dirty="0" err="1">
                <a:ea typeface="+mj-ea"/>
                <a:cs typeface="+mj-cs"/>
              </a:rPr>
              <a:t>risoluzione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Passi</a:t>
            </a:r>
            <a:r>
              <a:rPr lang="en-US" altLang="en-US" sz="2800" dirty="0"/>
              <a:t> </a:t>
            </a:r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da seguire nel processo di risoluzione da parte del</a:t>
            </a:r>
            <a:r>
              <a:rPr lang="en-US" altLang="en-US" sz="2800" dirty="0" err="1"/>
              <a:t>l’agente</a:t>
            </a:r>
            <a:r>
              <a:rPr lang="en-US" altLang="en-US" sz="2800" dirty="0"/>
              <a:t>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1. </a:t>
            </a:r>
            <a:r>
              <a:rPr lang="en-US" altLang="en-US" sz="2400" dirty="0" err="1"/>
              <a:t>Determinazione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obiettivo</a:t>
            </a:r>
            <a:r>
              <a:rPr lang="en-US" altLang="en-US" sz="2400" dirty="0"/>
              <a:t> (un </a:t>
            </a:r>
            <a:r>
              <a:rPr lang="en-US" altLang="en-US" sz="2400" dirty="0" err="1"/>
              <a:t>insieme</a:t>
            </a:r>
            <a:r>
              <a:rPr lang="en-US" altLang="en-US" sz="2400" dirty="0"/>
              <a:t> di </a:t>
            </a:r>
            <a:r>
              <a:rPr lang="en-US" altLang="en-US" sz="2400" dirty="0" err="1"/>
              <a:t>stati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2. </a:t>
            </a:r>
            <a:r>
              <a:rPr lang="en-US" altLang="en-US" sz="2400" dirty="0" err="1"/>
              <a:t>Formulazione</a:t>
            </a:r>
            <a:r>
              <a:rPr lang="en-US" altLang="en-US" sz="2400" dirty="0"/>
              <a:t> del </a:t>
            </a:r>
            <a:r>
              <a:rPr lang="en-US" altLang="en-US" sz="2400" dirty="0" err="1"/>
              <a:t>problema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- </a:t>
            </a:r>
            <a:r>
              <a:rPr lang="en-US" altLang="en-US" sz="2400" dirty="0" err="1"/>
              <a:t>rappresentazione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degli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stati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- </a:t>
            </a:r>
            <a:r>
              <a:rPr lang="en-US" altLang="en-US" sz="2400" dirty="0" err="1"/>
              <a:t>rappresentazione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delle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azioni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3. </a:t>
            </a:r>
            <a:r>
              <a:rPr lang="en-US" altLang="en-US" sz="2400" dirty="0" err="1"/>
              <a:t>Determinazione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della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soluzione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mediante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ricerca</a:t>
            </a:r>
            <a:r>
              <a:rPr lang="en-US" altLang="en-US" sz="2400" dirty="0"/>
              <a:t> (</a:t>
            </a:r>
            <a:r>
              <a:rPr lang="en-US" altLang="en-US" sz="2400" dirty="0" err="1"/>
              <a:t>definizione</a:t>
            </a:r>
            <a:r>
              <a:rPr lang="en-US" altLang="en-US" sz="2400" dirty="0"/>
              <a:t>/</a:t>
            </a:r>
            <a:r>
              <a:rPr lang="en-US" altLang="en-US" sz="2400" dirty="0" err="1"/>
              <a:t>costruzione</a:t>
            </a:r>
            <a:r>
              <a:rPr lang="en-US" altLang="en-US" sz="2400" dirty="0"/>
              <a:t> di un piano)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4. </a:t>
            </a:r>
            <a:r>
              <a:rPr lang="en-US" altLang="en-US" sz="2400" dirty="0" err="1"/>
              <a:t>Esecuzione</a:t>
            </a:r>
            <a:r>
              <a:rPr lang="en-US" altLang="en-US" sz="2400" dirty="0"/>
              <a:t> del piano, una azione </a:t>
            </a:r>
            <a:r>
              <a:rPr lang="en-US" altLang="en-US" sz="2400" dirty="0" err="1"/>
              <a:t>alla</a:t>
            </a:r>
            <a:r>
              <a:rPr lang="en-US" altLang="en-US" sz="2400" dirty="0"/>
              <a:t> volta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7655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143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Che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tipo</a:t>
            </a:r>
            <a:r>
              <a:rPr lang="en-US" sz="4400" dirty="0">
                <a:ea typeface="+mj-ea"/>
                <a:cs typeface="+mj-cs"/>
              </a:rPr>
              <a:t> di </a:t>
            </a:r>
            <a:r>
              <a:rPr lang="en-US" sz="4400" dirty="0" err="1">
                <a:ea typeface="+mj-ea"/>
                <a:cs typeface="+mj-cs"/>
              </a:rPr>
              <a:t>assunzioni</a:t>
            </a:r>
            <a:r>
              <a:rPr lang="en-US" sz="4400" dirty="0">
                <a:ea typeface="+mj-ea"/>
                <a:cs typeface="+mj-cs"/>
              </a:rPr>
              <a:t>?</a:t>
            </a:r>
            <a:endParaRPr lang="it-IT" sz="4400" dirty="0">
              <a:ea typeface="+mj-ea"/>
              <a:cs typeface="+mj-cs"/>
            </a:endParaRP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In </a:t>
            </a:r>
            <a:r>
              <a:rPr lang="en-US" altLang="en-US" dirty="0" err="1"/>
              <a:t>genere</a:t>
            </a:r>
            <a:r>
              <a:rPr lang="en-US" altLang="en-US" dirty="0"/>
              <a:t>, </a:t>
            </a:r>
            <a:r>
              <a:rPr lang="en-US" altLang="en-US" dirty="0" err="1"/>
              <a:t>l’ambiente</a:t>
            </a:r>
            <a:r>
              <a:rPr lang="en-US" altLang="en-US" dirty="0"/>
              <a:t> è </a:t>
            </a:r>
            <a:r>
              <a:rPr lang="en-US" altLang="en-US" b="1" dirty="0" err="1">
                <a:solidFill>
                  <a:schemeClr val="bg2">
                    <a:lumMod val="50000"/>
                  </a:schemeClr>
                </a:solidFill>
              </a:rPr>
              <a:t>statico</a:t>
            </a:r>
            <a:endParaRPr lang="en-US" alt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eaLnBrk="1" hangingPunct="1"/>
            <a:r>
              <a:rPr lang="en-US" altLang="en-US" dirty="0"/>
              <a:t> … e </a:t>
            </a:r>
            <a:r>
              <a:rPr lang="en-US" altLang="en-US" b="1" dirty="0" err="1">
                <a:solidFill>
                  <a:schemeClr val="bg2">
                    <a:lumMod val="50000"/>
                  </a:schemeClr>
                </a:solidFill>
              </a:rPr>
              <a:t>osservabile</a:t>
            </a:r>
            <a:endParaRPr lang="en-US" alt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eaLnBrk="1" hangingPunct="1"/>
            <a:r>
              <a:rPr lang="en-US" altLang="en-US" dirty="0"/>
              <a:t>…. </a:t>
            </a:r>
            <a:r>
              <a:rPr lang="en-US" altLang="en-US" b="1" dirty="0" err="1">
                <a:solidFill>
                  <a:schemeClr val="bg2">
                    <a:lumMod val="50000"/>
                  </a:schemeClr>
                </a:solidFill>
              </a:rPr>
              <a:t>discreto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 err="1"/>
              <a:t>L’insieme</a:t>
            </a:r>
            <a:r>
              <a:rPr lang="en-US" altLang="en-US" dirty="0"/>
              <a:t> di </a:t>
            </a:r>
            <a:r>
              <a:rPr lang="en-US" altLang="en-US" dirty="0" err="1"/>
              <a:t>azioni</a:t>
            </a:r>
            <a:r>
              <a:rPr lang="en-US" altLang="en-US" dirty="0"/>
              <a:t> </a:t>
            </a:r>
            <a:r>
              <a:rPr lang="en-US" altLang="en-US" dirty="0" err="1"/>
              <a:t>possibili</a:t>
            </a:r>
            <a:r>
              <a:rPr lang="en-US" altLang="en-US" dirty="0"/>
              <a:t> è un </a:t>
            </a:r>
            <a:r>
              <a:rPr lang="en-US" altLang="en-US" dirty="0" err="1"/>
              <a:t>numero</a:t>
            </a:r>
            <a:r>
              <a:rPr lang="en-US" altLang="en-US" dirty="0"/>
              <a:t> </a:t>
            </a:r>
            <a:r>
              <a:rPr lang="en-US" altLang="en-US" dirty="0" err="1"/>
              <a:t>finito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/>
              <a:t> e </a:t>
            </a:r>
            <a:r>
              <a:rPr lang="en-US" altLang="en-US" b="1" dirty="0" err="1">
                <a:solidFill>
                  <a:schemeClr val="bg2">
                    <a:lumMod val="50000"/>
                  </a:schemeClr>
                </a:solidFill>
              </a:rPr>
              <a:t>deterministico</a:t>
            </a:r>
            <a:endParaRPr lang="en-US" alt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lvl="1" eaLnBrk="1" hangingPunct="1"/>
            <a:r>
              <a:rPr lang="en-US" altLang="en-US" dirty="0"/>
              <a:t>Si assume </a:t>
            </a:r>
            <a:r>
              <a:rPr lang="en-US" altLang="en-US" dirty="0" err="1"/>
              <a:t>che</a:t>
            </a:r>
            <a:r>
              <a:rPr lang="en-US" altLang="en-US" dirty="0"/>
              <a:t> </a:t>
            </a:r>
            <a:r>
              <a:rPr lang="en-US" altLang="en-US" dirty="0" err="1"/>
              <a:t>l’agente</a:t>
            </a:r>
            <a:r>
              <a:rPr lang="en-US" altLang="en-US" dirty="0"/>
              <a:t> </a:t>
            </a:r>
            <a:r>
              <a:rPr lang="en-US" altLang="en-US" dirty="0" err="1"/>
              <a:t>possa</a:t>
            </a:r>
            <a:r>
              <a:rPr lang="en-US" altLang="en-US" dirty="0"/>
              <a:t> </a:t>
            </a:r>
            <a:r>
              <a:rPr lang="en-US" altLang="en-US" dirty="0" err="1"/>
              <a:t>eseguire</a:t>
            </a:r>
            <a:r>
              <a:rPr lang="en-US" altLang="en-US" dirty="0"/>
              <a:t> </a:t>
            </a:r>
            <a:r>
              <a:rPr lang="en-US" altLang="en-US" dirty="0" err="1"/>
              <a:t>il</a:t>
            </a:r>
            <a:r>
              <a:rPr lang="en-US" altLang="en-US" dirty="0"/>
              <a:t> piano “ad </a:t>
            </a:r>
            <a:r>
              <a:rPr lang="en-US" altLang="en-US" dirty="0" err="1"/>
              <a:t>occhi</a:t>
            </a:r>
            <a:r>
              <a:rPr lang="en-US" altLang="en-US" dirty="0"/>
              <a:t> </a:t>
            </a:r>
            <a:r>
              <a:rPr lang="en-US" altLang="en-US" dirty="0" err="1"/>
              <a:t>chiusi</a:t>
            </a:r>
            <a:r>
              <a:rPr lang="en-US" altLang="en-US" dirty="0"/>
              <a:t>”. </a:t>
            </a:r>
            <a:r>
              <a:rPr lang="en-US" altLang="en-US" dirty="0" err="1"/>
              <a:t>Niente</a:t>
            </a:r>
            <a:r>
              <a:rPr lang="en-US" altLang="en-US" dirty="0"/>
              <a:t> </a:t>
            </a:r>
            <a:r>
              <a:rPr lang="en-US" altLang="en-US" dirty="0" err="1"/>
              <a:t>pu</a:t>
            </a:r>
            <a:r>
              <a:rPr lang="en-US" altLang="ja-JP" dirty="0" err="1"/>
              <a:t>ò</a:t>
            </a:r>
            <a:r>
              <a:rPr lang="en-US" altLang="ja-JP" dirty="0"/>
              <a:t> </a:t>
            </a:r>
            <a:r>
              <a:rPr lang="en-US" altLang="ja-JP" dirty="0" err="1"/>
              <a:t>andare</a:t>
            </a:r>
            <a:r>
              <a:rPr lang="en-US" altLang="ja-JP" dirty="0"/>
              <a:t> </a:t>
            </a:r>
            <a:r>
              <a:rPr lang="en-US" altLang="ja-JP" dirty="0" err="1"/>
              <a:t>storto</a:t>
            </a:r>
            <a:r>
              <a:rPr lang="en-US" altLang="ja-JP" dirty="0"/>
              <a:t>.</a:t>
            </a:r>
            <a:endParaRPr lang="it-IT" altLang="en-US" dirty="0"/>
          </a:p>
        </p:txBody>
      </p:sp>
    </p:spTree>
    <p:extLst>
      <p:ext uri="{BB962C8B-B14F-4D97-AF65-F5344CB8AC3E}">
        <p14:creationId xmlns:p14="http://schemas.microsoft.com/office/powerpoint/2010/main" val="193313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143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>
                <a:ea typeface="+mj-ea"/>
                <a:cs typeface="+mj-cs"/>
              </a:rPr>
              <a:t>Formulazione del problema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00358" name="Rectangle 6"/>
          <p:cNvSpPr>
            <a:spLocks noGrp="1" noChangeArrowheads="1"/>
          </p:cNvSpPr>
          <p:nvPr>
            <p:ph idx="1"/>
          </p:nvPr>
        </p:nvSpPr>
        <p:spPr>
          <a:xfrm>
            <a:off x="468313" y="2781300"/>
            <a:ext cx="8135937" cy="352742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en-US" dirty="0" err="1"/>
              <a:t>Stato</a:t>
            </a:r>
            <a:r>
              <a:rPr lang="en-US" altLang="en-US" dirty="0"/>
              <a:t> </a:t>
            </a:r>
            <a:r>
              <a:rPr lang="en-US" altLang="en-US" dirty="0" err="1"/>
              <a:t>iniziale</a:t>
            </a:r>
            <a:endParaRPr lang="en-US" altLang="en-US" dirty="0"/>
          </a:p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en-US" dirty="0" err="1"/>
              <a:t>Azioni</a:t>
            </a:r>
            <a:r>
              <a:rPr lang="en-US" altLang="en-US" dirty="0"/>
              <a:t> </a:t>
            </a:r>
            <a:r>
              <a:rPr lang="en-US" altLang="en-US" dirty="0" err="1"/>
              <a:t>possibili</a:t>
            </a:r>
            <a:r>
              <a:rPr lang="en-US" altLang="en-US" dirty="0"/>
              <a:t> in </a:t>
            </a:r>
            <a:r>
              <a:rPr lang="en-US" altLang="en-US" i="1" dirty="0"/>
              <a:t>s</a:t>
            </a:r>
            <a:r>
              <a:rPr lang="en-US" altLang="en-US" dirty="0"/>
              <a:t>: </a:t>
            </a:r>
            <a:r>
              <a:rPr lang="en-US" altLang="en-US" cap="small" dirty="0" err="1"/>
              <a:t>Azioni</a:t>
            </a:r>
            <a:r>
              <a:rPr lang="en-US" altLang="en-US" dirty="0"/>
              <a:t>(</a:t>
            </a:r>
            <a:r>
              <a:rPr lang="en-US" altLang="en-US" i="1" dirty="0"/>
              <a:t>s</a:t>
            </a:r>
            <a:r>
              <a:rPr lang="en-US" altLang="en-US" dirty="0"/>
              <a:t>)</a:t>
            </a:r>
          </a:p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en-US" dirty="0" err="1"/>
              <a:t>Modello</a:t>
            </a:r>
            <a:r>
              <a:rPr lang="en-US" altLang="en-US" dirty="0"/>
              <a:t> di </a:t>
            </a:r>
            <a:r>
              <a:rPr lang="en-US" altLang="en-US" dirty="0" err="1"/>
              <a:t>transizione</a:t>
            </a:r>
            <a:r>
              <a:rPr lang="en-US" altLang="en-US" dirty="0"/>
              <a:t>:</a:t>
            </a:r>
          </a:p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Risultato</a:t>
            </a:r>
            <a:r>
              <a:rPr lang="en-US" altLang="en-US" dirty="0"/>
              <a:t>: </a:t>
            </a:r>
            <a:r>
              <a:rPr lang="en-US" altLang="en-US" i="1" dirty="0" err="1"/>
              <a:t>stato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</a:t>
            </a:r>
            <a:r>
              <a:rPr lang="en-US" altLang="en-US" dirty="0"/>
              <a:t> </a:t>
            </a:r>
            <a:r>
              <a:rPr lang="en-US" altLang="en-US" i="1" dirty="0" err="1"/>
              <a:t>azione</a:t>
            </a:r>
            <a:r>
              <a:rPr lang="en-US" altLang="en-US" dirty="0"/>
              <a:t> </a:t>
            </a:r>
            <a:r>
              <a:rPr lang="en-GB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GB" altLang="en-US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stato</a:t>
            </a:r>
            <a:endParaRPr lang="en-GB" altLang="en-US" i="1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GB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GB" altLang="en-US" cap="small" dirty="0" err="1">
                <a:cs typeface="Times New Roman" panose="02020603050405020304" pitchFamily="18" charset="0"/>
                <a:sym typeface="Symbol" panose="05050102010706020507" pitchFamily="18" charset="2"/>
              </a:rPr>
              <a:t>Risultato</a:t>
            </a:r>
            <a:r>
              <a:rPr lang="en-GB" alt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(s, a) = s’</a:t>
            </a:r>
            <a:r>
              <a:rPr lang="en-GB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GB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uno</a:t>
            </a:r>
            <a:r>
              <a:rPr lang="en-GB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GB" altLang="en-US" dirty="0" err="1">
                <a:cs typeface="Times New Roman" panose="02020603050405020304" pitchFamily="18" charset="0"/>
                <a:sym typeface="Symbol" panose="05050102010706020507" pitchFamily="18" charset="2"/>
              </a:rPr>
              <a:t>stato</a:t>
            </a:r>
            <a:r>
              <a:rPr lang="en-GB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GB" altLang="en-US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successore</a:t>
            </a:r>
            <a:endParaRPr lang="en-US" altLang="en-US" dirty="0">
              <a:solidFill>
                <a:srgbClr val="009999"/>
              </a:solidFill>
            </a:endParaRPr>
          </a:p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dirty="0"/>
          </a:p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dirty="0"/>
              <a:t>1, 2 e 3 </a:t>
            </a:r>
            <a:r>
              <a:rPr lang="en-US" altLang="en-US" dirty="0" err="1"/>
              <a:t>definiscono</a:t>
            </a:r>
            <a:r>
              <a:rPr lang="en-US" altLang="en-US" dirty="0"/>
              <a:t> </a:t>
            </a:r>
            <a:r>
              <a:rPr lang="en-US" altLang="en-US" dirty="0" err="1"/>
              <a:t>implicitamente</a:t>
            </a:r>
            <a:r>
              <a:rPr lang="en-US" altLang="en-US" dirty="0"/>
              <a:t> 		    lo </a:t>
            </a:r>
            <a:r>
              <a:rPr lang="en-US" altLang="en-US" i="1" dirty="0" err="1">
                <a:solidFill>
                  <a:srgbClr val="009999"/>
                </a:solidFill>
              </a:rPr>
              <a:t>spazio</a:t>
            </a:r>
            <a:r>
              <a:rPr lang="en-US" altLang="en-US" i="1" dirty="0">
                <a:solidFill>
                  <a:srgbClr val="009999"/>
                </a:solidFill>
              </a:rPr>
              <a:t> </a:t>
            </a:r>
            <a:r>
              <a:rPr lang="en-US" altLang="en-US" i="1" dirty="0" err="1">
                <a:solidFill>
                  <a:srgbClr val="009999"/>
                </a:solidFill>
              </a:rPr>
              <a:t>degli</a:t>
            </a:r>
            <a:r>
              <a:rPr lang="en-US" altLang="en-US" i="1" dirty="0">
                <a:solidFill>
                  <a:srgbClr val="009999"/>
                </a:solidFill>
              </a:rPr>
              <a:t> </a:t>
            </a:r>
            <a:r>
              <a:rPr lang="en-US" altLang="en-US" i="1" dirty="0" err="1">
                <a:solidFill>
                  <a:srgbClr val="009999"/>
                </a:solidFill>
              </a:rPr>
              <a:t>stati</a:t>
            </a:r>
            <a:endParaRPr lang="en-US" altLang="en-US" dirty="0">
              <a:solidFill>
                <a:srgbClr val="009999"/>
              </a:solidFill>
            </a:endParaRPr>
          </a:p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AutoNum type="arabicPeriod" startAt="4"/>
            </a:pPr>
            <a:endParaRPr lang="en-GB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304800" y="1981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it-IT" b="0">
              <a:latin typeface="Times New Roman" charset="0"/>
              <a:ea typeface="ＭＳ Ｐゴシック" charset="0"/>
            </a:endParaRPr>
          </a:p>
        </p:txBody>
      </p:sp>
      <p:sp>
        <p:nvSpPr>
          <p:cNvPr id="100362" name="Text Box 10"/>
          <p:cNvSpPr txBox="1">
            <a:spLocks noChangeArrowheads="1"/>
          </p:cNvSpPr>
          <p:nvPr/>
        </p:nvSpPr>
        <p:spPr bwMode="auto">
          <a:xfrm>
            <a:off x="304800" y="17526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it-IT" b="0">
              <a:latin typeface="Times New Roman" charset="0"/>
              <a:ea typeface="ＭＳ Ｐゴシック" charset="0"/>
            </a:endParaRPr>
          </a:p>
        </p:txBody>
      </p:sp>
      <p:sp>
        <p:nvSpPr>
          <p:cNvPr id="100363" name="Text Box 11"/>
          <p:cNvSpPr txBox="1">
            <a:spLocks noChangeArrowheads="1"/>
          </p:cNvSpPr>
          <p:nvPr/>
        </p:nvSpPr>
        <p:spPr bwMode="auto">
          <a:xfrm>
            <a:off x="381000" y="1676400"/>
            <a:ext cx="8153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0" dirty="0">
                <a:latin typeface="+mj-lt"/>
                <a:ea typeface="ＭＳ Ｐゴシック" charset="0"/>
                <a:cs typeface="Times New Roman" charset="0"/>
              </a:rPr>
              <a:t>Un </a:t>
            </a:r>
            <a:r>
              <a:rPr lang="en-US" sz="2800" b="0" dirty="0" err="1">
                <a:latin typeface="+mj-lt"/>
                <a:ea typeface="ＭＳ Ｐゴシック" charset="0"/>
                <a:cs typeface="Times New Roman" charset="0"/>
              </a:rPr>
              <a:t>problema</a:t>
            </a:r>
            <a:r>
              <a:rPr lang="en-US" sz="2800" b="0" dirty="0">
                <a:latin typeface="+mj-lt"/>
                <a:ea typeface="ＭＳ Ｐゴシック" charset="0"/>
                <a:cs typeface="Times New Roman" charset="0"/>
              </a:rPr>
              <a:t> </a:t>
            </a:r>
            <a:r>
              <a:rPr lang="en-US" sz="2800" b="0" dirty="0" err="1">
                <a:latin typeface="+mj-lt"/>
                <a:ea typeface="ＭＳ Ｐゴシック" charset="0"/>
                <a:cs typeface="Times New Roman" charset="0"/>
              </a:rPr>
              <a:t>pu</a:t>
            </a:r>
            <a:r>
              <a:rPr lang="en-US" altLang="ja-JP" sz="2800" b="0" dirty="0" err="1">
                <a:latin typeface="+mj-lt"/>
                <a:ea typeface="ＭＳ Ｐゴシック" charset="0"/>
                <a:cs typeface="ＭＳ Ｐゴシック" charset="0"/>
              </a:rPr>
              <a:t>ò</a:t>
            </a:r>
            <a:r>
              <a:rPr lang="en-US" altLang="ja-JP" sz="2800" b="0" dirty="0">
                <a:latin typeface="+mj-lt"/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800" b="0" dirty="0" err="1">
                <a:latin typeface="+mj-lt"/>
                <a:ea typeface="ＭＳ Ｐゴシック" charset="0"/>
                <a:cs typeface="ＭＳ Ｐゴシック" charset="0"/>
              </a:rPr>
              <a:t>essere</a:t>
            </a:r>
            <a:r>
              <a:rPr lang="en-US" altLang="ja-JP" sz="2800" b="0" dirty="0">
                <a:latin typeface="+mj-lt"/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800" b="0" dirty="0" err="1">
                <a:latin typeface="+mj-lt"/>
                <a:ea typeface="ＭＳ Ｐゴシック" charset="0"/>
                <a:cs typeface="ＭＳ Ｐゴシック" charset="0"/>
              </a:rPr>
              <a:t>definito</a:t>
            </a:r>
            <a:r>
              <a:rPr lang="en-US" altLang="ja-JP" sz="2800" b="0" dirty="0">
                <a:latin typeface="+mj-lt"/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800" b="0" dirty="0" err="1">
                <a:latin typeface="+mj-lt"/>
                <a:ea typeface="ＭＳ Ｐゴシック" charset="0"/>
                <a:cs typeface="ＭＳ Ｐゴシック" charset="0"/>
              </a:rPr>
              <a:t>formalmente</a:t>
            </a:r>
            <a:r>
              <a:rPr lang="en-US" altLang="ja-JP" sz="2800" b="0" dirty="0">
                <a:latin typeface="+mj-lt"/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800" b="0" dirty="0" err="1">
                <a:latin typeface="+mj-lt"/>
                <a:ea typeface="ＭＳ Ｐゴシック" charset="0"/>
                <a:cs typeface="ＭＳ Ｐゴシック" charset="0"/>
              </a:rPr>
              <a:t>mediante</a:t>
            </a:r>
            <a:r>
              <a:rPr lang="en-US" altLang="ja-JP" sz="2800" b="0" dirty="0">
                <a:latin typeface="+mj-lt"/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800" b="0" dirty="0" err="1">
                <a:latin typeface="+mj-lt"/>
                <a:ea typeface="ＭＳ Ｐゴシック" charset="0"/>
                <a:cs typeface="ＭＳ Ｐゴシック" charset="0"/>
              </a:rPr>
              <a:t>cinque</a:t>
            </a:r>
            <a:r>
              <a:rPr lang="en-US" altLang="ja-JP" sz="2800" b="0" dirty="0">
                <a:latin typeface="+mj-lt"/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800" b="0" dirty="0" err="1">
                <a:latin typeface="+mj-lt"/>
                <a:ea typeface="ＭＳ Ｐゴシック" charset="0"/>
                <a:cs typeface="ＭＳ Ｐゴシック" charset="0"/>
              </a:rPr>
              <a:t>componenti</a:t>
            </a:r>
            <a:r>
              <a:rPr lang="en-US" altLang="ja-JP" sz="2800" b="0" dirty="0">
                <a:latin typeface="+mj-lt"/>
                <a:ea typeface="ＭＳ Ｐゴシック" charset="0"/>
                <a:cs typeface="ＭＳ Ｐゴシック" charset="0"/>
              </a:rPr>
              <a:t>:</a:t>
            </a:r>
            <a:endParaRPr lang="en-GB" b="0" dirty="0">
              <a:latin typeface="+mj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92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7143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400" dirty="0" err="1">
                <a:ea typeface="+mj-ea"/>
              </a:rPr>
              <a:t>Formulazione</a:t>
            </a:r>
            <a:r>
              <a:rPr lang="en-US" sz="4400" dirty="0">
                <a:ea typeface="+mj-ea"/>
              </a:rPr>
              <a:t> del </a:t>
            </a:r>
            <a:r>
              <a:rPr lang="en-US" sz="4400" dirty="0" err="1">
                <a:ea typeface="+mj-ea"/>
              </a:rPr>
              <a:t>problema</a:t>
            </a:r>
            <a:r>
              <a:rPr lang="en-US" sz="4400" dirty="0">
                <a:ea typeface="+mj-ea"/>
              </a:rPr>
              <a:t> (</a:t>
            </a:r>
            <a:r>
              <a:rPr lang="en-US" sz="4400" dirty="0" err="1">
                <a:ea typeface="+mj-ea"/>
              </a:rPr>
              <a:t>cnt</a:t>
            </a:r>
            <a:r>
              <a:rPr lang="en-US" sz="4400" dirty="0">
                <a:ea typeface="+mj-ea"/>
              </a:rPr>
              <a:t>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56016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+mj-lt"/>
              <a:buAutoNum type="arabicPeriod" startAt="4"/>
            </a:pPr>
            <a:r>
              <a:rPr lang="en-US" altLang="en-US" dirty="0"/>
              <a:t>Test </a:t>
            </a:r>
            <a:r>
              <a:rPr lang="en-US" altLang="en-US" dirty="0" err="1"/>
              <a:t>obiettivo</a:t>
            </a:r>
            <a:r>
              <a:rPr lang="en-US" altLang="en-US" dirty="0"/>
              <a:t>:</a:t>
            </a:r>
          </a:p>
          <a:p>
            <a:pPr marL="857250" lvl="1" indent="-457200" eaLnBrk="1" hangingPunct="1">
              <a:lnSpc>
                <a:spcPct val="80000"/>
              </a:lnSpc>
            </a:pPr>
            <a:r>
              <a:rPr lang="en-US" altLang="en-US" dirty="0"/>
              <a:t>Un </a:t>
            </a:r>
            <a:r>
              <a:rPr lang="en-US" altLang="en-US" dirty="0" err="1"/>
              <a:t>insieme</a:t>
            </a:r>
            <a:r>
              <a:rPr lang="en-US" altLang="en-US" dirty="0"/>
              <a:t> di </a:t>
            </a:r>
            <a:r>
              <a:rPr lang="en-US" altLang="en-US" dirty="0" err="1"/>
              <a:t>stati</a:t>
            </a:r>
            <a:r>
              <a:rPr lang="en-US" altLang="en-US" dirty="0"/>
              <a:t> </a:t>
            </a:r>
            <a:r>
              <a:rPr lang="en-US" altLang="en-US" dirty="0" err="1"/>
              <a:t>obiettivo</a:t>
            </a:r>
            <a:endParaRPr lang="en-US" altLang="en-US" dirty="0"/>
          </a:p>
          <a:p>
            <a:pPr marL="857250" lvl="1" indent="-457200" eaLnBrk="1" hangingPunct="1">
              <a:lnSpc>
                <a:spcPct val="80000"/>
              </a:lnSpc>
            </a:pPr>
            <a:r>
              <a:rPr lang="en-US" altLang="en-US" cap="small" dirty="0"/>
              <a:t>Goal-Test</a:t>
            </a:r>
            <a:r>
              <a:rPr lang="en-US" altLang="en-US" dirty="0"/>
              <a:t>: </a:t>
            </a:r>
            <a:r>
              <a:rPr lang="en-US" altLang="en-US" i="1" dirty="0" err="1"/>
              <a:t>stato</a:t>
            </a:r>
            <a:r>
              <a:rPr lang="it-IT" altLang="en-US" dirty="0">
                <a:cs typeface="Times New Roman" panose="02020603050405020304" pitchFamily="18" charset="0"/>
              </a:rPr>
              <a:t> </a:t>
            </a:r>
            <a:r>
              <a:rPr lang="en-GB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it-IT" altLang="en-US" dirty="0">
                <a:cs typeface="Times New Roman" panose="02020603050405020304" pitchFamily="18" charset="0"/>
              </a:rPr>
              <a:t> {</a:t>
            </a:r>
            <a:r>
              <a:rPr lang="it-IT" altLang="en-US" i="1" dirty="0" err="1">
                <a:cs typeface="Times New Roman" panose="02020603050405020304" pitchFamily="18" charset="0"/>
              </a:rPr>
              <a:t>true</a:t>
            </a:r>
            <a:r>
              <a:rPr lang="it-IT" altLang="en-US" dirty="0">
                <a:cs typeface="Times New Roman" panose="02020603050405020304" pitchFamily="18" charset="0"/>
              </a:rPr>
              <a:t>, </a:t>
            </a:r>
            <a:r>
              <a:rPr lang="it-IT" altLang="en-US" i="1" dirty="0">
                <a:cs typeface="Times New Roman" panose="02020603050405020304" pitchFamily="18" charset="0"/>
              </a:rPr>
              <a:t>false</a:t>
            </a:r>
            <a:r>
              <a:rPr lang="it-IT" altLang="en-US" dirty="0">
                <a:cs typeface="Times New Roman" panose="02020603050405020304" pitchFamily="18" charset="0"/>
              </a:rPr>
              <a:t>}</a:t>
            </a:r>
          </a:p>
          <a:p>
            <a:pPr marL="400050" lvl="1" indent="0" eaLnBrk="1" hangingPunct="1">
              <a:lnSpc>
                <a:spcPct val="80000"/>
              </a:lnSpc>
              <a:buNone/>
            </a:pPr>
            <a:endParaRPr lang="it-IT" altLang="en-US" dirty="0"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AutoNum type="arabicPeriod" startAt="4"/>
            </a:pPr>
            <a:r>
              <a:rPr lang="it-IT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r>
              <a:rPr lang="it-IT" altLang="en-US" dirty="0">
                <a:cs typeface="Times New Roman" panose="02020603050405020304" pitchFamily="18" charset="0"/>
              </a:rPr>
              <a:t>osto del cammino</a:t>
            </a:r>
          </a:p>
          <a:p>
            <a:pPr marL="857250" lvl="1" indent="-457200" eaLnBrk="1" hangingPunct="1">
              <a:lnSpc>
                <a:spcPct val="8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somma dei costi delle azioni (costo dei passi)</a:t>
            </a:r>
          </a:p>
          <a:p>
            <a:pPr marL="857250" lvl="1" indent="-457200" eaLnBrk="1" hangingPunct="1">
              <a:lnSpc>
                <a:spcPct val="8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costo di passo: </a:t>
            </a:r>
            <a:r>
              <a:rPr lang="it-IT" altLang="en-US" cap="small" dirty="0">
                <a:cs typeface="Times New Roman" panose="02020603050405020304" pitchFamily="18" charset="0"/>
              </a:rPr>
              <a:t>c</a:t>
            </a:r>
            <a:r>
              <a:rPr lang="it-IT" altLang="en-US" dirty="0">
                <a:cs typeface="Times New Roman" panose="02020603050405020304" pitchFamily="18" charset="0"/>
              </a:rPr>
              <a:t>(</a:t>
            </a:r>
            <a:r>
              <a:rPr lang="it-IT" altLang="en-US" i="1" dirty="0">
                <a:cs typeface="Times New Roman" panose="02020603050405020304" pitchFamily="18" charset="0"/>
              </a:rPr>
              <a:t>s</a:t>
            </a:r>
            <a:r>
              <a:rPr lang="it-IT" altLang="en-US" dirty="0">
                <a:cs typeface="Times New Roman" panose="02020603050405020304" pitchFamily="18" charset="0"/>
              </a:rPr>
              <a:t>, </a:t>
            </a:r>
            <a:r>
              <a:rPr lang="it-IT" altLang="en-US" i="1" dirty="0">
                <a:cs typeface="Times New Roman" panose="02020603050405020304" pitchFamily="18" charset="0"/>
              </a:rPr>
              <a:t>a</a:t>
            </a:r>
            <a:r>
              <a:rPr lang="it-IT" altLang="en-US" dirty="0">
                <a:cs typeface="Times New Roman" panose="02020603050405020304" pitchFamily="18" charset="0"/>
              </a:rPr>
              <a:t>, </a:t>
            </a:r>
            <a:r>
              <a:rPr lang="it-IT" altLang="en-US" i="1" dirty="0">
                <a:cs typeface="Times New Roman" panose="02020603050405020304" pitchFamily="18" charset="0"/>
              </a:rPr>
              <a:t>s’</a:t>
            </a:r>
            <a:r>
              <a:rPr lang="it-IT" altLang="ja-JP" dirty="0">
                <a:cs typeface="Times New Roman" panose="02020603050405020304" pitchFamily="18" charset="0"/>
              </a:rPr>
              <a:t>)</a:t>
            </a:r>
          </a:p>
          <a:p>
            <a:pPr marL="857250" lvl="1" indent="-457200" eaLnBrk="1" hangingPunct="1">
              <a:lnSpc>
                <a:spcPct val="80000"/>
              </a:lnSpc>
            </a:pPr>
            <a:endParaRPr lang="it-IT" altLang="ja-JP" dirty="0">
              <a:cs typeface="Times New Roman" panose="02020603050405020304" pitchFamily="18" charset="0"/>
            </a:endParaRPr>
          </a:p>
          <a:p>
            <a:pPr marL="857250" lvl="1" indent="-457200" eaLnBrk="1" hangingPunct="1">
              <a:lnSpc>
                <a:spcPct val="8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Il costo di un’azione/passo non è mai negativo</a:t>
            </a:r>
          </a:p>
          <a:p>
            <a:pPr marL="609600" indent="-609600" algn="ctr">
              <a:lnSpc>
                <a:spcPct val="80000"/>
              </a:lnSpc>
              <a:buNone/>
            </a:pPr>
            <a:r>
              <a:rPr lang="it-IT" altLang="en-US" sz="2000" cap="small" dirty="0">
                <a:cs typeface="Times New Roman" panose="02020603050405020304" pitchFamily="18" charset="0"/>
              </a:rPr>
              <a:t>c</a:t>
            </a:r>
            <a:r>
              <a:rPr lang="it-IT" altLang="en-US" sz="2000" dirty="0">
                <a:cs typeface="Times New Roman" panose="02020603050405020304" pitchFamily="18" charset="0"/>
              </a:rPr>
              <a:t>(</a:t>
            </a:r>
            <a:r>
              <a:rPr lang="it-IT" altLang="en-US" sz="2000" i="1" dirty="0">
                <a:cs typeface="Times New Roman" panose="02020603050405020304" pitchFamily="18" charset="0"/>
              </a:rPr>
              <a:t>s</a:t>
            </a:r>
            <a:r>
              <a:rPr lang="it-IT" altLang="en-US" sz="2000" dirty="0">
                <a:cs typeface="Times New Roman" panose="02020603050405020304" pitchFamily="18" charset="0"/>
              </a:rPr>
              <a:t>, </a:t>
            </a:r>
            <a:r>
              <a:rPr lang="it-IT" altLang="en-US" sz="2000" i="1" dirty="0">
                <a:cs typeface="Times New Roman" panose="02020603050405020304" pitchFamily="18" charset="0"/>
              </a:rPr>
              <a:t>a</a:t>
            </a:r>
            <a:r>
              <a:rPr lang="it-IT" altLang="en-US" sz="2000" dirty="0">
                <a:cs typeface="Times New Roman" panose="02020603050405020304" pitchFamily="18" charset="0"/>
              </a:rPr>
              <a:t>, </a:t>
            </a:r>
            <a:r>
              <a:rPr lang="it-IT" altLang="en-US" sz="2000" i="1" dirty="0">
                <a:cs typeface="Times New Roman" panose="02020603050405020304" pitchFamily="18" charset="0"/>
              </a:rPr>
              <a:t>s’</a:t>
            </a:r>
            <a:r>
              <a:rPr lang="it-IT" altLang="ja-JP" sz="2000" dirty="0">
                <a:cs typeface="Times New Roman" panose="02020603050405020304" pitchFamily="18" charset="0"/>
              </a:rPr>
              <a:t>)&gt;0</a:t>
            </a:r>
            <a:endParaRPr lang="it-IT" altLang="en-US" sz="2000" dirty="0">
              <a:cs typeface="Times New Roman" panose="02020603050405020304" pitchFamily="18" charset="0"/>
            </a:endParaRPr>
          </a:p>
          <a:p>
            <a:pPr marL="609600" indent="-60960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90740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8463" y="620713"/>
            <a:ext cx="8637587" cy="7699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Algoritmi</a:t>
            </a:r>
            <a:r>
              <a:rPr lang="en-US" sz="4400" dirty="0">
                <a:ea typeface="+mj-ea"/>
                <a:cs typeface="+mj-cs"/>
              </a:rPr>
              <a:t> di </a:t>
            </a:r>
            <a:r>
              <a:rPr lang="en-US" sz="4400" dirty="0" err="1">
                <a:ea typeface="+mj-ea"/>
                <a:cs typeface="+mj-cs"/>
              </a:rPr>
              <a:t>ricerca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916113"/>
            <a:ext cx="8208962" cy="41148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sz="2800" i="1" dirty="0">
                <a:cs typeface="Times New Roman" panose="02020603050405020304" pitchFamily="18" charset="0"/>
              </a:rPr>
              <a:t>Gli algoritmi di ricerca prendono in input un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sz="2800" i="1" dirty="0">
                <a:cs typeface="Times New Roman" panose="02020603050405020304" pitchFamily="18" charset="0"/>
              </a:rPr>
              <a:t>problema e restituiscono un </a:t>
            </a:r>
            <a:r>
              <a:rPr lang="it-IT" altLang="en-US" sz="2800" i="1" dirty="0">
                <a:solidFill>
                  <a:srgbClr val="FF9900"/>
                </a:solidFill>
                <a:cs typeface="Times New Roman" panose="02020603050405020304" pitchFamily="18" charset="0"/>
              </a:rPr>
              <a:t>cammino soluzione</a:t>
            </a:r>
            <a:r>
              <a:rPr lang="it-IT" altLang="en-US" sz="2800" i="1" dirty="0">
                <a:cs typeface="Times New Roman" panose="02020603050405020304" pitchFamily="18" charset="0"/>
              </a:rPr>
              <a:t>, i.e.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sz="2800" i="1" dirty="0">
                <a:cs typeface="Times New Roman" panose="02020603050405020304" pitchFamily="18" charset="0"/>
              </a:rPr>
              <a:t>un cammino che porta dallo stato iniziale a uno stato goal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sz="2800" i="1" dirty="0">
                <a:cs typeface="Times New Roman" panose="02020603050405020304" pitchFamily="18" charset="0"/>
              </a:rPr>
              <a:t>Misura delle prestazioni</a:t>
            </a:r>
            <a:endParaRPr lang="it-IT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sz="2800" dirty="0">
                <a:cs typeface="Times New Roman" panose="02020603050405020304" pitchFamily="18" charset="0"/>
              </a:rPr>
              <a:t>	Trova una soluzione? Quanto costa trovarla? Quanto efficiente è la soluzione?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sz="2800" dirty="0">
                <a:cs typeface="Times New Roman" panose="02020603050405020304" pitchFamily="18" charset="0"/>
              </a:rPr>
              <a:t>	Costo totale = 	costo della ricerca +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it-IT" altLang="en-US" sz="2800" dirty="0">
                <a:cs typeface="Times New Roman" panose="02020603050405020304" pitchFamily="18" charset="0"/>
              </a:rPr>
              <a:t>				costo del cammino soluzione </a:t>
            </a:r>
            <a:endParaRPr lang="en-GB" alt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03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637588" cy="76835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Itinerario</a:t>
            </a:r>
            <a:r>
              <a:rPr lang="en-US" sz="4400" dirty="0">
                <a:ea typeface="+mj-ea"/>
                <a:cs typeface="+mj-cs"/>
              </a:rPr>
              <a:t>: </a:t>
            </a:r>
            <a:r>
              <a:rPr lang="en-US" sz="4400" dirty="0" err="1">
                <a:ea typeface="+mj-ea"/>
                <a:cs typeface="+mj-cs"/>
              </a:rPr>
              <a:t>il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problema</a:t>
            </a:r>
            <a:endParaRPr lang="en-GB" sz="4400" dirty="0">
              <a:ea typeface="+mj-ea"/>
              <a:cs typeface="+mj-cs"/>
            </a:endParaRPr>
          </a:p>
        </p:txBody>
      </p:sp>
      <p:pic>
        <p:nvPicPr>
          <p:cNvPr id="28674" name="Picture 4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628775"/>
            <a:ext cx="7772400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72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0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6" r="59091" b="39125"/>
          <a:stretch/>
        </p:blipFill>
        <p:spPr bwMode="auto">
          <a:xfrm>
            <a:off x="6364327" y="7009"/>
            <a:ext cx="2779673" cy="2038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143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Itinerario</a:t>
            </a:r>
            <a:r>
              <a:rPr lang="en-US" sz="4400" dirty="0">
                <a:ea typeface="+mj-ea"/>
                <a:cs typeface="+mj-cs"/>
              </a:rPr>
              <a:t>: la </a:t>
            </a:r>
            <a:r>
              <a:rPr lang="en-US" sz="4400" dirty="0" err="1">
                <a:ea typeface="+mj-ea"/>
                <a:cs typeface="+mj-cs"/>
              </a:rPr>
              <a:t>formulazione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453850" y="2045436"/>
            <a:ext cx="8655050" cy="426402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it-IT" altLang="en-US" sz="2800" i="1" dirty="0">
                <a:cs typeface="Times New Roman" panose="02020603050405020304" pitchFamily="18" charset="0"/>
              </a:rPr>
              <a:t>Stati</a:t>
            </a:r>
            <a:r>
              <a:rPr lang="it-IT" altLang="en-US" sz="2800" dirty="0">
                <a:cs typeface="Times New Roman" panose="02020603050405020304" pitchFamily="18" charset="0"/>
              </a:rPr>
              <a:t>: le città. Es. </a:t>
            </a:r>
            <a:r>
              <a:rPr lang="it-IT" altLang="en-US" sz="2800" i="1" dirty="0">
                <a:cs typeface="Times New Roman" panose="02020603050405020304" pitchFamily="18" charset="0"/>
              </a:rPr>
              <a:t>In</a:t>
            </a:r>
            <a:r>
              <a:rPr lang="it-IT" altLang="en-US" sz="2800" dirty="0">
                <a:cs typeface="Times New Roman" panose="02020603050405020304" pitchFamily="18" charset="0"/>
              </a:rPr>
              <a:t>(Pitesti)</a:t>
            </a:r>
          </a:p>
          <a:p>
            <a:pPr eaLnBrk="1" hangingPunct="1">
              <a:lnSpc>
                <a:spcPct val="90000"/>
              </a:lnSpc>
            </a:pPr>
            <a:r>
              <a:rPr lang="it-IT" altLang="en-US" sz="2800" i="1" dirty="0">
                <a:cs typeface="Times New Roman" panose="02020603050405020304" pitchFamily="18" charset="0"/>
              </a:rPr>
              <a:t>Stato iniziale</a:t>
            </a:r>
            <a:r>
              <a:rPr lang="it-IT" altLang="en-US" sz="2800" dirty="0">
                <a:cs typeface="Times New Roman" panose="02020603050405020304" pitchFamily="18" charset="0"/>
              </a:rPr>
              <a:t>: la città da cui si parte. </a:t>
            </a:r>
            <a:r>
              <a:rPr lang="it-IT" altLang="en-US" sz="2800" i="1" dirty="0">
                <a:cs typeface="Times New Roman" panose="02020603050405020304" pitchFamily="18" charset="0"/>
              </a:rPr>
              <a:t>In</a:t>
            </a:r>
            <a:r>
              <a:rPr lang="it-IT" altLang="en-US" sz="2800" dirty="0">
                <a:cs typeface="Times New Roman" panose="02020603050405020304" pitchFamily="18" charset="0"/>
              </a:rPr>
              <a:t>(Arad)</a:t>
            </a:r>
          </a:p>
          <a:p>
            <a:pPr eaLnBrk="1" hangingPunct="1">
              <a:lnSpc>
                <a:spcPct val="90000"/>
              </a:lnSpc>
            </a:pPr>
            <a:r>
              <a:rPr lang="it-IT" altLang="en-US" sz="2800" i="1" dirty="0">
                <a:cs typeface="Times New Roman" panose="02020603050405020304" pitchFamily="18" charset="0"/>
              </a:rPr>
              <a:t>Azioni</a:t>
            </a:r>
            <a:r>
              <a:rPr lang="it-IT" altLang="en-US" sz="2800" dirty="0">
                <a:cs typeface="Times New Roman" panose="02020603050405020304" pitchFamily="18" charset="0"/>
              </a:rPr>
              <a:t>: spostarsi su una città vicina collegata</a:t>
            </a:r>
          </a:p>
          <a:p>
            <a:pPr lvl="1">
              <a:lnSpc>
                <a:spcPct val="90000"/>
              </a:lnSpc>
            </a:pPr>
            <a:r>
              <a:rPr lang="it-IT" altLang="en-US" sz="2400" dirty="0">
                <a:cs typeface="Times New Roman" panose="02020603050405020304" pitchFamily="18" charset="0"/>
              </a:rPr>
              <a:t>Azioni(</a:t>
            </a:r>
            <a:r>
              <a:rPr lang="it-IT" altLang="en-US" sz="2400" i="1" dirty="0">
                <a:cs typeface="Times New Roman" panose="02020603050405020304" pitchFamily="18" charset="0"/>
              </a:rPr>
              <a:t>In</a:t>
            </a:r>
            <a:r>
              <a:rPr lang="it-IT" altLang="en-US" sz="2400" dirty="0">
                <a:cs typeface="Times New Roman" panose="02020603050405020304" pitchFamily="18" charset="0"/>
              </a:rPr>
              <a:t>(Arad)) ={</a:t>
            </a:r>
            <a:r>
              <a:rPr lang="it-IT" altLang="en-US" sz="2400" i="1" dirty="0">
                <a:cs typeface="Times New Roman" panose="02020603050405020304" pitchFamily="18" charset="0"/>
              </a:rPr>
              <a:t>Go</a:t>
            </a:r>
            <a:r>
              <a:rPr lang="it-IT" altLang="en-US" sz="2400" dirty="0">
                <a:cs typeface="Times New Roman" panose="02020603050405020304" pitchFamily="18" charset="0"/>
              </a:rPr>
              <a:t>(Sibiu), </a:t>
            </a:r>
            <a:r>
              <a:rPr lang="it-IT" altLang="en-US" sz="2400" i="1" dirty="0">
                <a:cs typeface="Times New Roman" panose="02020603050405020304" pitchFamily="18" charset="0"/>
              </a:rPr>
              <a:t>Go</a:t>
            </a:r>
            <a:r>
              <a:rPr lang="it-IT" altLang="en-US" sz="2400" dirty="0">
                <a:cs typeface="Times New Roman" panose="02020603050405020304" pitchFamily="18" charset="0"/>
              </a:rPr>
              <a:t>(Zerind), </a:t>
            </a:r>
            <a:r>
              <a:rPr lang="it-IT" altLang="en-US" i="1" dirty="0">
                <a:cs typeface="Times New Roman" panose="02020603050405020304" pitchFamily="18" charset="0"/>
              </a:rPr>
              <a:t>Go</a:t>
            </a:r>
            <a:r>
              <a:rPr lang="it-IT" altLang="en-US" dirty="0">
                <a:cs typeface="Times New Roman" panose="02020603050405020304" pitchFamily="18" charset="0"/>
              </a:rPr>
              <a:t>(Timisoara)}</a:t>
            </a:r>
            <a:endParaRPr lang="it-IT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sz="2800" dirty="0">
                <a:cs typeface="Times New Roman" panose="02020603050405020304" pitchFamily="18" charset="0"/>
              </a:rPr>
              <a:t>Modello di transizione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en-US" sz="2400" dirty="0">
                <a:cs typeface="Times New Roman" panose="02020603050405020304" pitchFamily="18" charset="0"/>
              </a:rPr>
              <a:t>Risultato(</a:t>
            </a:r>
            <a:r>
              <a:rPr lang="it-IT" altLang="en-US" sz="2400" i="1" dirty="0">
                <a:cs typeface="Times New Roman" panose="02020603050405020304" pitchFamily="18" charset="0"/>
              </a:rPr>
              <a:t>In</a:t>
            </a:r>
            <a:r>
              <a:rPr lang="it-IT" altLang="en-US" sz="2400" dirty="0">
                <a:cs typeface="Times New Roman" panose="02020603050405020304" pitchFamily="18" charset="0"/>
              </a:rPr>
              <a:t>(Arad), </a:t>
            </a:r>
            <a:r>
              <a:rPr lang="it-IT" altLang="en-US" sz="2400" i="1" dirty="0">
                <a:cs typeface="Times New Roman" panose="02020603050405020304" pitchFamily="18" charset="0"/>
              </a:rPr>
              <a:t>Go</a:t>
            </a:r>
            <a:r>
              <a:rPr lang="it-IT" altLang="en-US" sz="2400" dirty="0">
                <a:cs typeface="Times New Roman" panose="02020603050405020304" pitchFamily="18" charset="0"/>
              </a:rPr>
              <a:t>(Sibiu)) = </a:t>
            </a:r>
            <a:r>
              <a:rPr lang="it-IT" altLang="en-US" sz="2400" i="1" dirty="0">
                <a:cs typeface="Times New Roman" panose="02020603050405020304" pitchFamily="18" charset="0"/>
              </a:rPr>
              <a:t>In</a:t>
            </a:r>
            <a:r>
              <a:rPr lang="it-IT" altLang="en-US" sz="2400" dirty="0">
                <a:cs typeface="Times New Roman" panose="02020603050405020304" pitchFamily="18" charset="0"/>
              </a:rPr>
              <a:t>(Sibiu)</a:t>
            </a:r>
            <a:endParaRPr lang="it-IT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sz="2800" i="1" dirty="0">
                <a:cs typeface="Times New Roman" panose="02020603050405020304" pitchFamily="18" charset="0"/>
              </a:rPr>
              <a:t>Costo del cammino</a:t>
            </a:r>
            <a:r>
              <a:rPr lang="it-IT" altLang="en-US" sz="2800" dirty="0">
                <a:cs typeface="Times New Roman" panose="02020603050405020304" pitchFamily="18" charset="0"/>
              </a:rPr>
              <a:t>: somma delle lunghezze delle strade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cs typeface="Times New Roman" panose="02020603050405020304" pitchFamily="18" charset="0"/>
              </a:rPr>
              <a:t>Lo </a:t>
            </a:r>
            <a:r>
              <a:rPr lang="en-US" altLang="en-US" sz="2800" dirty="0" err="1">
                <a:cs typeface="Times New Roman" panose="02020603050405020304" pitchFamily="18" charset="0"/>
              </a:rPr>
              <a:t>spazio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degli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stati</a:t>
            </a:r>
            <a:r>
              <a:rPr lang="en-US" altLang="en-US" sz="2800" dirty="0">
                <a:cs typeface="Times New Roman" panose="02020603050405020304" pitchFamily="18" charset="0"/>
              </a:rPr>
              <a:t> coincide con la rete di </a:t>
            </a:r>
            <a:r>
              <a:rPr lang="en-US" altLang="en-US" sz="2800" dirty="0" err="1">
                <a:cs typeface="Times New Roman" panose="02020603050405020304" pitchFamily="18" charset="0"/>
              </a:rPr>
              <a:t>collegamenti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città</a:t>
            </a:r>
            <a:endParaRPr lang="en-GB" alt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21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637588" cy="7699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Aspirapolvere</a:t>
            </a:r>
            <a:r>
              <a:rPr lang="en-US" sz="4400" dirty="0">
                <a:ea typeface="+mj-ea"/>
                <a:cs typeface="+mj-cs"/>
              </a:rPr>
              <a:t>: </a:t>
            </a:r>
            <a:r>
              <a:rPr lang="en-US" sz="4400" dirty="0" err="1">
                <a:ea typeface="+mj-ea"/>
                <a:cs typeface="+mj-cs"/>
              </a:rPr>
              <a:t>il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problema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4343400" y="28194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it-IT" b="0">
              <a:latin typeface="Times New Roman" charset="0"/>
              <a:ea typeface="ＭＳ Ｐゴシック" charset="0"/>
            </a:endParaRPr>
          </a:p>
        </p:txBody>
      </p:sp>
      <p:sp>
        <p:nvSpPr>
          <p:cNvPr id="108551" name="Text Box 7"/>
          <p:cNvSpPr txBox="1">
            <a:spLocks noChangeArrowheads="1"/>
          </p:cNvSpPr>
          <p:nvPr/>
        </p:nvSpPr>
        <p:spPr bwMode="auto">
          <a:xfrm>
            <a:off x="4343400" y="274320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it-IT" b="0">
              <a:latin typeface="Times New Roman" charset="0"/>
              <a:ea typeface="ＭＳ Ｐゴシック" charset="0"/>
            </a:endParaRPr>
          </a:p>
        </p:txBody>
      </p:sp>
      <p:pic>
        <p:nvPicPr>
          <p:cNvPr id="32772" name="Picture 8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790825"/>
            <a:ext cx="42672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3" name="Text Box 9"/>
          <p:cNvSpPr txBox="1">
            <a:spLocks noChangeArrowheads="1"/>
          </p:cNvSpPr>
          <p:nvPr/>
        </p:nvSpPr>
        <p:spPr bwMode="auto">
          <a:xfrm>
            <a:off x="457200" y="1341438"/>
            <a:ext cx="8382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en-US" sz="2800" b="0" dirty="0">
                <a:latin typeface="+mj-lt"/>
                <a:cs typeface="Times New Roman" panose="02020603050405020304" pitchFamily="18" charset="0"/>
              </a:rPr>
              <a:t>Versione semplice: solo due locazioni, sporche o pulite, l’agente può essere in una delle due</a:t>
            </a:r>
            <a:r>
              <a:rPr lang="en-GB" altLang="en-US" sz="2800" b="0" dirty="0">
                <a:latin typeface="+mj-lt"/>
              </a:rPr>
              <a:t> </a:t>
            </a:r>
          </a:p>
        </p:txBody>
      </p:sp>
      <p:sp>
        <p:nvSpPr>
          <p:cNvPr id="108554" name="Text Box 10"/>
          <p:cNvSpPr txBox="1">
            <a:spLocks noChangeArrowheads="1"/>
          </p:cNvSpPr>
          <p:nvPr/>
        </p:nvSpPr>
        <p:spPr bwMode="auto">
          <a:xfrm>
            <a:off x="5849245" y="2492896"/>
            <a:ext cx="3276600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en-US" sz="2800" b="0" dirty="0">
                <a:latin typeface="+mj-lt"/>
                <a:cs typeface="Times New Roman" panose="02020603050405020304" pitchFamily="18" charset="0"/>
              </a:rPr>
              <a:t>Percezioni:</a:t>
            </a:r>
            <a:endParaRPr lang="en-GB" altLang="en-US" sz="2800" b="0" dirty="0">
              <a:latin typeface="+mj-lt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it-IT" altLang="en-US" sz="2800" b="0" dirty="0">
                <a:latin typeface="+mj-lt"/>
                <a:cs typeface="Times New Roman" panose="02020603050405020304" pitchFamily="18" charset="0"/>
              </a:rPr>
              <a:t>   </a:t>
            </a:r>
            <a:r>
              <a:rPr lang="it-IT" altLang="en-US" b="0" i="1" dirty="0">
                <a:latin typeface="+mj-lt"/>
                <a:cs typeface="Times New Roman" panose="02020603050405020304" pitchFamily="18" charset="0"/>
              </a:rPr>
              <a:t>Sporco</a:t>
            </a:r>
          </a:p>
          <a:p>
            <a:pPr eaLnBrk="1" hangingPunct="1">
              <a:spcBef>
                <a:spcPts val="600"/>
              </a:spcBef>
            </a:pPr>
            <a:r>
              <a:rPr lang="it-IT" altLang="en-US" b="0" i="1" dirty="0">
                <a:latin typeface="+mj-lt"/>
                <a:cs typeface="Times New Roman" panose="02020603050405020304" pitchFamily="18" charset="0"/>
              </a:rPr>
              <a:t>   NonSporco</a:t>
            </a:r>
          </a:p>
          <a:p>
            <a:pPr eaLnBrk="1" hangingPunct="1">
              <a:spcBef>
                <a:spcPts val="600"/>
              </a:spcBef>
            </a:pPr>
            <a:endParaRPr lang="en-GB" altLang="en-US" b="0" dirty="0">
              <a:latin typeface="+mj-lt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it-IT" altLang="en-US" sz="2800" b="0" dirty="0">
                <a:latin typeface="+mj-lt"/>
                <a:cs typeface="Times New Roman" panose="02020603050405020304" pitchFamily="18" charset="0"/>
              </a:rPr>
              <a:t> </a:t>
            </a:r>
            <a:r>
              <a:rPr lang="en-US" altLang="en-US" sz="2800" b="0" dirty="0" err="1">
                <a:latin typeface="+mj-lt"/>
                <a:cs typeface="Times New Roman" panose="02020603050405020304" pitchFamily="18" charset="0"/>
              </a:rPr>
              <a:t>Azioni</a:t>
            </a:r>
            <a:r>
              <a:rPr lang="en-US" altLang="en-US" sz="2800" b="0" dirty="0">
                <a:latin typeface="+mj-lt"/>
                <a:cs typeface="Times New Roman" panose="02020603050405020304" pitchFamily="18" charset="0"/>
              </a:rPr>
              <a:t>:</a:t>
            </a:r>
            <a:endParaRPr lang="en-GB" altLang="en-US" sz="2800" b="0" dirty="0">
              <a:latin typeface="+mj-lt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sz="2800" b="0" dirty="0">
                <a:latin typeface="+mj-lt"/>
                <a:cs typeface="Times New Roman" panose="02020603050405020304" pitchFamily="18" charset="0"/>
              </a:rPr>
              <a:t>   </a:t>
            </a:r>
            <a:r>
              <a:rPr lang="en-US" altLang="en-US" b="0" i="1" dirty="0" err="1">
                <a:latin typeface="+mj-lt"/>
                <a:cs typeface="Times New Roman" panose="02020603050405020304" pitchFamily="18" charset="0"/>
              </a:rPr>
              <a:t>Sinistra</a:t>
            </a:r>
            <a:r>
              <a:rPr lang="en-US" altLang="en-US" b="0" i="1" dirty="0">
                <a:latin typeface="+mj-lt"/>
                <a:cs typeface="Times New Roman" panose="02020603050405020304" pitchFamily="18" charset="0"/>
              </a:rPr>
              <a:t> (L)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b="0" i="1" dirty="0">
                <a:latin typeface="+mj-lt"/>
                <a:cs typeface="Times New Roman" panose="02020603050405020304" pitchFamily="18" charset="0"/>
              </a:rPr>
              <a:t>   </a:t>
            </a:r>
            <a:r>
              <a:rPr lang="en-US" altLang="en-US" b="0" i="1" dirty="0" err="1">
                <a:latin typeface="+mj-lt"/>
                <a:cs typeface="Times New Roman" panose="02020603050405020304" pitchFamily="18" charset="0"/>
              </a:rPr>
              <a:t>Destra</a:t>
            </a:r>
            <a:r>
              <a:rPr lang="en-US" altLang="en-US" b="0" i="1" dirty="0">
                <a:latin typeface="+mj-lt"/>
                <a:cs typeface="Times New Roman" panose="02020603050405020304" pitchFamily="18" charset="0"/>
              </a:rPr>
              <a:t> (R)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b="0" i="1" dirty="0">
                <a:latin typeface="+mj-lt"/>
                <a:cs typeface="Times New Roman" panose="02020603050405020304" pitchFamily="18" charset="0"/>
              </a:rPr>
              <a:t>   </a:t>
            </a:r>
            <a:r>
              <a:rPr lang="en-US" altLang="en-US" b="0" i="1" dirty="0" err="1">
                <a:latin typeface="+mj-lt"/>
                <a:cs typeface="Times New Roman" panose="02020603050405020304" pitchFamily="18" charset="0"/>
              </a:rPr>
              <a:t>Aspira</a:t>
            </a:r>
            <a:r>
              <a:rPr lang="en-US" altLang="en-US" b="0" i="1" dirty="0">
                <a:latin typeface="+mj-lt"/>
                <a:cs typeface="Times New Roman" panose="02020603050405020304" pitchFamily="18" charset="0"/>
              </a:rPr>
              <a:t> (S)</a:t>
            </a:r>
            <a:endParaRPr lang="en-GB" altLang="en-US" b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730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358775"/>
            <a:ext cx="86375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Aspirapolvere</a:t>
            </a:r>
            <a:r>
              <a:rPr lang="en-US" sz="4400" dirty="0">
                <a:ea typeface="+mj-ea"/>
                <a:cs typeface="+mj-cs"/>
              </a:rPr>
              <a:t>: </a:t>
            </a:r>
            <a:r>
              <a:rPr lang="en-US" sz="4400" dirty="0" err="1">
                <a:ea typeface="+mj-ea"/>
                <a:cs typeface="+mj-cs"/>
              </a:rPr>
              <a:t>formulazione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08963" cy="171608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it-IT" i="1" dirty="0">
                <a:ea typeface="+mn-ea"/>
                <a:cs typeface="Times New Roman" charset="0"/>
              </a:rPr>
              <a:t>Obiettivo</a:t>
            </a:r>
            <a:r>
              <a:rPr lang="it-IT" dirty="0">
                <a:ea typeface="+mn-ea"/>
                <a:cs typeface="Times New Roman" charset="0"/>
              </a:rPr>
              <a:t>: rimuovere tutto lo sporco  { 7, 8 }</a:t>
            </a:r>
            <a:r>
              <a:rPr lang="en-GB" dirty="0">
                <a:ea typeface="+mn-ea"/>
                <a:cs typeface="+mn-cs"/>
              </a:rPr>
              <a:t> </a:t>
            </a:r>
            <a:endParaRPr lang="en-US" dirty="0"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it-IT" i="1" dirty="0">
                <a:ea typeface="+mn-ea"/>
                <a:cs typeface="Times New Roman" charset="0"/>
              </a:rPr>
              <a:t>O</a:t>
            </a:r>
            <a:r>
              <a:rPr lang="it-IT" dirty="0">
                <a:ea typeface="+mn-ea"/>
                <a:cs typeface="Times New Roman" charset="0"/>
              </a:rPr>
              <a:t>gni azione ha costo 1</a:t>
            </a:r>
            <a:endParaRPr lang="en-US" dirty="0">
              <a:ea typeface="+mn-ea"/>
              <a:cs typeface="+mn-cs"/>
            </a:endParaRPr>
          </a:p>
          <a:p>
            <a:pPr marL="0" indent="0" eaLnBrk="1" hangingPunct="1">
              <a:lnSpc>
                <a:spcPct val="90000"/>
              </a:lnSpc>
              <a:buFont typeface="Wingdings" charset="0"/>
              <a:buNone/>
              <a:defRPr/>
            </a:pPr>
            <a:endParaRPr lang="it-IT" i="1" dirty="0">
              <a:ea typeface="+mn-ea"/>
              <a:cs typeface="Times New Roman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lang="it-IT" i="1" dirty="0">
                <a:ea typeface="+mn-ea"/>
                <a:cs typeface="Times New Roman" charset="0"/>
              </a:rPr>
              <a:t>Spazio degli stati</a:t>
            </a:r>
            <a:r>
              <a:rPr lang="en-GB" dirty="0">
                <a:ea typeface="+mn-ea"/>
                <a:cs typeface="+mn-cs"/>
              </a:rPr>
              <a:t> </a:t>
            </a:r>
            <a:r>
              <a:rPr lang="en-US" dirty="0">
                <a:ea typeface="+mn-ea"/>
                <a:cs typeface="+mn-cs"/>
              </a:rPr>
              <a:t>:</a:t>
            </a:r>
            <a:endParaRPr lang="en-GB" dirty="0">
              <a:ea typeface="+mn-ea"/>
              <a:cs typeface="+mn-cs"/>
            </a:endParaRPr>
          </a:p>
        </p:txBody>
      </p:sp>
      <p:pic>
        <p:nvPicPr>
          <p:cNvPr id="109574" name="Picture 6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97" y="2960457"/>
            <a:ext cx="76073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36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549275"/>
            <a:ext cx="8637588" cy="76835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 sz="4400"/>
              <a:t>Il puzzle dell’otto</a:t>
            </a:r>
            <a:endParaRPr lang="en-GB" altLang="en-US" sz="4400"/>
          </a:p>
        </p:txBody>
      </p:sp>
      <p:pic>
        <p:nvPicPr>
          <p:cNvPr id="36866" name="Picture 4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989138"/>
            <a:ext cx="7021512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5469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549275"/>
            <a:ext cx="8637588" cy="76835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 sz="4400"/>
              <a:t>Puzzle dell’otto: formulazione </a:t>
            </a:r>
            <a:endParaRPr lang="en-GB" altLang="en-US" sz="440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700808"/>
            <a:ext cx="8491538" cy="48974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it-IT" altLang="en-US" sz="2800" i="1" dirty="0">
                <a:cs typeface="Times New Roman" panose="02020603050405020304" pitchFamily="18" charset="0"/>
              </a:rPr>
              <a:t>Stati</a:t>
            </a:r>
            <a:r>
              <a:rPr lang="it-IT" altLang="en-US" sz="2800" dirty="0">
                <a:cs typeface="Times New Roman" panose="02020603050405020304" pitchFamily="18" charset="0"/>
              </a:rPr>
              <a:t>: possibili configurazioni della scacchiera</a:t>
            </a:r>
          </a:p>
          <a:p>
            <a:pPr eaLnBrk="1" hangingPunct="1">
              <a:lnSpc>
                <a:spcPct val="80000"/>
              </a:lnSpc>
            </a:pPr>
            <a:r>
              <a:rPr lang="it-IT" altLang="en-US" sz="2800" i="1" dirty="0">
                <a:cs typeface="Times New Roman" panose="02020603050405020304" pitchFamily="18" charset="0"/>
              </a:rPr>
              <a:t>Stato iniziale</a:t>
            </a:r>
            <a:r>
              <a:rPr lang="it-IT" altLang="en-US" sz="2800" dirty="0">
                <a:cs typeface="Times New Roman" panose="02020603050405020304" pitchFamily="18" charset="0"/>
              </a:rPr>
              <a:t>: una configurazione</a:t>
            </a:r>
            <a:r>
              <a:rPr lang="en-GB" altLang="en-US" sz="2800" dirty="0"/>
              <a:t> 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it-IT" altLang="en-US" sz="2800" i="1" dirty="0">
                <a:cs typeface="Times New Roman" panose="02020603050405020304" pitchFamily="18" charset="0"/>
              </a:rPr>
              <a:t>Obiettivo</a:t>
            </a:r>
            <a:r>
              <a:rPr lang="it-IT" altLang="en-US" sz="2800" dirty="0">
                <a:cs typeface="Times New Roman" panose="02020603050405020304" pitchFamily="18" charset="0"/>
              </a:rPr>
              <a:t>: una configurazione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	Goal-Test</a:t>
            </a:r>
            <a:r>
              <a:rPr lang="it-IT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: Stato obiettivo?</a:t>
            </a:r>
            <a:endParaRPr lang="it-IT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en-US" sz="2800" i="1" dirty="0">
                <a:cs typeface="Times New Roman" panose="02020603050405020304" pitchFamily="18" charset="0"/>
              </a:rPr>
              <a:t>Azioni</a:t>
            </a:r>
            <a:r>
              <a:rPr lang="it-IT" altLang="en-US" sz="2800" dirty="0">
                <a:cs typeface="Times New Roman" panose="02020603050405020304" pitchFamily="18" charset="0"/>
              </a:rPr>
              <a:t>: mosse della casella bianca</a:t>
            </a:r>
            <a:endParaRPr lang="en-GB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</a:t>
            </a:r>
            <a:r>
              <a:rPr lang="en-GB" altLang="en-US" sz="2800" dirty="0">
                <a:cs typeface="Times New Roman" panose="02020603050405020304" pitchFamily="18" charset="0"/>
              </a:rPr>
              <a:t>in </a:t>
            </a:r>
            <a:r>
              <a:rPr lang="en-GB" altLang="en-US" sz="2800" dirty="0" err="1">
                <a:cs typeface="Times New Roman" panose="02020603050405020304" pitchFamily="18" charset="0"/>
              </a:rPr>
              <a:t>sù</a:t>
            </a:r>
            <a:r>
              <a:rPr lang="en-GB" altLang="en-US" sz="2800" dirty="0">
                <a:cs typeface="Times New Roman" panose="02020603050405020304" pitchFamily="18" charset="0"/>
              </a:rPr>
              <a:t>: </a:t>
            </a:r>
            <a:r>
              <a:rPr lang="en-GB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GB" altLang="en-US" sz="2800" dirty="0">
                <a:cs typeface="Times New Roman" panose="02020603050405020304" pitchFamily="18" charset="0"/>
              </a:rPr>
              <a:t>in </a:t>
            </a:r>
            <a:r>
              <a:rPr lang="en-GB" altLang="en-US" sz="2800" dirty="0" err="1">
                <a:cs typeface="Times New Roman" panose="02020603050405020304" pitchFamily="18" charset="0"/>
              </a:rPr>
              <a:t>giù</a:t>
            </a:r>
            <a:r>
              <a:rPr lang="en-GB" altLang="en-US" sz="2800" dirty="0">
                <a:cs typeface="Times New Roman" panose="02020603050405020304" pitchFamily="18" charset="0"/>
              </a:rPr>
              <a:t>: </a:t>
            </a:r>
            <a:r>
              <a:rPr lang="en-GB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endParaRPr lang="en-US" altLang="en-US" sz="28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800" dirty="0">
                <a:cs typeface="Times New Roman" panose="02020603050405020304" pitchFamily="18" charset="0"/>
              </a:rPr>
              <a:t>	a </a:t>
            </a:r>
            <a:r>
              <a:rPr lang="en-GB" altLang="en-US" sz="2800" dirty="0" err="1">
                <a:cs typeface="Times New Roman" panose="02020603050405020304" pitchFamily="18" charset="0"/>
              </a:rPr>
              <a:t>destra</a:t>
            </a:r>
            <a:r>
              <a:rPr lang="en-GB" altLang="en-US" sz="2800" dirty="0">
                <a:cs typeface="Times New Roman" panose="02020603050405020304" pitchFamily="18" charset="0"/>
              </a:rPr>
              <a:t>: </a:t>
            </a:r>
            <a:r>
              <a:rPr lang="en-GB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	</a:t>
            </a:r>
            <a:r>
              <a:rPr lang="en-GB" altLang="en-US" sz="2800" dirty="0">
                <a:cs typeface="Times New Roman" panose="02020603050405020304" pitchFamily="18" charset="0"/>
              </a:rPr>
              <a:t>a </a:t>
            </a:r>
            <a:r>
              <a:rPr lang="en-GB" altLang="en-US" sz="2800" dirty="0" err="1">
                <a:cs typeface="Times New Roman" panose="02020603050405020304" pitchFamily="18" charset="0"/>
              </a:rPr>
              <a:t>sinistra</a:t>
            </a:r>
            <a:r>
              <a:rPr lang="en-GB" altLang="en-US" sz="2800" dirty="0">
                <a:cs typeface="Times New Roman" panose="02020603050405020304" pitchFamily="18" charset="0"/>
              </a:rPr>
              <a:t>: </a:t>
            </a:r>
            <a:r>
              <a:rPr lang="en-GB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endParaRPr lang="en-US" altLang="en-US" sz="28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ts val="1800"/>
              </a:spcBef>
            </a:pPr>
            <a:r>
              <a:rPr lang="it-IT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Costo cammino</a:t>
            </a:r>
            <a:r>
              <a:rPr lang="it-IT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: ogni passo costa 1</a:t>
            </a:r>
            <a:r>
              <a:rPr lang="en-GB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Lo spazio degli stati è un grafo con possibili cicli.</a:t>
            </a:r>
            <a:r>
              <a:rPr lang="en-GB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111622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40217040"/>
              </p:ext>
            </p:extLst>
          </p:nvPr>
        </p:nvGraphicFramePr>
        <p:xfrm>
          <a:off x="6227763" y="2133600"/>
          <a:ext cx="2808287" cy="279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" name="Image" r:id="rId4" imgW="3123810" imgH="3111111" progId="Photoshop.Image.7">
                  <p:embed/>
                </p:oleObj>
              </mc:Choice>
              <mc:Fallback>
                <p:oleObj name="Image" r:id="rId4" imgW="3123810" imgH="3111111" progId="Photoshop.Image.7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133600"/>
                        <a:ext cx="2808287" cy="279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2796088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31813"/>
            <a:ext cx="8637588" cy="76835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>
                <a:ea typeface="+mj-ea"/>
                <a:cs typeface="+mj-cs"/>
              </a:rPr>
              <a:t>Le otto regine: il problema</a:t>
            </a:r>
            <a:endParaRPr lang="en-GB" sz="4400" dirty="0">
              <a:ea typeface="+mj-ea"/>
              <a:cs typeface="+mj-cs"/>
            </a:endParaRPr>
          </a:p>
        </p:txBody>
      </p:sp>
      <p:pic>
        <p:nvPicPr>
          <p:cNvPr id="40962" name="Picture 4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11350"/>
            <a:ext cx="4337050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5486400" y="2133600"/>
            <a:ext cx="31242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sz="2800" b="0" dirty="0">
                <a:latin typeface="+mj-lt"/>
                <a:ea typeface="ＭＳ Ｐゴシック" charset="0"/>
                <a:cs typeface="Times New Roman" charset="0"/>
              </a:rPr>
              <a:t>Collocare 8 regine sulla scacchiera in modo tale che nessuna regina sia attaccata da altre</a:t>
            </a:r>
            <a:r>
              <a:rPr lang="en-GB" b="0" dirty="0">
                <a:latin typeface="+mj-lt"/>
                <a:ea typeface="ＭＳ Ｐゴシック" charset="0"/>
              </a:rPr>
              <a:t> </a:t>
            </a:r>
          </a:p>
        </p:txBody>
      </p:sp>
      <p:sp>
        <p:nvSpPr>
          <p:cNvPr id="112646" name="Line 6"/>
          <p:cNvSpPr>
            <a:spLocks noChangeShapeType="1"/>
          </p:cNvSpPr>
          <p:nvPr/>
        </p:nvSpPr>
        <p:spPr bwMode="auto">
          <a:xfrm>
            <a:off x="1116013" y="2492375"/>
            <a:ext cx="3168650" cy="316865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54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29260" y="404664"/>
            <a:ext cx="8637587" cy="13239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>
                <a:ea typeface="+mj-ea"/>
                <a:cs typeface="+mj-cs"/>
              </a:rPr>
              <a:t>Le </a:t>
            </a:r>
            <a:r>
              <a:rPr lang="en-US" sz="4400" dirty="0" err="1">
                <a:ea typeface="+mj-ea"/>
                <a:cs typeface="+mj-cs"/>
              </a:rPr>
              <a:t>otto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regine</a:t>
            </a:r>
            <a:r>
              <a:rPr lang="en-US" sz="4400" dirty="0">
                <a:ea typeface="+mj-ea"/>
                <a:cs typeface="+mj-cs"/>
              </a:rPr>
              <a:t>:</a:t>
            </a:r>
            <a:br>
              <a:rPr lang="en-US" sz="4400" dirty="0">
                <a:ea typeface="+mj-ea"/>
                <a:cs typeface="+mj-cs"/>
              </a:rPr>
            </a:br>
            <a:r>
              <a:rPr lang="en-US" sz="3600" i="1" dirty="0" err="1">
                <a:ea typeface="+mj-ea"/>
                <a:cs typeface="+mj-cs"/>
              </a:rPr>
              <a:t>Formulazione</a:t>
            </a:r>
            <a:r>
              <a:rPr lang="en-US" sz="3600" i="1" dirty="0">
                <a:ea typeface="+mj-ea"/>
                <a:cs typeface="+mj-cs"/>
              </a:rPr>
              <a:t> </a:t>
            </a:r>
            <a:r>
              <a:rPr lang="en-US" sz="3600" i="1" dirty="0" err="1">
                <a:ea typeface="+mj-ea"/>
                <a:cs typeface="+mj-cs"/>
              </a:rPr>
              <a:t>incrementale</a:t>
            </a:r>
            <a:r>
              <a:rPr lang="en-US" sz="3600" i="1" dirty="0">
                <a:ea typeface="+mj-ea"/>
                <a:cs typeface="+mj-cs"/>
              </a:rPr>
              <a:t> 1</a:t>
            </a:r>
            <a:endParaRPr lang="en-GB" sz="3600" i="1" dirty="0">
              <a:ea typeface="+mj-ea"/>
              <a:cs typeface="+mj-cs"/>
            </a:endParaRP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56016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it-IT" altLang="en-US" i="1" dirty="0">
                <a:cs typeface="Times New Roman" panose="02020603050405020304" pitchFamily="18" charset="0"/>
              </a:rPr>
              <a:t>Stati</a:t>
            </a:r>
            <a:r>
              <a:rPr lang="it-IT" altLang="en-US" dirty="0">
                <a:cs typeface="Times New Roman" panose="02020603050405020304" pitchFamily="18" charset="0"/>
              </a:rPr>
              <a:t>: scacchiere con 0-8 regine</a:t>
            </a:r>
          </a:p>
          <a:p>
            <a:pPr eaLnBrk="1" hangingPunct="1"/>
            <a:r>
              <a:rPr lang="it-IT" altLang="en-US" i="1" dirty="0">
                <a:cs typeface="Times New Roman" panose="02020603050405020304" pitchFamily="18" charset="0"/>
              </a:rPr>
              <a:t>Goal-Test</a:t>
            </a:r>
            <a:r>
              <a:rPr lang="it-IT" altLang="en-US" dirty="0">
                <a:cs typeface="Times New Roman" panose="02020603050405020304" pitchFamily="18" charset="0"/>
              </a:rPr>
              <a:t>:  8 regine sulla scacchiera, nessuna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 			   sotto scacco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i="1" dirty="0">
                <a:cs typeface="Times New Roman" panose="02020603050405020304" pitchFamily="18" charset="0"/>
              </a:rPr>
              <a:t>Costo cammino</a:t>
            </a:r>
            <a:r>
              <a:rPr lang="it-IT" altLang="en-US" dirty="0">
                <a:cs typeface="Times New Roman" panose="02020603050405020304" pitchFamily="18" charset="0"/>
              </a:rPr>
              <a:t>: zero </a:t>
            </a:r>
            <a:r>
              <a:rPr lang="it-IT" altLang="en-US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(perché?)</a:t>
            </a:r>
            <a:r>
              <a:rPr lang="it-IT" altLang="en-US" dirty="0"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it-IT" altLang="en-US" i="1" dirty="0">
                <a:cs typeface="Times New Roman" panose="02020603050405020304" pitchFamily="18" charset="0"/>
              </a:rPr>
              <a:t>Azioni</a:t>
            </a:r>
            <a:r>
              <a:rPr lang="it-IT" altLang="en-US" dirty="0">
                <a:cs typeface="Times New Roman" panose="02020603050405020304" pitchFamily="18" charset="0"/>
              </a:rPr>
              <a:t>: aggiungi una regina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		64 </a:t>
            </a:r>
            <a:r>
              <a:rPr lang="it-IT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it-IT" altLang="en-US" dirty="0">
                <a:cs typeface="Times New Roman" panose="02020603050405020304" pitchFamily="18" charset="0"/>
              </a:rPr>
              <a:t> </a:t>
            </a:r>
            <a:r>
              <a:rPr lang="it-IT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63  …  57 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~</a:t>
            </a:r>
            <a:r>
              <a:rPr lang="it-IT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1,8  10</a:t>
            </a:r>
            <a:r>
              <a:rPr lang="it-IT" altLang="en-US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14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en-US" baseline="30000" dirty="0">
                <a:cs typeface="Times New Roman" panose="02020603050405020304" pitchFamily="18" charset="0"/>
              </a:rPr>
              <a:t>	 </a:t>
            </a:r>
            <a:r>
              <a:rPr lang="it-IT" altLang="en-US" dirty="0">
                <a:cs typeface="Times New Roman" panose="02020603050405020304" pitchFamily="18" charset="0"/>
              </a:rPr>
              <a:t>sequenze da considerare!</a:t>
            </a:r>
            <a:r>
              <a:rPr lang="en-GB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5623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17302" y="448965"/>
            <a:ext cx="8637588" cy="13239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>
                <a:ea typeface="+mj-ea"/>
                <a:cs typeface="+mj-cs"/>
              </a:rPr>
              <a:t>Le </a:t>
            </a:r>
            <a:r>
              <a:rPr lang="en-US" sz="4400" dirty="0" err="1">
                <a:ea typeface="+mj-ea"/>
                <a:cs typeface="+mj-cs"/>
              </a:rPr>
              <a:t>otto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regine</a:t>
            </a:r>
            <a:r>
              <a:rPr lang="en-US" sz="4400" dirty="0">
                <a:ea typeface="+mj-ea"/>
                <a:cs typeface="+mj-cs"/>
              </a:rPr>
              <a:t>: </a:t>
            </a:r>
            <a:br>
              <a:rPr lang="en-US" dirty="0">
                <a:ea typeface="+mj-ea"/>
                <a:cs typeface="+mj-cs"/>
              </a:rPr>
            </a:br>
            <a:r>
              <a:rPr lang="en-US" sz="3600" i="1" dirty="0" err="1">
                <a:ea typeface="+mj-ea"/>
                <a:cs typeface="+mj-cs"/>
              </a:rPr>
              <a:t>Formulazione</a:t>
            </a:r>
            <a:r>
              <a:rPr lang="en-US" sz="3600" i="1" dirty="0">
                <a:ea typeface="+mj-ea"/>
                <a:cs typeface="+mj-cs"/>
              </a:rPr>
              <a:t> </a:t>
            </a:r>
            <a:r>
              <a:rPr lang="en-US" sz="3600" i="1" dirty="0" err="1">
                <a:ea typeface="+mj-ea"/>
                <a:cs typeface="+mj-cs"/>
              </a:rPr>
              <a:t>incrementale</a:t>
            </a:r>
            <a:r>
              <a:rPr lang="en-US" sz="3600" i="1" dirty="0">
                <a:ea typeface="+mj-ea"/>
                <a:cs typeface="+mj-cs"/>
              </a:rPr>
              <a:t> 2</a:t>
            </a:r>
            <a:endParaRPr lang="en-GB" sz="3600" i="1" dirty="0">
              <a:ea typeface="+mj-ea"/>
              <a:cs typeface="+mj-cs"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988840"/>
            <a:ext cx="8208963" cy="44656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en-US" i="1" dirty="0">
                <a:cs typeface="Times New Roman" panose="02020603050405020304" pitchFamily="18" charset="0"/>
              </a:rPr>
              <a:t>Stati</a:t>
            </a:r>
            <a:r>
              <a:rPr lang="it-IT" altLang="en-US" dirty="0">
                <a:cs typeface="Times New Roman" panose="02020603050405020304" pitchFamily="18" charset="0"/>
              </a:rPr>
              <a:t>: scacchiere con 0-8 regine, </a:t>
            </a:r>
            <a:r>
              <a:rPr lang="it-IT" altLang="en-US" dirty="0">
                <a:solidFill>
                  <a:schemeClr val="accent1"/>
                </a:solidFill>
                <a:cs typeface="Times New Roman" panose="02020603050405020304" pitchFamily="18" charset="0"/>
              </a:rPr>
              <a:t>nessuna minacciata</a:t>
            </a:r>
            <a:endParaRPr lang="it-IT" altLang="en-US" i="1" dirty="0">
              <a:solidFill>
                <a:schemeClr val="accent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i="1" dirty="0">
                <a:cs typeface="Times New Roman" panose="02020603050405020304" pitchFamily="18" charset="0"/>
              </a:rPr>
              <a:t>Goal-Test</a:t>
            </a:r>
            <a:r>
              <a:rPr lang="it-IT" altLang="en-US" dirty="0">
                <a:cs typeface="Times New Roman" panose="02020603050405020304" pitchFamily="18" charset="0"/>
              </a:rPr>
              <a:t>:  8 regine sulla scacchiera, nessuna minacciata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i="1" dirty="0">
                <a:cs typeface="Times New Roman" panose="02020603050405020304" pitchFamily="18" charset="0"/>
              </a:rPr>
              <a:t>Costo cammino</a:t>
            </a:r>
            <a:r>
              <a:rPr lang="it-IT" altLang="en-US" dirty="0">
                <a:cs typeface="Times New Roman" panose="02020603050405020304" pitchFamily="18" charset="0"/>
              </a:rPr>
              <a:t>: zero </a:t>
            </a:r>
            <a:endParaRPr lang="it-IT" altLang="en-US" dirty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i="1" dirty="0">
                <a:cs typeface="Times New Roman" panose="02020603050405020304" pitchFamily="18" charset="0"/>
              </a:rPr>
              <a:t>Azioni</a:t>
            </a:r>
            <a:r>
              <a:rPr lang="it-IT" altLang="en-US" dirty="0">
                <a:cs typeface="Times New Roman" panose="02020603050405020304" pitchFamily="18" charset="0"/>
              </a:rPr>
              <a:t>: aggiungi una regina </a:t>
            </a:r>
            <a:r>
              <a:rPr lang="it-IT" altLang="en-US" dirty="0">
                <a:solidFill>
                  <a:srgbClr val="009999"/>
                </a:solidFill>
                <a:cs typeface="Times New Roman" panose="02020603050405020304" pitchFamily="18" charset="0"/>
              </a:rPr>
              <a:t>nella colonna vuota  più a destra ancora libera in modo che non sia sotto scacco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   solo 2057 sequenze da considerare</a:t>
            </a:r>
            <a:endParaRPr lang="en-GB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318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620688"/>
            <a:ext cx="8332787" cy="132238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>
                <a:ea typeface="+mj-ea"/>
                <a:cs typeface="+mj-cs"/>
              </a:rPr>
              <a:t>Le 8 </a:t>
            </a:r>
            <a:r>
              <a:rPr lang="en-US" sz="4400" dirty="0" err="1">
                <a:ea typeface="+mj-ea"/>
                <a:cs typeface="+mj-cs"/>
              </a:rPr>
              <a:t>regine</a:t>
            </a:r>
            <a:r>
              <a:rPr lang="en-US" sz="4400" dirty="0">
                <a:ea typeface="+mj-ea"/>
                <a:cs typeface="+mj-cs"/>
              </a:rPr>
              <a:t>: </a:t>
            </a:r>
            <a:br>
              <a:rPr lang="en-US" dirty="0">
                <a:ea typeface="+mj-ea"/>
                <a:cs typeface="+mj-cs"/>
              </a:rPr>
            </a:br>
            <a:r>
              <a:rPr lang="en-US" sz="3600" i="1" dirty="0" err="1">
                <a:ea typeface="+mj-ea"/>
                <a:cs typeface="+mj-cs"/>
              </a:rPr>
              <a:t>Formulazione</a:t>
            </a:r>
            <a:r>
              <a:rPr lang="en-US" sz="3600" i="1" dirty="0">
                <a:ea typeface="+mj-ea"/>
                <a:cs typeface="+mj-cs"/>
              </a:rPr>
              <a:t> a </a:t>
            </a:r>
            <a:r>
              <a:rPr lang="en-US" sz="3600" i="1" dirty="0" err="1">
                <a:ea typeface="+mj-ea"/>
                <a:cs typeface="+mj-cs"/>
              </a:rPr>
              <a:t>stato</a:t>
            </a:r>
            <a:r>
              <a:rPr lang="en-US" sz="3600" i="1" dirty="0">
                <a:ea typeface="+mj-ea"/>
                <a:cs typeface="+mj-cs"/>
              </a:rPr>
              <a:t> </a:t>
            </a:r>
            <a:r>
              <a:rPr lang="en-US" sz="3600" i="1" dirty="0" err="1">
                <a:ea typeface="+mj-ea"/>
                <a:cs typeface="+mj-cs"/>
              </a:rPr>
              <a:t>completo</a:t>
            </a:r>
            <a:endParaRPr lang="en-GB" sz="3600" i="1" dirty="0">
              <a:ea typeface="+mj-ea"/>
              <a:cs typeface="+mj-cs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534219" y="2365351"/>
            <a:ext cx="8208962" cy="41148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it-IT" i="1" dirty="0">
                <a:ea typeface="+mn-ea"/>
                <a:cs typeface="Times New Roman" charset="0"/>
              </a:rPr>
              <a:t>Goal-Test</a:t>
            </a:r>
            <a:r>
              <a:rPr lang="it-IT" dirty="0">
                <a:ea typeface="+mn-ea"/>
                <a:cs typeface="Times New Roman" charset="0"/>
              </a:rPr>
              <a:t>:  8 regine sulla scacchiera, nessuna</a:t>
            </a:r>
            <a:endParaRPr lang="en-GB" dirty="0">
              <a:ea typeface="+mn-ea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lang="it-IT" dirty="0">
                <a:ea typeface="+mn-ea"/>
                <a:cs typeface="Times New Roman" charset="0"/>
              </a:rPr>
              <a:t> 			   minacciata</a:t>
            </a:r>
            <a:endParaRPr lang="en-GB" dirty="0">
              <a:ea typeface="+mn-ea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it-IT" i="1" dirty="0">
                <a:ea typeface="+mn-ea"/>
                <a:cs typeface="Times New Roman" charset="0"/>
              </a:rPr>
              <a:t>Costo cammino</a:t>
            </a:r>
            <a:r>
              <a:rPr lang="it-IT" dirty="0">
                <a:ea typeface="+mn-ea"/>
                <a:cs typeface="Times New Roman" charset="0"/>
              </a:rPr>
              <a:t>: zero 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it-IT" i="1" dirty="0">
                <a:ea typeface="+mn-ea"/>
                <a:cs typeface="Times New Roman" charset="0"/>
              </a:rPr>
              <a:t>Stati</a:t>
            </a:r>
            <a:r>
              <a:rPr lang="it-IT" dirty="0">
                <a:ea typeface="+mn-ea"/>
                <a:cs typeface="Times New Roman" charset="0"/>
              </a:rPr>
              <a:t>: scacchiere con </a:t>
            </a:r>
            <a:r>
              <a:rPr lang="it-IT" dirty="0">
                <a:solidFill>
                  <a:srgbClr val="009999"/>
                </a:solidFill>
                <a:ea typeface="+mn-ea"/>
                <a:cs typeface="Times New Roman" charset="0"/>
              </a:rPr>
              <a:t>8 regine, una per colonna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it-IT" i="1" dirty="0">
                <a:ea typeface="+mn-ea"/>
                <a:cs typeface="Times New Roman" charset="0"/>
              </a:rPr>
              <a:t>Azioni</a:t>
            </a:r>
            <a:r>
              <a:rPr lang="it-IT" dirty="0">
                <a:ea typeface="+mn-ea"/>
                <a:cs typeface="Times New Roman" charset="0"/>
              </a:rPr>
              <a:t>: </a:t>
            </a:r>
            <a:r>
              <a:rPr lang="it-IT" dirty="0">
                <a:solidFill>
                  <a:srgbClr val="009999"/>
                </a:solidFill>
                <a:ea typeface="+mn-ea"/>
                <a:cs typeface="Times New Roman" charset="0"/>
              </a:rPr>
              <a:t>sposta una regina nella colonna, se minacciata</a:t>
            </a:r>
          </a:p>
        </p:txBody>
      </p:sp>
    </p:spTree>
    <p:extLst>
      <p:ext uri="{BB962C8B-B14F-4D97-AF65-F5344CB8AC3E}">
        <p14:creationId xmlns:p14="http://schemas.microsoft.com/office/powerpoint/2010/main" val="85108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143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Dimostrazione</a:t>
            </a:r>
            <a:r>
              <a:rPr lang="en-US" sz="4400" dirty="0">
                <a:ea typeface="+mj-ea"/>
                <a:cs typeface="+mj-cs"/>
              </a:rPr>
              <a:t> di </a:t>
            </a:r>
            <a:r>
              <a:rPr lang="en-US" sz="4400" dirty="0" err="1">
                <a:ea typeface="+mj-ea"/>
                <a:cs typeface="+mj-cs"/>
              </a:rPr>
              <a:t>teoremi</a:t>
            </a:r>
            <a:r>
              <a:rPr lang="en-US" sz="4400" dirty="0">
                <a:ea typeface="+mj-ea"/>
                <a:cs typeface="+mj-cs"/>
              </a:rPr>
              <a:t>: </a:t>
            </a:r>
            <a:r>
              <a:rPr lang="en-US" sz="4400" dirty="0" err="1">
                <a:ea typeface="+mj-ea"/>
                <a:cs typeface="+mj-cs"/>
              </a:rPr>
              <a:t>il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problema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268288" y="1988840"/>
            <a:ext cx="8686800" cy="4444752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269875" lvl="1" indent="-269875"/>
            <a:r>
              <a:rPr lang="en-US" altLang="en-US" sz="3200" dirty="0" err="1"/>
              <a:t>Dato</a:t>
            </a:r>
            <a:r>
              <a:rPr lang="en-US" altLang="en-US" sz="3200" dirty="0"/>
              <a:t> un </a:t>
            </a:r>
            <a:r>
              <a:rPr lang="en-US" altLang="en-US" sz="3200" dirty="0" err="1"/>
              <a:t>insieme</a:t>
            </a:r>
            <a:r>
              <a:rPr lang="en-US" altLang="en-US" sz="3200" dirty="0"/>
              <a:t> di </a:t>
            </a:r>
            <a:r>
              <a:rPr lang="en-US" altLang="en-US" sz="3200" dirty="0" err="1"/>
              <a:t>formule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logiche</a:t>
            </a:r>
            <a:r>
              <a:rPr lang="en-US" altLang="en-US" sz="3200" dirty="0"/>
              <a:t> </a:t>
            </a:r>
            <a:r>
              <a:rPr lang="en-US" altLang="en-US" sz="2800" dirty="0"/>
              <a:t>(</a:t>
            </a:r>
            <a:r>
              <a:rPr lang="en-US" altLang="en-US" sz="2800" dirty="0" err="1"/>
              <a:t>premesse</a:t>
            </a:r>
            <a:r>
              <a:rPr lang="en-US" altLang="en-US" sz="2800" dirty="0"/>
              <a:t>)</a:t>
            </a:r>
            <a:endParaRPr lang="en-US" altLang="en-US" dirty="0"/>
          </a:p>
          <a:p>
            <a:pPr algn="ctr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GB" altLang="en-US" i="1" dirty="0">
                <a:cs typeface="Times New Roman" panose="02020603050405020304" pitchFamily="18" charset="0"/>
              </a:rPr>
              <a:t>{s, t, </a:t>
            </a:r>
            <a:r>
              <a:rPr lang="en-GB" altLang="en-US" i="1" dirty="0" err="1">
                <a:cs typeface="Times New Roman" panose="02020603050405020304" pitchFamily="18" charset="0"/>
              </a:rPr>
              <a:t>q</a:t>
            </a:r>
            <a:r>
              <a:rPr lang="en-GB" altLang="en-US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GB" altLang="en-US" i="1" dirty="0" err="1">
                <a:cs typeface="Times New Roman" panose="02020603050405020304" pitchFamily="18" charset="0"/>
              </a:rPr>
              <a:t>p</a:t>
            </a:r>
            <a:r>
              <a:rPr lang="en-GB" altLang="en-US" i="1" dirty="0">
                <a:cs typeface="Times New Roman" panose="02020603050405020304" pitchFamily="18" charset="0"/>
              </a:rPr>
              <a:t>, </a:t>
            </a:r>
            <a:r>
              <a:rPr lang="en-GB" altLang="en-US" i="1" dirty="0" err="1">
                <a:cs typeface="Times New Roman" panose="02020603050405020304" pitchFamily="18" charset="0"/>
              </a:rPr>
              <a:t>r</a:t>
            </a:r>
            <a:r>
              <a:rPr lang="en-GB" altLang="en-US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GB" altLang="en-US" i="1" dirty="0" err="1">
                <a:cs typeface="Times New Roman" panose="02020603050405020304" pitchFamily="18" charset="0"/>
              </a:rPr>
              <a:t>p</a:t>
            </a:r>
            <a:r>
              <a:rPr lang="en-GB" altLang="en-US" i="1" dirty="0">
                <a:cs typeface="Times New Roman" panose="02020603050405020304" pitchFamily="18" charset="0"/>
              </a:rPr>
              <a:t>, </a:t>
            </a:r>
            <a:r>
              <a:rPr lang="en-GB" altLang="en-US" i="1" dirty="0" err="1">
                <a:cs typeface="Times New Roman" panose="02020603050405020304" pitchFamily="18" charset="0"/>
              </a:rPr>
              <a:t>v</a:t>
            </a:r>
            <a:r>
              <a:rPr lang="en-GB" altLang="en-US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GB" altLang="en-US" i="1" dirty="0" err="1">
                <a:cs typeface="Times New Roman" panose="02020603050405020304" pitchFamily="18" charset="0"/>
              </a:rPr>
              <a:t>q</a:t>
            </a:r>
            <a:r>
              <a:rPr lang="en-GB" altLang="en-US" i="1" dirty="0">
                <a:cs typeface="Times New Roman" panose="02020603050405020304" pitchFamily="18" charset="0"/>
              </a:rPr>
              <a:t>, </a:t>
            </a:r>
            <a:r>
              <a:rPr lang="en-GB" altLang="en-US" i="1" dirty="0" err="1">
                <a:cs typeface="Times New Roman" panose="02020603050405020304" pitchFamily="18" charset="0"/>
              </a:rPr>
              <a:t>t</a:t>
            </a:r>
            <a:r>
              <a:rPr lang="en-GB" altLang="en-US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GB" altLang="en-US" i="1" dirty="0" err="1">
                <a:cs typeface="Times New Roman" panose="02020603050405020304" pitchFamily="18" charset="0"/>
              </a:rPr>
              <a:t>r</a:t>
            </a:r>
            <a:r>
              <a:rPr lang="en-GB" altLang="en-US" i="1" dirty="0">
                <a:cs typeface="Times New Roman" panose="02020603050405020304" pitchFamily="18" charset="0"/>
              </a:rPr>
              <a:t>, </a:t>
            </a:r>
            <a:r>
              <a:rPr lang="en-GB" altLang="en-US" i="1" dirty="0" err="1">
                <a:cs typeface="Times New Roman" panose="02020603050405020304" pitchFamily="18" charset="0"/>
              </a:rPr>
              <a:t>s</a:t>
            </a:r>
            <a:r>
              <a:rPr lang="en-GB" altLang="en-US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GB" altLang="en-US" i="1" dirty="0" err="1">
                <a:cs typeface="Times New Roman" panose="02020603050405020304" pitchFamily="18" charset="0"/>
              </a:rPr>
              <a:t>v</a:t>
            </a:r>
            <a:r>
              <a:rPr lang="en-US" altLang="en-US" i="1" dirty="0"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i="1" dirty="0">
                <a:cs typeface="Times New Roman" panose="02020603050405020304" pitchFamily="18" charset="0"/>
              </a:rPr>
              <a:t>	</a:t>
            </a:r>
            <a:r>
              <a:rPr lang="en-US" altLang="en-US" sz="3200" i="1" dirty="0"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cs typeface="Times New Roman" panose="02020603050405020304" pitchFamily="18" charset="0"/>
              </a:rPr>
              <a:t>dimostrare</a:t>
            </a:r>
            <a:r>
              <a:rPr lang="en-US" altLang="en-US" sz="3200" dirty="0"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cs typeface="Times New Roman" panose="02020603050405020304" pitchFamily="18" charset="0"/>
              </a:rPr>
              <a:t>una</a:t>
            </a:r>
            <a:r>
              <a:rPr lang="en-US" altLang="en-US" sz="3200" dirty="0"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cs typeface="Times New Roman" panose="02020603050405020304" pitchFamily="18" charset="0"/>
              </a:rPr>
              <a:t>proposizione</a:t>
            </a:r>
            <a:r>
              <a:rPr lang="en-US" altLang="en-US" sz="3200" dirty="0">
                <a:cs typeface="Times New Roman" panose="02020603050405020304" pitchFamily="18" charset="0"/>
              </a:rPr>
              <a:t> </a:t>
            </a:r>
            <a:r>
              <a:rPr lang="en-US" altLang="en-US" sz="3200" i="1" dirty="0">
                <a:cs typeface="Times New Roman" panose="02020603050405020304" pitchFamily="18" charset="0"/>
              </a:rPr>
              <a:t>p</a:t>
            </a:r>
          </a:p>
          <a:p>
            <a:pPr eaLnBrk="1" hangingPunct="1"/>
            <a:endParaRPr lang="it-IT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dirty="0">
                <a:cs typeface="Times New Roman" panose="02020603050405020304" pitchFamily="18" charset="0"/>
              </a:rPr>
              <a:t>Nel calcolo proposizionale basta un’unica regola di inferenza, il</a:t>
            </a:r>
            <a:r>
              <a:rPr lang="it-IT" altLang="en-US" i="1" dirty="0">
                <a:cs typeface="Times New Roman" panose="02020603050405020304" pitchFamily="18" charset="0"/>
              </a:rPr>
              <a:t> Modus Ponens (MP):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en-US" b="1" i="1" dirty="0">
                <a:cs typeface="Times New Roman" panose="02020603050405020304" pitchFamily="18" charset="0"/>
              </a:rPr>
              <a:t> 			</a:t>
            </a:r>
            <a:r>
              <a:rPr lang="it-IT" altLang="en-US" dirty="0">
                <a:cs typeface="Times New Roman" panose="02020603050405020304" pitchFamily="18" charset="0"/>
              </a:rPr>
              <a:t>Se</a:t>
            </a:r>
            <a:r>
              <a:rPr lang="it-IT" altLang="en-US" i="1" dirty="0">
                <a:cs typeface="Times New Roman" panose="02020603050405020304" pitchFamily="18" charset="0"/>
              </a:rPr>
              <a:t>   p   </a:t>
            </a:r>
            <a:r>
              <a:rPr lang="it-IT" altLang="en-US" dirty="0">
                <a:cs typeface="Times New Roman" panose="02020603050405020304" pitchFamily="18" charset="0"/>
              </a:rPr>
              <a:t>e</a:t>
            </a:r>
            <a:r>
              <a:rPr lang="it-IT" altLang="en-US" i="1" dirty="0">
                <a:cs typeface="Times New Roman" panose="02020603050405020304" pitchFamily="18" charset="0"/>
              </a:rPr>
              <a:t>    p </a:t>
            </a:r>
            <a:r>
              <a:rPr lang="en-GB" alt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it-IT" altLang="en-US" i="1" dirty="0">
                <a:cs typeface="Times New Roman" panose="02020603050405020304" pitchFamily="18" charset="0"/>
              </a:rPr>
              <a:t>q   </a:t>
            </a:r>
            <a:r>
              <a:rPr lang="it-IT" altLang="en-US" dirty="0">
                <a:cs typeface="Times New Roman" panose="02020603050405020304" pitchFamily="18" charset="0"/>
              </a:rPr>
              <a:t>allora</a:t>
            </a:r>
            <a:r>
              <a:rPr lang="it-IT" altLang="en-US" i="1" dirty="0">
                <a:cs typeface="Times New Roman" panose="02020603050405020304" pitchFamily="18" charset="0"/>
              </a:rPr>
              <a:t>   q</a:t>
            </a:r>
          </a:p>
          <a:p>
            <a:pPr eaLnBrk="1" hangingPunct="1"/>
            <a:endParaRPr lang="en-GB" altLang="en-US" sz="2800" i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4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76288"/>
            <a:ext cx="8637588" cy="70802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ea typeface="+mj-ea"/>
                <a:cs typeface="+mj-cs"/>
              </a:rPr>
              <a:t>Dim. </a:t>
            </a:r>
            <a:r>
              <a:rPr lang="en-US" sz="4000" dirty="0" err="1">
                <a:ea typeface="+mj-ea"/>
                <a:cs typeface="+mj-cs"/>
              </a:rPr>
              <a:t>teoremi</a:t>
            </a:r>
            <a:r>
              <a:rPr lang="en-US" sz="4000" dirty="0">
                <a:ea typeface="+mj-ea"/>
                <a:cs typeface="+mj-cs"/>
              </a:rPr>
              <a:t>: </a:t>
            </a:r>
            <a:r>
              <a:rPr lang="en-US" sz="4000" dirty="0" err="1">
                <a:ea typeface="+mj-ea"/>
                <a:cs typeface="+mj-cs"/>
              </a:rPr>
              <a:t>formulazione</a:t>
            </a:r>
            <a:endParaRPr lang="en-GB" sz="4000" dirty="0">
              <a:ea typeface="+mj-ea"/>
              <a:cs typeface="+mj-cs"/>
            </a:endParaRP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en-US" i="1" dirty="0">
                <a:cs typeface="Times New Roman" panose="02020603050405020304" pitchFamily="18" charset="0"/>
              </a:rPr>
              <a:t>Stati</a:t>
            </a:r>
            <a:r>
              <a:rPr lang="it-IT" altLang="en-US" dirty="0">
                <a:cs typeface="Times New Roman" panose="02020603050405020304" pitchFamily="18" charset="0"/>
              </a:rPr>
              <a:t>: insiemi di formule proposizionali</a:t>
            </a:r>
            <a:endParaRPr lang="en-GB" altLang="en-US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it-IT" altLang="en-US" i="1" dirty="0">
                <a:cs typeface="Times New Roman" panose="02020603050405020304" pitchFamily="18" charset="0"/>
              </a:rPr>
              <a:t>Stato iniziale</a:t>
            </a:r>
            <a:r>
              <a:rPr lang="it-IT" altLang="en-US" dirty="0">
                <a:cs typeface="Times New Roman" panose="02020603050405020304" pitchFamily="18" charset="0"/>
              </a:rPr>
              <a:t>: un certo insieme di formule proposizionali (le premesse).</a:t>
            </a:r>
            <a:r>
              <a:rPr lang="it-IT" altLang="en-US" i="1" dirty="0">
                <a:cs typeface="Times New Roman" panose="02020603050405020304" pitchFamily="18" charset="0"/>
              </a:rPr>
              <a:t> </a:t>
            </a:r>
            <a:endParaRPr lang="en-GB" altLang="en-US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it-IT" altLang="en-US" i="1" dirty="0">
                <a:cs typeface="Times New Roman" panose="02020603050405020304" pitchFamily="18" charset="0"/>
              </a:rPr>
              <a:t>Stato obiettivo</a:t>
            </a:r>
            <a:r>
              <a:rPr lang="it-IT" altLang="en-US" dirty="0">
                <a:cs typeface="Times New Roman" panose="02020603050405020304" pitchFamily="18" charset="0"/>
              </a:rPr>
              <a:t>: l’insieme di formule proposizionali che </a:t>
            </a:r>
            <a:r>
              <a:rPr lang="it-IT" altLang="en-US" dirty="0">
                <a:solidFill>
                  <a:srgbClr val="FF9900"/>
                </a:solidFill>
                <a:cs typeface="Times New Roman" panose="02020603050405020304" pitchFamily="18" charset="0"/>
              </a:rPr>
              <a:t>contiene il teorema da dimostrare</a:t>
            </a:r>
            <a:r>
              <a:rPr lang="it-IT" altLang="en-US" dirty="0">
                <a:cs typeface="Times New Roman" panose="02020603050405020304" pitchFamily="18" charset="0"/>
              </a:rPr>
              <a:t>. </a:t>
            </a:r>
            <a:r>
              <a:rPr lang="it-IT" altLang="en-US" i="1" dirty="0">
                <a:cs typeface="Times New Roman" panose="02020603050405020304" pitchFamily="18" charset="0"/>
              </a:rPr>
              <a:t>Es p.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i="1" dirty="0">
                <a:cs typeface="Times New Roman" panose="02020603050405020304" pitchFamily="18" charset="0"/>
              </a:rPr>
              <a:t>Operatori: </a:t>
            </a:r>
            <a:r>
              <a:rPr lang="it-IT" altLang="en-US" dirty="0">
                <a:cs typeface="Times New Roman" panose="02020603050405020304" pitchFamily="18" charset="0"/>
              </a:rPr>
              <a:t>l’applicazione del MP, che aggiunge teoremi</a:t>
            </a:r>
            <a:endParaRPr lang="en-US" altLang="en-US" b="1" dirty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algn="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2"/>
                </a:solidFill>
                <a:cs typeface="Times New Roman" panose="02020603050405020304" pitchFamily="18" charset="0"/>
              </a:rPr>
              <a:t>continua</a:t>
            </a:r>
            <a:endParaRPr lang="en-GB" altLang="en-US" b="1" dirty="0">
              <a:solidFill>
                <a:schemeClr val="tx2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897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1613" y="260350"/>
            <a:ext cx="8637587" cy="70802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 err="1">
                <a:ea typeface="+mj-ea"/>
                <a:cs typeface="+mj-cs"/>
              </a:rPr>
              <a:t>Dimostrazione</a:t>
            </a:r>
            <a:r>
              <a:rPr lang="en-US" sz="4000" dirty="0">
                <a:ea typeface="+mj-ea"/>
                <a:cs typeface="+mj-cs"/>
              </a:rPr>
              <a:t> </a:t>
            </a:r>
            <a:r>
              <a:rPr lang="en-US" sz="4000" dirty="0" err="1">
                <a:ea typeface="+mj-ea"/>
                <a:cs typeface="+mj-cs"/>
              </a:rPr>
              <a:t>dei</a:t>
            </a:r>
            <a:r>
              <a:rPr lang="en-US" sz="4000" dirty="0">
                <a:ea typeface="+mj-ea"/>
                <a:cs typeface="+mj-cs"/>
              </a:rPr>
              <a:t> </a:t>
            </a:r>
            <a:r>
              <a:rPr lang="en-US" sz="4000" dirty="0" err="1">
                <a:ea typeface="+mj-ea"/>
                <a:cs typeface="+mj-cs"/>
              </a:rPr>
              <a:t>teoremi</a:t>
            </a:r>
            <a:r>
              <a:rPr lang="en-US" sz="4000" dirty="0">
                <a:ea typeface="+mj-ea"/>
                <a:cs typeface="+mj-cs"/>
              </a:rPr>
              <a:t>: </a:t>
            </a:r>
            <a:r>
              <a:rPr lang="en-US" sz="4000" dirty="0" err="1">
                <a:ea typeface="+mj-ea"/>
                <a:cs typeface="+mj-cs"/>
              </a:rPr>
              <a:t>spazio</a:t>
            </a:r>
            <a:r>
              <a:rPr lang="en-US" sz="4000" dirty="0">
                <a:ea typeface="+mj-ea"/>
                <a:cs typeface="+mj-cs"/>
              </a:rPr>
              <a:t> </a:t>
            </a:r>
            <a:r>
              <a:rPr lang="en-US" sz="4000" dirty="0" err="1">
                <a:ea typeface="+mj-ea"/>
                <a:cs typeface="+mj-cs"/>
              </a:rPr>
              <a:t>degli</a:t>
            </a:r>
            <a:r>
              <a:rPr lang="en-US" sz="4000" dirty="0">
                <a:ea typeface="+mj-ea"/>
                <a:cs typeface="+mj-cs"/>
              </a:rPr>
              <a:t> </a:t>
            </a:r>
            <a:r>
              <a:rPr lang="en-US" sz="4000" dirty="0" err="1">
                <a:ea typeface="+mj-ea"/>
                <a:cs typeface="+mj-cs"/>
              </a:rPr>
              <a:t>stati</a:t>
            </a:r>
            <a:endParaRPr lang="en-GB" sz="4000" dirty="0">
              <a:ea typeface="+mj-ea"/>
              <a:cs typeface="+mj-cs"/>
            </a:endParaRPr>
          </a:p>
        </p:txBody>
      </p:sp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1905000" y="1219200"/>
            <a:ext cx="50323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Wingdings" charset="0"/>
              <a:buNone/>
              <a:defRPr/>
            </a:pP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{s, t, q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r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v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q, t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r, s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v}</a:t>
            </a:r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304800" y="2514600"/>
            <a:ext cx="5578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{s, t, q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r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v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q, t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US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 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r, s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US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 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v,</a:t>
            </a:r>
            <a:r>
              <a:rPr lang="en-GB" sz="2800" b="0" i="1">
                <a:solidFill>
                  <a:schemeClr val="accent1"/>
                </a:solidFill>
                <a:latin typeface="Tw Cen MT" charset="0"/>
                <a:ea typeface="ＭＳ Ｐゴシック" charset="0"/>
                <a:cs typeface="Times New Roman" charset="0"/>
              </a:rPr>
              <a:t> </a:t>
            </a:r>
            <a:r>
              <a:rPr lang="en-GB" sz="2800" b="0" i="1">
                <a:solidFill>
                  <a:schemeClr val="tx2"/>
                </a:solidFill>
                <a:latin typeface="Tw Cen MT" charset="0"/>
                <a:ea typeface="ＭＳ Ｐゴシック" charset="0"/>
                <a:cs typeface="Times New Roman" charset="0"/>
              </a:rPr>
              <a:t>v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}</a:t>
            </a:r>
          </a:p>
        </p:txBody>
      </p:sp>
      <p:sp>
        <p:nvSpPr>
          <p:cNvPr id="118790" name="Rectangle 6"/>
          <p:cNvSpPr>
            <a:spLocks noChangeArrowheads="1"/>
          </p:cNvSpPr>
          <p:nvPr/>
        </p:nvSpPr>
        <p:spPr bwMode="auto">
          <a:xfrm>
            <a:off x="3429000" y="3505200"/>
            <a:ext cx="5345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{s, t, q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r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v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q, t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r, s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v,</a:t>
            </a:r>
            <a:r>
              <a:rPr lang="en-GB" sz="2800" b="0" i="1">
                <a:solidFill>
                  <a:schemeClr val="tx2"/>
                </a:solidFill>
                <a:latin typeface="Tw Cen MT" charset="0"/>
                <a:ea typeface="ＭＳ Ｐゴシック" charset="0"/>
                <a:cs typeface="Times New Roman" charset="0"/>
              </a:rPr>
              <a:t> r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}</a:t>
            </a:r>
          </a:p>
        </p:txBody>
      </p:sp>
      <p:sp>
        <p:nvSpPr>
          <p:cNvPr id="118791" name="Rectangle 7"/>
          <p:cNvSpPr>
            <a:spLocks noChangeArrowheads="1"/>
          </p:cNvSpPr>
          <p:nvPr/>
        </p:nvSpPr>
        <p:spPr bwMode="auto">
          <a:xfrm>
            <a:off x="304800" y="4419600"/>
            <a:ext cx="5754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{s, t, q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r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v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q, t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r, s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v, v, </a:t>
            </a:r>
            <a:r>
              <a:rPr lang="en-GB" sz="2800" b="0" i="1">
                <a:solidFill>
                  <a:schemeClr val="tx2"/>
                </a:solidFill>
                <a:latin typeface="Tw Cen MT" charset="0"/>
                <a:ea typeface="ＭＳ Ｐゴシック" charset="0"/>
                <a:cs typeface="Times New Roman" charset="0"/>
              </a:rPr>
              <a:t>q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}</a:t>
            </a:r>
          </a:p>
        </p:txBody>
      </p:sp>
      <p:sp>
        <p:nvSpPr>
          <p:cNvPr id="118792" name="Rectangle 8"/>
          <p:cNvSpPr>
            <a:spLocks noChangeArrowheads="1"/>
          </p:cNvSpPr>
          <p:nvPr/>
        </p:nvSpPr>
        <p:spPr bwMode="auto">
          <a:xfrm>
            <a:off x="2895600" y="5334000"/>
            <a:ext cx="5716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{s, t, q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r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v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q, t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r, s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v, r,</a:t>
            </a:r>
            <a:r>
              <a:rPr lang="en-GB" sz="2800" b="0" i="1">
                <a:solidFill>
                  <a:schemeClr val="tx2"/>
                </a:solidFill>
                <a:latin typeface="Tw Cen MT" charset="0"/>
                <a:ea typeface="ＭＳ Ｐゴシック" charset="0"/>
                <a:cs typeface="Times New Roman" charset="0"/>
              </a:rPr>
              <a:t> p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}</a:t>
            </a:r>
          </a:p>
        </p:txBody>
      </p:sp>
      <p:sp>
        <p:nvSpPr>
          <p:cNvPr id="118793" name="Rectangle 9"/>
          <p:cNvSpPr>
            <a:spLocks noChangeArrowheads="1"/>
          </p:cNvSpPr>
          <p:nvPr/>
        </p:nvSpPr>
        <p:spPr bwMode="auto">
          <a:xfrm>
            <a:off x="304800" y="6019800"/>
            <a:ext cx="6126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{s, t, q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r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p, v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q, t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r, s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  <a:sym typeface="Symbol" charset="0"/>
              </a:rPr>
              <a:t>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v, v, q, </a:t>
            </a:r>
            <a:r>
              <a:rPr lang="en-GB" sz="2800" b="0" i="1">
                <a:solidFill>
                  <a:schemeClr val="tx2"/>
                </a:solidFill>
                <a:latin typeface="Tw Cen MT" charset="0"/>
                <a:ea typeface="ＭＳ Ｐゴシック" charset="0"/>
                <a:cs typeface="Times New Roman" charset="0"/>
              </a:rPr>
              <a:t>p</a:t>
            </a:r>
            <a:r>
              <a:rPr lang="en-GB" sz="2800" b="0" i="1">
                <a:latin typeface="Tw Cen MT" charset="0"/>
                <a:ea typeface="ＭＳ Ｐゴシック" charset="0"/>
                <a:cs typeface="Times New Roman" charset="0"/>
              </a:rPr>
              <a:t>}</a:t>
            </a:r>
          </a:p>
        </p:txBody>
      </p:sp>
      <p:sp>
        <p:nvSpPr>
          <p:cNvPr id="118794" name="Line 10"/>
          <p:cNvSpPr>
            <a:spLocks noChangeShapeType="1"/>
          </p:cNvSpPr>
          <p:nvPr/>
        </p:nvSpPr>
        <p:spPr bwMode="auto">
          <a:xfrm flipH="1">
            <a:off x="3048000" y="1695450"/>
            <a:ext cx="803920" cy="895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18795" name="Line 11"/>
          <p:cNvSpPr>
            <a:spLocks noChangeShapeType="1"/>
          </p:cNvSpPr>
          <p:nvPr/>
        </p:nvSpPr>
        <p:spPr bwMode="auto">
          <a:xfrm>
            <a:off x="5580112" y="1628800"/>
            <a:ext cx="1506488" cy="18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18796" name="Line 12"/>
          <p:cNvSpPr>
            <a:spLocks noChangeShapeType="1"/>
          </p:cNvSpPr>
          <p:nvPr/>
        </p:nvSpPr>
        <p:spPr bwMode="auto">
          <a:xfrm>
            <a:off x="2743200" y="31242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18797" name="Line 13"/>
          <p:cNvSpPr>
            <a:spLocks noChangeShapeType="1"/>
          </p:cNvSpPr>
          <p:nvPr/>
        </p:nvSpPr>
        <p:spPr bwMode="auto">
          <a:xfrm>
            <a:off x="2743200" y="4876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18798" name="Line 14"/>
          <p:cNvSpPr>
            <a:spLocks noChangeShapeType="1"/>
          </p:cNvSpPr>
          <p:nvPr/>
        </p:nvSpPr>
        <p:spPr bwMode="auto">
          <a:xfrm>
            <a:off x="7162800" y="40386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18799" name="Rectangle 15"/>
          <p:cNvSpPr>
            <a:spLocks noChangeArrowheads="1"/>
          </p:cNvSpPr>
          <p:nvPr/>
        </p:nvSpPr>
        <p:spPr bwMode="auto">
          <a:xfrm>
            <a:off x="304800" y="6096000"/>
            <a:ext cx="6477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118800" name="Rectangle 16"/>
          <p:cNvSpPr>
            <a:spLocks noChangeArrowheads="1"/>
          </p:cNvSpPr>
          <p:nvPr/>
        </p:nvSpPr>
        <p:spPr bwMode="auto">
          <a:xfrm>
            <a:off x="2971800" y="5410200"/>
            <a:ext cx="5943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866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en-US" dirty="0" err="1">
                <a:ea typeface="+mj-ea"/>
              </a:rPr>
              <a:t>Problemi</a:t>
            </a:r>
            <a:r>
              <a:rPr lang="en-US" dirty="0">
                <a:ea typeface="+mj-ea"/>
              </a:rPr>
              <a:t> </a:t>
            </a:r>
            <a:r>
              <a:rPr lang="en-US" dirty="0" err="1">
                <a:ea typeface="+mj-ea"/>
              </a:rPr>
              <a:t>applicativi</a:t>
            </a:r>
            <a:r>
              <a:rPr lang="en-US" dirty="0">
                <a:ea typeface="+mj-ea"/>
              </a:rPr>
              <a:t>: </a:t>
            </a:r>
            <a:r>
              <a:rPr lang="en-US" dirty="0" err="1">
                <a:ea typeface="+mj-ea"/>
              </a:rPr>
              <a:t>esempi</a:t>
            </a:r>
            <a:endParaRPr lang="en-US" dirty="0">
              <a:ea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20000"/>
          </a:bodyPr>
          <a:lstStyle/>
          <a:p>
            <a:r>
              <a:rPr lang="en-US" altLang="en-US" dirty="0" err="1"/>
              <a:t>Pianificazione</a:t>
            </a:r>
            <a:r>
              <a:rPr lang="en-US" altLang="en-US" dirty="0"/>
              <a:t> di </a:t>
            </a:r>
            <a:r>
              <a:rPr lang="en-US" altLang="en-US" dirty="0" err="1"/>
              <a:t>viaggi</a:t>
            </a:r>
            <a:r>
              <a:rPr lang="en-US" altLang="en-US" dirty="0"/>
              <a:t> </a:t>
            </a:r>
            <a:r>
              <a:rPr lang="en-US" altLang="en-US" dirty="0" err="1"/>
              <a:t>aerei</a:t>
            </a:r>
            <a:endParaRPr lang="en-US" altLang="en-US" dirty="0"/>
          </a:p>
          <a:p>
            <a:r>
              <a:rPr lang="en-US" altLang="en-US" dirty="0" err="1"/>
              <a:t>Problema</a:t>
            </a:r>
            <a:r>
              <a:rPr lang="en-US" altLang="en-US" dirty="0"/>
              <a:t> del </a:t>
            </a:r>
            <a:r>
              <a:rPr lang="en-US" altLang="en-US" dirty="0" err="1"/>
              <a:t>commesso</a:t>
            </a:r>
            <a:r>
              <a:rPr lang="en-US" altLang="en-US" dirty="0"/>
              <a:t> </a:t>
            </a:r>
            <a:r>
              <a:rPr lang="en-US" altLang="en-US" dirty="0" err="1"/>
              <a:t>viaggiatore</a:t>
            </a:r>
            <a:endParaRPr lang="en-US" altLang="en-US" dirty="0"/>
          </a:p>
          <a:p>
            <a:r>
              <a:rPr lang="en-US" altLang="en-US" dirty="0" err="1"/>
              <a:t>Configurazione</a:t>
            </a:r>
            <a:r>
              <a:rPr lang="en-US" altLang="en-US" dirty="0"/>
              <a:t> VLSI</a:t>
            </a:r>
          </a:p>
          <a:p>
            <a:r>
              <a:rPr lang="en-US" altLang="en-US" dirty="0" err="1"/>
              <a:t>Navigazione</a:t>
            </a:r>
            <a:r>
              <a:rPr lang="en-US" altLang="en-US" dirty="0"/>
              <a:t> di robot</a:t>
            </a:r>
          </a:p>
          <a:p>
            <a:r>
              <a:rPr lang="en-US" altLang="en-US" dirty="0" err="1"/>
              <a:t>Progettazione</a:t>
            </a:r>
            <a:r>
              <a:rPr lang="en-US" altLang="en-US" dirty="0"/>
              <a:t> di </a:t>
            </a:r>
            <a:r>
              <a:rPr lang="en-US" altLang="en-US" dirty="0" err="1"/>
              <a:t>proteine</a:t>
            </a:r>
            <a:endParaRPr lang="en-US" altLang="en-US" dirty="0"/>
          </a:p>
          <a:p>
            <a:r>
              <a:rPr lang="en-US" altLang="en-US" dirty="0"/>
              <a:t>Ranking </a:t>
            </a:r>
            <a:r>
              <a:rPr lang="en-US" altLang="en-US" dirty="0" err="1"/>
              <a:t>delle</a:t>
            </a:r>
            <a:r>
              <a:rPr lang="en-US" altLang="en-US" dirty="0"/>
              <a:t> </a:t>
            </a:r>
            <a:r>
              <a:rPr lang="en-US" altLang="en-US" dirty="0" err="1"/>
              <a:t>risposte</a:t>
            </a:r>
            <a:r>
              <a:rPr lang="en-US" altLang="en-US" dirty="0"/>
              <a:t> di un search engine</a:t>
            </a:r>
          </a:p>
          <a:p>
            <a:r>
              <a:rPr lang="en-US" altLang="en-US" dirty="0"/>
              <a:t>Il </a:t>
            </a:r>
            <a:r>
              <a:rPr lang="en-US" altLang="en-US" dirty="0" err="1"/>
              <a:t>riconoscimento</a:t>
            </a:r>
            <a:r>
              <a:rPr lang="en-US" altLang="en-US" dirty="0"/>
              <a:t> </a:t>
            </a:r>
            <a:r>
              <a:rPr lang="en-US" altLang="en-US" dirty="0" err="1"/>
              <a:t>delle</a:t>
            </a:r>
            <a:r>
              <a:rPr lang="en-US" altLang="en-US" dirty="0"/>
              <a:t> </a:t>
            </a:r>
            <a:r>
              <a:rPr lang="en-US" altLang="en-US" dirty="0" err="1"/>
              <a:t>categorie</a:t>
            </a:r>
            <a:r>
              <a:rPr lang="en-US" altLang="en-US" dirty="0"/>
              <a:t> </a:t>
            </a:r>
            <a:r>
              <a:rPr lang="en-US" altLang="en-US" dirty="0" err="1"/>
              <a:t>grammaticali</a:t>
            </a:r>
            <a:r>
              <a:rPr lang="en-US" altLang="en-US" dirty="0"/>
              <a:t> </a:t>
            </a:r>
            <a:r>
              <a:rPr lang="en-US" altLang="en-US" dirty="0" err="1"/>
              <a:t>delle</a:t>
            </a:r>
            <a:r>
              <a:rPr lang="en-US" altLang="en-US" dirty="0"/>
              <a:t> parole in un </a:t>
            </a:r>
            <a:r>
              <a:rPr lang="en-US" altLang="en-US" dirty="0" err="1"/>
              <a:t>testo</a:t>
            </a:r>
            <a:endParaRPr lang="en-US" altLang="en-US" dirty="0"/>
          </a:p>
          <a:p>
            <a:r>
              <a:rPr lang="en-US" altLang="en-US" dirty="0"/>
              <a:t>La </a:t>
            </a:r>
            <a:r>
              <a:rPr lang="en-US" altLang="en-US" dirty="0" err="1"/>
              <a:t>classificazione</a:t>
            </a:r>
            <a:r>
              <a:rPr lang="en-US" altLang="en-US" dirty="0"/>
              <a:t> </a:t>
            </a:r>
            <a:r>
              <a:rPr lang="en-US" altLang="en-US" dirty="0" err="1"/>
              <a:t>tematica</a:t>
            </a:r>
            <a:r>
              <a:rPr lang="en-US" altLang="en-US" dirty="0"/>
              <a:t> di tweet o </a:t>
            </a:r>
            <a:r>
              <a:rPr lang="en-US" altLang="en-US" dirty="0" err="1"/>
              <a:t>documenti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35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898776" cy="1815480"/>
          </a:xfrm>
        </p:spPr>
        <p:txBody>
          <a:bodyPr>
            <a:normAutofit/>
          </a:bodyPr>
          <a:lstStyle/>
          <a:p>
            <a:r>
              <a:rPr lang="it-IT" dirty="0"/>
              <a:t>L’albero di ricerca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348880"/>
            <a:ext cx="3178696" cy="4128120"/>
          </a:xfrm>
        </p:spPr>
        <p:txBody>
          <a:bodyPr/>
          <a:lstStyle/>
          <a:p>
            <a:r>
              <a:rPr lang="it-IT" i="1" dirty="0" err="1"/>
              <a:t>Dov’e</a:t>
            </a:r>
            <a:r>
              <a:rPr lang="it-IT" i="1" dirty="0"/>
              <a:t> il mio gatto?</a:t>
            </a:r>
            <a:endParaRPr lang="en-GB" i="1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4294967295"/>
          </p:nvPr>
        </p:nvSpPr>
        <p:spPr>
          <a:xfrm>
            <a:off x="8077200" y="19050"/>
            <a:ext cx="1066800" cy="32861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7DAAE82-F564-4FE7-8753-3D1FD589D700}" type="slidenum">
              <a:rPr lang="it-IT" noProof="0" smtClean="0"/>
              <a:pPr>
                <a:defRPr/>
              </a:pPr>
              <a:t>23</a:t>
            </a:fld>
            <a:endParaRPr lang="it-IT" noProof="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474" y="347472"/>
            <a:ext cx="5015925" cy="686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16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31432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della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soluzione</a:t>
            </a:r>
            <a:endParaRPr lang="en-GB" sz="4400" dirty="0">
              <a:ea typeface="+mj-ea"/>
              <a:cs typeface="+mj-cs"/>
            </a:endParaRPr>
          </a:p>
        </p:txBody>
      </p:sp>
      <p:pic>
        <p:nvPicPr>
          <p:cNvPr id="56322" name="Picture 4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282825"/>
            <a:ext cx="6781800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797" name="Text Box 5"/>
          <p:cNvSpPr txBox="1">
            <a:spLocks noChangeArrowheads="1"/>
          </p:cNvSpPr>
          <p:nvPr/>
        </p:nvSpPr>
        <p:spPr bwMode="auto">
          <a:xfrm>
            <a:off x="533400" y="1143000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>
                <a:latin typeface="+mj-lt"/>
                <a:ea typeface="ＭＳ Ｐゴシック" charset="0"/>
                <a:cs typeface="Times New Roman" charset="0"/>
              </a:rPr>
              <a:t>Generazione di un albero di ricerca sovrapposto allo spazio degli stati</a:t>
            </a:r>
            <a:r>
              <a:rPr lang="en-GB" b="0">
                <a:latin typeface="+mj-lt"/>
                <a:ea typeface="ＭＳ Ｐゴシック" charset="0"/>
              </a:rPr>
              <a:t> </a:t>
            </a:r>
          </a:p>
        </p:txBody>
      </p:sp>
      <p:sp>
        <p:nvSpPr>
          <p:cNvPr id="161798" name="Rectangle 6"/>
          <p:cNvSpPr>
            <a:spLocks noChangeArrowheads="1"/>
          </p:cNvSpPr>
          <p:nvPr/>
        </p:nvSpPr>
        <p:spPr bwMode="auto">
          <a:xfrm>
            <a:off x="1403350" y="3284538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charset="0"/>
            </a:endParaRPr>
          </a:p>
        </p:txBody>
      </p:sp>
      <p:grpSp>
        <p:nvGrpSpPr>
          <p:cNvPr id="161806" name="Group 14"/>
          <p:cNvGrpSpPr>
            <a:grpSpLocks/>
          </p:cNvGrpSpPr>
          <p:nvPr/>
        </p:nvGrpSpPr>
        <p:grpSpPr bwMode="auto">
          <a:xfrm>
            <a:off x="1403350" y="2781300"/>
            <a:ext cx="1655763" cy="1727200"/>
            <a:chOff x="884" y="1752"/>
            <a:chExt cx="1043" cy="1088"/>
          </a:xfrm>
        </p:grpSpPr>
        <p:sp>
          <p:nvSpPr>
            <p:cNvPr id="161800" name="Rectangle 8"/>
            <p:cNvSpPr>
              <a:spLocks noChangeArrowheads="1"/>
            </p:cNvSpPr>
            <p:nvPr/>
          </p:nvSpPr>
          <p:spPr bwMode="auto">
            <a:xfrm>
              <a:off x="1020" y="1752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it-IT" b="0">
                <a:latin typeface="+mj-lt"/>
                <a:ea typeface="ＭＳ Ｐゴシック" charset="0"/>
              </a:endParaRPr>
            </a:p>
          </p:txBody>
        </p:sp>
        <p:sp>
          <p:nvSpPr>
            <p:cNvPr id="161801" name="Rectangle 9"/>
            <p:cNvSpPr>
              <a:spLocks noChangeArrowheads="1"/>
            </p:cNvSpPr>
            <p:nvPr/>
          </p:nvSpPr>
          <p:spPr bwMode="auto">
            <a:xfrm>
              <a:off x="1791" y="2341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02" name="Rectangle 10"/>
            <p:cNvSpPr>
              <a:spLocks noChangeArrowheads="1"/>
            </p:cNvSpPr>
            <p:nvPr/>
          </p:nvSpPr>
          <p:spPr bwMode="auto">
            <a:xfrm>
              <a:off x="884" y="2704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03" name="Line 11"/>
            <p:cNvSpPr>
              <a:spLocks noChangeShapeType="1"/>
            </p:cNvSpPr>
            <p:nvPr/>
          </p:nvSpPr>
          <p:spPr bwMode="auto">
            <a:xfrm flipV="1">
              <a:off x="930" y="1842"/>
              <a:ext cx="136" cy="22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04" name="Line 12"/>
            <p:cNvSpPr>
              <a:spLocks noChangeShapeType="1"/>
            </p:cNvSpPr>
            <p:nvPr/>
          </p:nvSpPr>
          <p:spPr bwMode="auto">
            <a:xfrm>
              <a:off x="1020" y="2160"/>
              <a:ext cx="771" cy="22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05" name="Line 13"/>
            <p:cNvSpPr>
              <a:spLocks noChangeShapeType="1"/>
            </p:cNvSpPr>
            <p:nvPr/>
          </p:nvSpPr>
          <p:spPr bwMode="auto">
            <a:xfrm>
              <a:off x="930" y="2205"/>
              <a:ext cx="0" cy="499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403350" y="2276475"/>
            <a:ext cx="2952750" cy="2232025"/>
            <a:chOff x="1403648" y="2277095"/>
            <a:chExt cx="2952750" cy="2232025"/>
          </a:xfrm>
        </p:grpSpPr>
        <p:sp>
          <p:nvSpPr>
            <p:cNvPr id="161807" name="Rectangle 15"/>
            <p:cNvSpPr>
              <a:spLocks noChangeArrowheads="1"/>
            </p:cNvSpPr>
            <p:nvPr/>
          </p:nvSpPr>
          <p:spPr bwMode="auto">
            <a:xfrm>
              <a:off x="2843511" y="3716958"/>
              <a:ext cx="215900" cy="21590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08" name="Rectangle 16"/>
            <p:cNvSpPr>
              <a:spLocks noChangeArrowheads="1"/>
            </p:cNvSpPr>
            <p:nvPr/>
          </p:nvSpPr>
          <p:spPr bwMode="auto">
            <a:xfrm>
              <a:off x="1403648" y="3285158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it-IT" b="0">
                <a:latin typeface="+mj-lt"/>
                <a:ea typeface="ＭＳ Ｐゴシック" charset="0"/>
              </a:endParaRPr>
            </a:p>
          </p:txBody>
        </p:sp>
        <p:sp>
          <p:nvSpPr>
            <p:cNvPr id="161810" name="Rectangle 18"/>
            <p:cNvSpPr>
              <a:spLocks noChangeArrowheads="1"/>
            </p:cNvSpPr>
            <p:nvPr/>
          </p:nvSpPr>
          <p:spPr bwMode="auto">
            <a:xfrm>
              <a:off x="3203873" y="429322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11" name="Rectangle 19"/>
            <p:cNvSpPr>
              <a:spLocks noChangeArrowheads="1"/>
            </p:cNvSpPr>
            <p:nvPr/>
          </p:nvSpPr>
          <p:spPr bwMode="auto">
            <a:xfrm>
              <a:off x="4140498" y="3789983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12" name="Rectangle 20"/>
            <p:cNvSpPr>
              <a:spLocks noChangeArrowheads="1"/>
            </p:cNvSpPr>
            <p:nvPr/>
          </p:nvSpPr>
          <p:spPr bwMode="auto">
            <a:xfrm>
              <a:off x="1908473" y="2277095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13" name="Line 21"/>
            <p:cNvSpPr>
              <a:spLocks noChangeShapeType="1"/>
            </p:cNvSpPr>
            <p:nvPr/>
          </p:nvSpPr>
          <p:spPr bwMode="auto">
            <a:xfrm flipH="1" flipV="1">
              <a:off x="2051348" y="2421558"/>
              <a:ext cx="865188" cy="12954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17" name="Line 25"/>
            <p:cNvSpPr>
              <a:spLocks noChangeShapeType="1"/>
            </p:cNvSpPr>
            <p:nvPr/>
          </p:nvSpPr>
          <p:spPr bwMode="auto">
            <a:xfrm flipH="1" flipV="1">
              <a:off x="3059411" y="3861420"/>
              <a:ext cx="1081087" cy="7143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161819" name="Line 27"/>
            <p:cNvSpPr>
              <a:spLocks noChangeShapeType="1"/>
            </p:cNvSpPr>
            <p:nvPr/>
          </p:nvSpPr>
          <p:spPr bwMode="auto">
            <a:xfrm>
              <a:off x="2987973" y="3934445"/>
              <a:ext cx="215900" cy="35877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H="1" flipV="1">
              <a:off x="1619548" y="3429620"/>
              <a:ext cx="1223963" cy="358775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+mj-lt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518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3256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della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soluzione</a:t>
            </a:r>
            <a:endParaRPr lang="en-GB" sz="4400" dirty="0">
              <a:ea typeface="+mj-ea"/>
              <a:cs typeface="+mj-cs"/>
            </a:endParaRPr>
          </a:p>
        </p:txBody>
      </p:sp>
      <p:pic>
        <p:nvPicPr>
          <p:cNvPr id="58370" name="Picture 4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129397"/>
            <a:ext cx="5970984" cy="461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533400" y="1197481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 dirty="0">
                <a:latin typeface="+mj-lt"/>
                <a:ea typeface="ＭＳ Ｐゴシック" charset="0"/>
                <a:cs typeface="Times New Roman" charset="0"/>
              </a:rPr>
              <a:t>Generazione di un albero di ricerca sovrapposto allo spazio degli stati</a:t>
            </a:r>
            <a:r>
              <a:rPr lang="en-GB" b="0" dirty="0">
                <a:latin typeface="+mj-lt"/>
                <a:ea typeface="ＭＳ Ｐゴシック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4080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355600"/>
            <a:ext cx="81041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ad </a:t>
            </a:r>
            <a:r>
              <a:rPr lang="en-US" sz="4400" dirty="0" err="1">
                <a:ea typeface="+mj-ea"/>
                <a:cs typeface="+mj-cs"/>
              </a:rPr>
              <a:t>albero</a:t>
            </a:r>
            <a:r>
              <a:rPr lang="en-US" sz="4400" dirty="0">
                <a:ea typeface="+mj-ea"/>
                <a:cs typeface="+mj-cs"/>
              </a:rPr>
              <a:t> 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8208962" cy="4392612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400" b="1" dirty="0">
                <a:latin typeface="Arial Narrow" panose="020B0606020202030204" pitchFamily="34" charset="0"/>
              </a:rPr>
              <a:t>function </a:t>
            </a:r>
            <a:r>
              <a:rPr lang="en-GB" altLang="en-US" sz="2400" dirty="0" err="1">
                <a:latin typeface="Arial Narrow" panose="020B0606020202030204" pitchFamily="34" charset="0"/>
              </a:rPr>
              <a:t>Ricerca-Albero</a:t>
            </a:r>
            <a:r>
              <a:rPr lang="en-GB" altLang="en-US" sz="2400" dirty="0">
                <a:latin typeface="Arial Narrow" panose="020B0606020202030204" pitchFamily="34" charset="0"/>
              </a:rPr>
              <a:t> (</a:t>
            </a:r>
            <a:r>
              <a:rPr lang="en-GB" altLang="en-US" sz="2400" i="1" dirty="0" err="1">
                <a:latin typeface="Arial Narrow" panose="020B0606020202030204" pitchFamily="34" charset="0"/>
              </a:rPr>
              <a:t>problema</a:t>
            </a:r>
            <a:r>
              <a:rPr lang="en-GB" altLang="en-US" sz="2400" i="1" dirty="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400" b="1" i="1" dirty="0">
                <a:latin typeface="Arial Narrow" panose="020B0606020202030204" pitchFamily="34" charset="0"/>
              </a:rPr>
              <a:t>	</a:t>
            </a:r>
            <a:r>
              <a:rPr lang="en-GB" altLang="en-US" sz="2400" b="1" dirty="0">
                <a:latin typeface="Arial Narrow" panose="020B0606020202030204" pitchFamily="34" charset="0"/>
              </a:rPr>
              <a:t>returns</a:t>
            </a:r>
            <a:r>
              <a:rPr lang="en-GB" altLang="en-US" sz="2400" b="1" i="1" dirty="0">
                <a:latin typeface="Arial Narrow" panose="020B0606020202030204" pitchFamily="34" charset="0"/>
              </a:rPr>
              <a:t> </a:t>
            </a:r>
            <a:r>
              <a:rPr lang="en-GB" altLang="en-US" sz="2400" dirty="0" err="1">
                <a:latin typeface="Arial Narrow" panose="020B0606020202030204" pitchFamily="34" charset="0"/>
              </a:rPr>
              <a:t>soluzione</a:t>
            </a:r>
            <a:r>
              <a:rPr lang="en-GB" altLang="en-US" sz="2400" dirty="0">
                <a:latin typeface="Arial Narrow" panose="020B0606020202030204" pitchFamily="34" charset="0"/>
              </a:rPr>
              <a:t> </a:t>
            </a:r>
            <a:r>
              <a:rPr lang="en-GB" altLang="en-US" sz="2400" dirty="0" err="1">
                <a:latin typeface="Arial Narrow" panose="020B0606020202030204" pitchFamily="34" charset="0"/>
              </a:rPr>
              <a:t>oppure</a:t>
            </a:r>
            <a:r>
              <a:rPr lang="en-GB" altLang="en-US" sz="2400" dirty="0">
                <a:latin typeface="Arial Narrow" panose="020B0606020202030204" pitchFamily="34" charset="0"/>
              </a:rPr>
              <a:t> </a:t>
            </a:r>
            <a:r>
              <a:rPr lang="en-GB" altLang="en-US" sz="2400" b="1" dirty="0" err="1">
                <a:latin typeface="Arial Narrow" panose="020B0606020202030204" pitchFamily="34" charset="0"/>
              </a:rPr>
              <a:t>fallimento</a:t>
            </a:r>
            <a:endParaRPr lang="en-GB" altLang="en-US" sz="24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400" b="1" dirty="0">
                <a:latin typeface="Arial Narrow" panose="020B0606020202030204" pitchFamily="34" charset="0"/>
              </a:rPr>
              <a:t>  </a:t>
            </a:r>
            <a:r>
              <a:rPr lang="en-GB" altLang="en-US" sz="2400" dirty="0" err="1">
                <a:latin typeface="Arial Narrow" panose="020B0606020202030204" pitchFamily="34" charset="0"/>
              </a:rPr>
              <a:t>Inizializza</a:t>
            </a:r>
            <a:r>
              <a:rPr lang="en-GB" altLang="en-US" sz="2400" dirty="0">
                <a:latin typeface="Arial Narrow" panose="020B0606020202030204" pitchFamily="34" charset="0"/>
              </a:rPr>
              <a:t> la </a:t>
            </a:r>
            <a:r>
              <a:rPr lang="en-GB" altLang="en-US" sz="2400" dirty="0" err="1">
                <a:latin typeface="Arial Narrow" panose="020B0606020202030204" pitchFamily="34" charset="0"/>
              </a:rPr>
              <a:t>frontiera</a:t>
            </a:r>
            <a:r>
              <a:rPr lang="en-GB" altLang="en-US" sz="2400" dirty="0">
                <a:latin typeface="Arial Narrow" panose="020B0606020202030204" pitchFamily="34" charset="0"/>
              </a:rPr>
              <a:t> con </a:t>
            </a:r>
            <a:r>
              <a:rPr lang="en-GB" altLang="en-US" sz="2400" dirty="0" err="1">
                <a:latin typeface="Arial Narrow" panose="020B0606020202030204" pitchFamily="34" charset="0"/>
              </a:rPr>
              <a:t>stato</a:t>
            </a:r>
            <a:r>
              <a:rPr lang="en-GB" altLang="en-US" sz="2400" dirty="0">
                <a:latin typeface="Arial Narrow" panose="020B0606020202030204" pitchFamily="34" charset="0"/>
              </a:rPr>
              <a:t> </a:t>
            </a:r>
            <a:r>
              <a:rPr lang="en-GB" altLang="en-US" sz="2400" dirty="0" err="1">
                <a:latin typeface="Arial Narrow" panose="020B0606020202030204" pitchFamily="34" charset="0"/>
              </a:rPr>
              <a:t>iniziale</a:t>
            </a:r>
            <a:r>
              <a:rPr lang="en-GB" altLang="en-US" sz="2400" dirty="0">
                <a:latin typeface="Arial Narrow" panose="020B0606020202030204" pitchFamily="34" charset="0"/>
              </a:rPr>
              <a:t> del </a:t>
            </a:r>
            <a:r>
              <a:rPr lang="en-GB" altLang="en-US" sz="2400" dirty="0" err="1">
                <a:latin typeface="Arial Narrow" panose="020B0606020202030204" pitchFamily="34" charset="0"/>
              </a:rPr>
              <a:t>problema</a:t>
            </a:r>
            <a:endParaRPr lang="en-GB" altLang="en-US" sz="24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 Narrow" panose="020B0606020202030204" pitchFamily="34" charset="0"/>
              </a:rPr>
              <a:t>  </a:t>
            </a:r>
            <a:r>
              <a:rPr lang="it-IT" altLang="en-US" sz="2400" b="1" dirty="0" err="1">
                <a:latin typeface="Arial Narrow" panose="020B0606020202030204" pitchFamily="34" charset="0"/>
              </a:rPr>
              <a:t>loop</a:t>
            </a:r>
            <a:r>
              <a:rPr lang="it-IT" altLang="en-US" sz="2400" b="1" dirty="0">
                <a:latin typeface="Arial Narrow" panose="020B0606020202030204" pitchFamily="34" charset="0"/>
              </a:rPr>
              <a:t> do</a:t>
            </a:r>
            <a:endParaRPr lang="en-GB" altLang="en-US" sz="24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	</a:t>
            </a:r>
            <a:r>
              <a:rPr lang="it-IT" altLang="en-US" sz="2400" b="1" dirty="0">
                <a:latin typeface="Arial Narrow" panose="020B0606020202030204" pitchFamily="34" charset="0"/>
              </a:rPr>
              <a:t>if</a:t>
            </a:r>
            <a:r>
              <a:rPr lang="it-IT" altLang="en-US" sz="2400" dirty="0">
                <a:latin typeface="Arial Narrow" panose="020B0606020202030204" pitchFamily="34" charset="0"/>
              </a:rPr>
              <a:t>   </a:t>
            </a:r>
            <a:r>
              <a:rPr lang="it-IT" altLang="en-US" sz="2400" i="1" dirty="0">
                <a:latin typeface="Arial Narrow" panose="020B0606020202030204" pitchFamily="34" charset="0"/>
              </a:rPr>
              <a:t>la frontiera è vuota    </a:t>
            </a:r>
            <a:r>
              <a:rPr lang="it-IT" altLang="en-US" sz="2400" b="1" dirty="0">
                <a:latin typeface="Arial Narrow" panose="020B0606020202030204" pitchFamily="34" charset="0"/>
              </a:rPr>
              <a:t>then return</a:t>
            </a:r>
            <a:r>
              <a:rPr lang="it-IT" altLang="en-US" sz="2400" dirty="0">
                <a:latin typeface="Arial Narrow" panose="020B0606020202030204" pitchFamily="34" charset="0"/>
              </a:rPr>
              <a:t>    </a:t>
            </a:r>
            <a:r>
              <a:rPr lang="it-IT" altLang="en-US" sz="2400" b="1" dirty="0">
                <a:latin typeface="Arial Narrow" panose="020B0606020202030204" pitchFamily="34" charset="0"/>
              </a:rPr>
              <a:t>fallimento</a:t>
            </a:r>
            <a:endParaRPr lang="en-GB" altLang="en-US" sz="24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	</a:t>
            </a:r>
            <a:r>
              <a:rPr lang="it-IT" altLang="en-US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Scegli</a:t>
            </a:r>
            <a:r>
              <a:rPr lang="it-IT" altLang="en-US" sz="2400" i="1" dirty="0">
                <a:latin typeface="Arial Narrow" panose="020B0606020202030204" pitchFamily="34" charset="0"/>
              </a:rPr>
              <a:t> un nodo foglia da espandere e rimuovilo dalla frontiera</a:t>
            </a:r>
            <a:endParaRPr lang="en-GB" altLang="en-US" sz="24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	</a:t>
            </a:r>
            <a:r>
              <a:rPr lang="it-IT" altLang="en-US" sz="2400" b="1" dirty="0">
                <a:latin typeface="Arial Narrow" panose="020B0606020202030204" pitchFamily="34" charset="0"/>
              </a:rPr>
              <a:t>if</a:t>
            </a:r>
            <a:r>
              <a:rPr lang="it-IT" altLang="en-US" sz="2400" dirty="0">
                <a:latin typeface="Arial Narrow" panose="020B0606020202030204" pitchFamily="34" charset="0"/>
              </a:rPr>
              <a:t>  </a:t>
            </a:r>
            <a:r>
              <a:rPr lang="it-IT" altLang="en-US" sz="2400" i="1" dirty="0">
                <a:latin typeface="Arial Narrow" panose="020B0606020202030204" pitchFamily="34" charset="0"/>
              </a:rPr>
              <a:t>il nodo contiene uno stato obiettivo</a:t>
            </a:r>
            <a:endParaRPr lang="en-GB" altLang="en-US" sz="2400" b="1" i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        </a:t>
            </a:r>
            <a:r>
              <a:rPr lang="it-IT" altLang="en-US" sz="2400" b="1" dirty="0" err="1">
                <a:latin typeface="Arial Narrow" panose="020B0606020202030204" pitchFamily="34" charset="0"/>
              </a:rPr>
              <a:t>then</a:t>
            </a:r>
            <a:r>
              <a:rPr lang="it-IT" altLang="en-US" sz="2400" b="1" dirty="0">
                <a:latin typeface="Arial Narrow" panose="020B0606020202030204" pitchFamily="34" charset="0"/>
              </a:rPr>
              <a:t> </a:t>
            </a:r>
            <a:r>
              <a:rPr lang="it-IT" altLang="en-US" sz="2400" b="1" dirty="0" err="1">
                <a:latin typeface="Arial Narrow" panose="020B0606020202030204" pitchFamily="34" charset="0"/>
              </a:rPr>
              <a:t>return</a:t>
            </a:r>
            <a:r>
              <a:rPr lang="it-IT" altLang="en-US" sz="2400" dirty="0">
                <a:latin typeface="Arial Narrow" panose="020B0606020202030204" pitchFamily="34" charset="0"/>
              </a:rPr>
              <a:t> </a:t>
            </a:r>
            <a:r>
              <a:rPr lang="it-IT" altLang="en-US" sz="2400" i="1" dirty="0">
                <a:latin typeface="Arial Narrow" panose="020B0606020202030204" pitchFamily="34" charset="0"/>
              </a:rPr>
              <a:t>la soluzione corrispondente</a:t>
            </a:r>
            <a:endParaRPr lang="en-GB" altLang="en-US" sz="2400" b="1" i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	E</a:t>
            </a:r>
            <a:r>
              <a:rPr lang="it-IT" altLang="en-US" sz="2400" i="1" dirty="0">
                <a:latin typeface="Arial Narrow" panose="020B0606020202030204" pitchFamily="34" charset="0"/>
              </a:rPr>
              <a:t>spandi il nodo e aggiungi i successori alla frontiera 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b="1" dirty="0">
                <a:latin typeface="Arial Narrow" panose="020B0606020202030204" pitchFamily="34" charset="0"/>
              </a:rPr>
              <a:t>   </a:t>
            </a:r>
            <a:endParaRPr lang="en-GB" alt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630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4349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 sz="4400"/>
              <a:t>I nodi dell’albero di ricerca</a:t>
            </a:r>
            <a:endParaRPr lang="en-GB" altLang="en-US" sz="440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xfrm>
            <a:off x="554038" y="1600200"/>
            <a:ext cx="8208962" cy="377348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Un nodo </a:t>
            </a:r>
            <a:r>
              <a:rPr lang="it-IT" altLang="en-US" i="1" dirty="0">
                <a:cs typeface="Times New Roman" panose="02020603050405020304" pitchFamily="18" charset="0"/>
              </a:rPr>
              <a:t>n </a:t>
            </a:r>
            <a:r>
              <a:rPr lang="it-IT" altLang="en-US" dirty="0">
                <a:cs typeface="Times New Roman" panose="02020603050405020304" pitchFamily="18" charset="0"/>
              </a:rPr>
              <a:t>è una </a:t>
            </a:r>
            <a:r>
              <a:rPr lang="it-IT" altLang="en-US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struttura dati </a:t>
            </a:r>
            <a:r>
              <a:rPr lang="it-IT" altLang="en-US" dirty="0">
                <a:cs typeface="Times New Roman" panose="02020603050405020304" pitchFamily="18" charset="0"/>
              </a:rPr>
              <a:t>con quattro componenti: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it-IT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Uno stato: </a:t>
            </a:r>
            <a:r>
              <a:rPr lang="it-IT" altLang="en-US" i="1" dirty="0">
                <a:cs typeface="Times New Roman" panose="02020603050405020304" pitchFamily="18" charset="0"/>
              </a:rPr>
              <a:t>n</a:t>
            </a:r>
            <a:r>
              <a:rPr lang="it-IT" altLang="en-US" dirty="0">
                <a:cs typeface="Times New Roman" panose="02020603050405020304" pitchFamily="18" charset="0"/>
              </a:rPr>
              <a:t>.stato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Il nodo padre: </a:t>
            </a:r>
            <a:r>
              <a:rPr lang="it-IT" altLang="en-US" i="1" dirty="0" err="1">
                <a:cs typeface="Times New Roman" panose="02020603050405020304" pitchFamily="18" charset="0"/>
              </a:rPr>
              <a:t>n.</a:t>
            </a:r>
            <a:r>
              <a:rPr lang="it-IT" altLang="en-US" dirty="0" err="1">
                <a:cs typeface="Times New Roman" panose="02020603050405020304" pitchFamily="18" charset="0"/>
              </a:rPr>
              <a:t>padre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L’azione effettuata per generarlo: </a:t>
            </a:r>
            <a:r>
              <a:rPr lang="it-IT" altLang="en-US" i="1" dirty="0" err="1">
                <a:cs typeface="Times New Roman" panose="02020603050405020304" pitchFamily="18" charset="0"/>
              </a:rPr>
              <a:t>n</a:t>
            </a:r>
            <a:r>
              <a:rPr lang="it-IT" altLang="en-US" dirty="0" err="1">
                <a:cs typeface="Times New Roman" panose="02020603050405020304" pitchFamily="18" charset="0"/>
              </a:rPr>
              <a:t>.azione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it-IT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Il costo del cammino dal nodo iniziale al nodo:</a:t>
            </a:r>
            <a:r>
              <a:rPr lang="en-GB" altLang="en-US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dirty="0"/>
              <a:t>   </a:t>
            </a:r>
            <a:r>
              <a:rPr lang="en-GB" altLang="en-US" i="1" dirty="0" err="1"/>
              <a:t>n.</a:t>
            </a:r>
            <a:r>
              <a:rPr lang="en-GB" altLang="en-US" dirty="0" err="1"/>
              <a:t>costo-cammino</a:t>
            </a:r>
            <a:r>
              <a:rPr lang="en-GB" altLang="en-US" dirty="0"/>
              <a:t> </a:t>
            </a:r>
            <a:r>
              <a:rPr lang="en-GB" altLang="en-US" dirty="0" err="1"/>
              <a:t>indicata</a:t>
            </a:r>
            <a:r>
              <a:rPr lang="en-GB" altLang="en-US" dirty="0"/>
              <a:t> come g(</a:t>
            </a:r>
            <a:r>
              <a:rPr lang="en-GB" altLang="en-US" i="1" dirty="0"/>
              <a:t>n</a:t>
            </a:r>
            <a:r>
              <a:rPr lang="en-GB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6453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773991"/>
          </a:xfrm>
        </p:spPr>
        <p:txBody>
          <a:bodyPr/>
          <a:lstStyle/>
          <a:p>
            <a:r>
              <a:rPr lang="it-IT" dirty="0"/>
              <a:t>Struttura dati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4294967295"/>
          </p:nvPr>
        </p:nvSpPr>
        <p:spPr>
          <a:xfrm>
            <a:off x="8077200" y="19050"/>
            <a:ext cx="1066800" cy="32861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7DAAE82-F564-4FE7-8753-3D1FD589D700}" type="slidenum">
              <a:rPr lang="it-IT" noProof="0" smtClean="0"/>
              <a:pPr>
                <a:defRPr/>
              </a:pPr>
              <a:t>28</a:t>
            </a:fld>
            <a:endParaRPr lang="it-IT" noProof="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2"/>
          <a:srcRect l="47637" t="24801" r="10626" b="40200"/>
          <a:stretch/>
        </p:blipFill>
        <p:spPr>
          <a:xfrm>
            <a:off x="462659" y="2132856"/>
            <a:ext cx="8224141" cy="38793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1340768"/>
            <a:ext cx="12763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87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549275"/>
            <a:ext cx="8637588" cy="76835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Struttura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dati</a:t>
            </a:r>
            <a:r>
              <a:rPr lang="en-US" sz="4400" dirty="0">
                <a:ea typeface="+mj-ea"/>
                <a:cs typeface="+mj-cs"/>
              </a:rPr>
              <a:t> per la </a:t>
            </a:r>
            <a:r>
              <a:rPr lang="en-US" sz="4400" dirty="0" err="1">
                <a:ea typeface="+mj-ea"/>
                <a:cs typeface="+mj-cs"/>
              </a:rPr>
              <a:t>frontiera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xfrm>
            <a:off x="328613" y="1676400"/>
            <a:ext cx="8208962" cy="43799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363538" indent="-363538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en-US" i="1" dirty="0" err="1"/>
              <a:t>Frontiera</a:t>
            </a:r>
            <a:r>
              <a:rPr lang="en-US" altLang="en-US" dirty="0"/>
              <a:t>: </a:t>
            </a:r>
            <a:r>
              <a:rPr lang="it-IT" altLang="en-US" dirty="0">
                <a:cs typeface="Times New Roman" panose="02020603050405020304" pitchFamily="18" charset="0"/>
              </a:rPr>
              <a:t>lista dei nodi in attesa di essere espansi (le foglie dell’albero di ricerca).</a:t>
            </a:r>
          </a:p>
          <a:p>
            <a:pPr marL="363538" indent="-363538" eaLnBrk="1" hangingPunct="1">
              <a:lnSpc>
                <a:spcPct val="90000"/>
              </a:lnSpc>
              <a:spcBef>
                <a:spcPts val="1200"/>
              </a:spcBef>
            </a:pPr>
            <a:r>
              <a:rPr lang="it-IT" altLang="en-US" dirty="0">
                <a:cs typeface="Times New Roman" panose="02020603050405020304" pitchFamily="18" charset="0"/>
              </a:rPr>
              <a:t>La frontiera è implementata come una </a:t>
            </a:r>
            <a:r>
              <a:rPr lang="it-IT" altLang="en-US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coda</a:t>
            </a:r>
            <a:r>
              <a:rPr lang="it-IT" altLang="en-US" dirty="0">
                <a:cs typeface="Times New Roman" panose="02020603050405020304" pitchFamily="18" charset="0"/>
              </a:rPr>
              <a:t> (cioè una lista) con operazioni:</a:t>
            </a:r>
          </a:p>
          <a:p>
            <a:pPr marL="637858" lvl="2" indent="-363538">
              <a:lnSpc>
                <a:spcPct val="90000"/>
              </a:lnSpc>
              <a:spcBef>
                <a:spcPts val="1200"/>
              </a:spcBef>
            </a:pPr>
            <a:r>
              <a:rPr lang="it-IT" altLang="en-US" dirty="0">
                <a:cs typeface="Times New Roman" panose="02020603050405020304" pitchFamily="18" charset="0"/>
              </a:rPr>
              <a:t>Vuota?(</a:t>
            </a:r>
            <a:r>
              <a:rPr lang="it-IT" altLang="en-US" i="1" dirty="0">
                <a:cs typeface="Times New Roman" panose="02020603050405020304" pitchFamily="18" charset="0"/>
              </a:rPr>
              <a:t>coda</a:t>
            </a:r>
            <a:r>
              <a:rPr lang="it-IT" altLang="en-US" dirty="0">
                <a:cs typeface="Times New Roman" panose="02020603050405020304" pitchFamily="18" charset="0"/>
              </a:rPr>
              <a:t>)</a:t>
            </a:r>
          </a:p>
          <a:p>
            <a:pPr marL="637858" lvl="2" indent="-363538">
              <a:lnSpc>
                <a:spcPct val="90000"/>
              </a:lnSpc>
              <a:spcBef>
                <a:spcPts val="1200"/>
              </a:spcBef>
            </a:pPr>
            <a:r>
              <a:rPr lang="it-IT" altLang="en-US" dirty="0">
                <a:cs typeface="Times New Roman" panose="02020603050405020304" pitchFamily="18" charset="0"/>
              </a:rPr>
              <a:t>POP(coda) estrae il primo elemento</a:t>
            </a:r>
          </a:p>
          <a:p>
            <a:pPr marL="637858" lvl="2" indent="-363538">
              <a:lnSpc>
                <a:spcPct val="90000"/>
              </a:lnSpc>
              <a:spcBef>
                <a:spcPts val="1200"/>
              </a:spcBef>
            </a:pPr>
            <a:r>
              <a:rPr lang="en-US" altLang="en-US" dirty="0" err="1">
                <a:cs typeface="Times New Roman" panose="02020603050405020304" pitchFamily="18" charset="0"/>
              </a:rPr>
              <a:t>Inserisci</a:t>
            </a:r>
            <a:r>
              <a:rPr lang="en-US" altLang="en-US" dirty="0">
                <a:cs typeface="Times New Roman" panose="02020603050405020304" pitchFamily="18" charset="0"/>
              </a:rPr>
              <a:t>( </a:t>
            </a:r>
            <a:r>
              <a:rPr lang="en-US" altLang="en-US" dirty="0" err="1">
                <a:cs typeface="Times New Roman" panose="02020603050405020304" pitchFamily="18" charset="0"/>
              </a:rPr>
              <a:t>elemento</a:t>
            </a:r>
            <a:r>
              <a:rPr lang="en-US" altLang="en-US" dirty="0">
                <a:cs typeface="Times New Roman" panose="02020603050405020304" pitchFamily="18" charset="0"/>
              </a:rPr>
              <a:t>, coda)</a:t>
            </a:r>
          </a:p>
          <a:p>
            <a:pPr marL="363538" lvl="1" indent="-363538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en-US" dirty="0" err="1">
                <a:cs typeface="Times New Roman" panose="02020603050405020304" pitchFamily="18" charset="0"/>
              </a:rPr>
              <a:t>Diversi</a:t>
            </a:r>
            <a:r>
              <a:rPr lang="en-US" altLang="en-US" dirty="0">
                <a:cs typeface="Times New Roman" panose="02020603050405020304" pitchFamily="18" charset="0"/>
              </a:rPr>
              <a:t> tipi di coda </a:t>
            </a:r>
            <a:r>
              <a:rPr lang="en-US" altLang="en-US" dirty="0" err="1">
                <a:cs typeface="Times New Roman" panose="02020603050405020304" pitchFamily="18" charset="0"/>
              </a:rPr>
              <a:t>hanno</a:t>
            </a:r>
            <a:r>
              <a:rPr lang="en-US" altLang="en-US" dirty="0">
                <a:cs typeface="Times New Roman" panose="02020603050405020304" pitchFamily="18" charset="0"/>
              </a:rPr>
              <a:t> diverse </a:t>
            </a:r>
            <a:r>
              <a:rPr lang="en-US" altLang="en-US" dirty="0" err="1">
                <a:cs typeface="Times New Roman" panose="02020603050405020304" pitchFamily="18" charset="0"/>
              </a:rPr>
              <a:t>funzioni</a:t>
            </a:r>
            <a:r>
              <a:rPr lang="en-US" altLang="en-US" dirty="0">
                <a:cs typeface="Times New Roman" panose="02020603050405020304" pitchFamily="18" charset="0"/>
              </a:rPr>
              <a:t> di </a:t>
            </a:r>
            <a:r>
              <a:rPr lang="en-US" altLang="en-US" dirty="0" err="1">
                <a:cs typeface="Times New Roman" panose="02020603050405020304" pitchFamily="18" charset="0"/>
              </a:rPr>
              <a:t>inserimento</a:t>
            </a:r>
            <a:r>
              <a:rPr lang="en-US" altLang="en-US" dirty="0">
                <a:cs typeface="Times New Roman" panose="02020603050405020304" pitchFamily="18" charset="0"/>
              </a:rPr>
              <a:t> e </a:t>
            </a:r>
            <a:r>
              <a:rPr lang="en-US" altLang="en-US" dirty="0" err="1">
                <a:cs typeface="Times New Roman" panose="02020603050405020304" pitchFamily="18" charset="0"/>
              </a:rPr>
              <a:t>implementano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strategie</a:t>
            </a:r>
            <a:r>
              <a:rPr lang="en-US" altLang="en-US" dirty="0">
                <a:cs typeface="Times New Roman" panose="02020603050405020304" pitchFamily="18" charset="0"/>
              </a:rPr>
              <a:t> diverse</a:t>
            </a:r>
            <a:endParaRPr lang="en-GB" altLang="en-US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898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355600"/>
            <a:ext cx="81041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>
                <a:ea typeface="+mj-ea"/>
                <a:cs typeface="+mj-cs"/>
              </a:rPr>
              <a:t>Che </a:t>
            </a:r>
            <a:r>
              <a:rPr lang="en-US" sz="4400" dirty="0" err="1">
                <a:ea typeface="+mj-ea"/>
                <a:cs typeface="+mj-cs"/>
              </a:rPr>
              <a:t>tipo</a:t>
            </a:r>
            <a:r>
              <a:rPr lang="en-US" sz="4400" dirty="0">
                <a:ea typeface="+mj-ea"/>
                <a:cs typeface="+mj-cs"/>
              </a:rPr>
              <a:t> di </a:t>
            </a: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in ????? </a:t>
            </a:r>
            <a:r>
              <a:rPr lang="en-US" sz="3600" dirty="0">
                <a:ea typeface="+mj-ea"/>
                <a:cs typeface="+mj-cs"/>
              </a:rPr>
              <a:t>(</a:t>
            </a:r>
            <a:r>
              <a:rPr lang="en-US" sz="3600" dirty="0" err="1">
                <a:ea typeface="+mj-ea"/>
                <a:cs typeface="+mj-cs"/>
              </a:rPr>
              <a:t>su</a:t>
            </a:r>
            <a:r>
              <a:rPr lang="en-US" sz="3600" dirty="0">
                <a:ea typeface="+mj-ea"/>
                <a:cs typeface="+mj-cs"/>
              </a:rPr>
              <a:t> </a:t>
            </a:r>
            <a:r>
              <a:rPr lang="en-US" sz="3600" dirty="0" err="1">
                <a:ea typeface="+mj-ea"/>
                <a:cs typeface="+mj-cs"/>
              </a:rPr>
              <a:t>albero</a:t>
            </a:r>
            <a:r>
              <a:rPr lang="en-US" sz="3600" dirty="0">
                <a:ea typeface="+mj-ea"/>
                <a:cs typeface="+mj-cs"/>
              </a:rPr>
              <a:t>)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61583"/>
            <a:ext cx="8928223" cy="566124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en-GB" sz="2000" b="1" dirty="0">
                <a:latin typeface="Arial Narrow"/>
                <a:ea typeface="+mn-ea"/>
                <a:cs typeface="Arial Narrow"/>
              </a:rPr>
              <a:t>function </a:t>
            </a:r>
            <a:r>
              <a:rPr lang="en-GB" sz="2000" dirty="0" err="1">
                <a:latin typeface="Arial Narrow"/>
                <a:ea typeface="+mn-ea"/>
                <a:cs typeface="Arial Narrow"/>
              </a:rPr>
              <a:t>Ricerca</a:t>
            </a:r>
            <a:r>
              <a:rPr lang="en-GB" sz="2000" dirty="0">
                <a:latin typeface="Arial Narrow"/>
                <a:ea typeface="+mn-ea"/>
                <a:cs typeface="Arial Narrow"/>
              </a:rPr>
              <a:t>-X (</a:t>
            </a:r>
            <a:r>
              <a:rPr lang="en-GB" sz="2000" i="1" dirty="0" err="1">
                <a:latin typeface="Arial Narrow"/>
                <a:ea typeface="+mn-ea"/>
                <a:cs typeface="Arial Narrow"/>
              </a:rPr>
              <a:t>problema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en-GB" sz="2000" b="1" i="1" dirty="0">
                <a:latin typeface="Arial Narrow"/>
                <a:ea typeface="+mn-ea"/>
                <a:cs typeface="Arial Narrow"/>
              </a:rPr>
              <a:t>	</a:t>
            </a:r>
            <a:r>
              <a:rPr lang="en-GB" sz="2000" b="1" dirty="0">
                <a:latin typeface="Arial Narrow"/>
                <a:ea typeface="+mn-ea"/>
                <a:cs typeface="Arial Narrow"/>
              </a:rPr>
              <a:t>returns</a:t>
            </a:r>
            <a:r>
              <a:rPr lang="en-GB" sz="2000" b="1" i="1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dirty="0" err="1">
                <a:latin typeface="Arial Narrow"/>
                <a:ea typeface="+mn-ea"/>
                <a:cs typeface="Arial Narrow"/>
              </a:rPr>
              <a:t>soluzione</a:t>
            </a:r>
            <a:r>
              <a:rPr lang="en-GB" sz="2000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dirty="0" err="1">
                <a:latin typeface="Arial Narrow"/>
                <a:ea typeface="+mn-ea"/>
                <a:cs typeface="Arial Narrow"/>
              </a:rPr>
              <a:t>oppure</a:t>
            </a:r>
            <a:r>
              <a:rPr lang="en-GB" sz="2000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b="1" dirty="0" err="1">
                <a:latin typeface="Arial Narrow"/>
                <a:ea typeface="+mn-ea"/>
                <a:cs typeface="Arial Narrow"/>
              </a:rPr>
              <a:t>fallimento</a:t>
            </a:r>
            <a:endParaRPr lang="en-GB" sz="2000" b="1" dirty="0">
              <a:latin typeface="Arial Narrow"/>
              <a:ea typeface="+mn-ea"/>
              <a:cs typeface="Arial Narrow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en-GB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dirty="0">
                <a:latin typeface="Arial Narrow"/>
                <a:ea typeface="+mn-ea"/>
                <a:cs typeface="Arial Narrow"/>
              </a:rPr>
              <a:t>    </a:t>
            </a:r>
            <a:r>
              <a:rPr lang="en-GB" sz="2000" i="1" dirty="0" err="1">
                <a:latin typeface="Arial Narrow"/>
                <a:ea typeface="+mn-ea"/>
                <a:cs typeface="Arial Narrow"/>
              </a:rPr>
              <a:t>nodo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 = </a:t>
            </a:r>
            <a:r>
              <a:rPr lang="en-GB" sz="2000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un </a:t>
            </a:r>
            <a:r>
              <a:rPr lang="en-GB" sz="2000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nodo</a:t>
            </a:r>
            <a:r>
              <a:rPr lang="en-GB" sz="2000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con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stato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il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problema.stato-iniziale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   e  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costo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-di-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cammino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=0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en-GB" sz="2000" i="1" dirty="0">
                <a:latin typeface="Arial Narrow"/>
                <a:ea typeface="+mn-ea"/>
                <a:cs typeface="Arial Narrow"/>
              </a:rPr>
              <a:t>	 </a:t>
            </a:r>
            <a:r>
              <a:rPr lang="en-GB" sz="2000" b="1" dirty="0">
                <a:latin typeface="Arial Narrow"/>
                <a:ea typeface="+mn-ea"/>
                <a:cs typeface="Arial Narrow"/>
              </a:rPr>
              <a:t>if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i="1" dirty="0" err="1">
                <a:latin typeface="Arial Narrow"/>
                <a:ea typeface="+mn-ea"/>
                <a:cs typeface="Arial Narrow"/>
              </a:rPr>
              <a:t>problema.Test-Obiettivo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(</a:t>
            </a:r>
            <a:r>
              <a:rPr lang="en-GB" sz="2000" i="1" dirty="0" err="1">
                <a:latin typeface="Arial Narrow"/>
                <a:ea typeface="+mn-ea"/>
                <a:cs typeface="Arial Narrow"/>
              </a:rPr>
              <a:t>nodo.</a:t>
            </a:r>
            <a:r>
              <a:rPr lang="en-GB" sz="2000" dirty="0" err="1">
                <a:latin typeface="Arial Narrow"/>
                <a:ea typeface="+mn-ea"/>
                <a:cs typeface="Arial Narrow"/>
              </a:rPr>
              <a:t>Stato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)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then return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Soluzione(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nodo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	 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= una coda FIFO con 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nodo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come unico elemento</a:t>
            </a:r>
            <a:endParaRPr lang="en-GB" sz="2000" i="1" dirty="0">
              <a:latin typeface="Arial Narrow"/>
              <a:ea typeface="+mn-ea"/>
              <a:cs typeface="Arial Narrow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b="1" dirty="0">
                <a:latin typeface="Arial Narrow"/>
                <a:ea typeface="+mn-ea"/>
                <a:cs typeface="Arial Narrow"/>
              </a:rPr>
              <a:t>  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loop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do</a:t>
            </a:r>
            <a:endParaRPr lang="en-GB" sz="2000" b="1" dirty="0">
              <a:latin typeface="Arial Narrow"/>
              <a:ea typeface="+mn-ea"/>
              <a:cs typeface="Arial Narrow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	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if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cap="small" dirty="0">
                <a:latin typeface="Arial Narrow"/>
                <a:ea typeface="+mn-ea"/>
                <a:cs typeface="Arial Narrow"/>
              </a:rPr>
              <a:t>IsEmpty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then return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fallimento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b="1" dirty="0">
                <a:latin typeface="Arial Narrow"/>
                <a:ea typeface="+mn-ea"/>
                <a:cs typeface="Arial Narrow"/>
              </a:rPr>
              <a:t>	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nodo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= POP(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b="1" dirty="0">
                <a:latin typeface="Arial Narrow"/>
                <a:ea typeface="+mn-ea"/>
                <a:cs typeface="Arial Narrow"/>
              </a:rPr>
              <a:t>	for 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each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azione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in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 err="1">
                <a:latin typeface="Arial Narrow"/>
                <a:ea typeface="+mn-ea"/>
                <a:cs typeface="Arial Narrow"/>
              </a:rPr>
              <a:t>problema.Azioni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(</a:t>
            </a:r>
            <a:r>
              <a:rPr lang="it-IT" sz="2000" dirty="0" err="1">
                <a:latin typeface="Arial Narrow"/>
                <a:ea typeface="+mn-ea"/>
                <a:cs typeface="Arial Narrow"/>
              </a:rPr>
              <a:t>nodo.Stato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do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b="1" dirty="0">
                <a:latin typeface="Arial Narrow"/>
                <a:ea typeface="+mn-ea"/>
                <a:cs typeface="Arial Narrow"/>
              </a:rPr>
              <a:t>		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figlio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= Nodo-Figlio(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problema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, 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nodo, azione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		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if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 err="1">
                <a:latin typeface="Arial Narrow"/>
                <a:ea typeface="+mn-ea"/>
                <a:cs typeface="Arial Narrow"/>
              </a:rPr>
              <a:t>Problema.</a:t>
            </a:r>
            <a:r>
              <a:rPr lang="it-IT" sz="2000" cap="small" dirty="0" err="1">
                <a:latin typeface="Arial Narrow"/>
                <a:ea typeface="+mn-ea"/>
                <a:cs typeface="Arial Narrow"/>
              </a:rPr>
              <a:t>TestObiettivo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(</a:t>
            </a:r>
            <a:r>
              <a:rPr lang="it-IT" sz="2000" dirty="0" err="1">
                <a:latin typeface="Arial Narrow"/>
                <a:ea typeface="+mn-ea"/>
                <a:cs typeface="Arial Narrow"/>
              </a:rPr>
              <a:t>figlio.Stato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 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then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return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Soluzione(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figlio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		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= </a:t>
            </a:r>
            <a:r>
              <a:rPr lang="it-IT" sz="2000" cap="small" dirty="0">
                <a:latin typeface="Arial Narrow"/>
                <a:ea typeface="+mn-ea"/>
                <a:cs typeface="Arial Narrow"/>
              </a:rPr>
              <a:t>InCoda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figlio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, 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                </a:t>
            </a:r>
            <a:r>
              <a:rPr lang="it-IT" sz="2000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/* frontiera come coda FIFO</a:t>
            </a:r>
            <a:endParaRPr lang="en-GB" sz="2000" dirty="0">
              <a:solidFill>
                <a:srgbClr val="00B050"/>
              </a:solidFill>
              <a:latin typeface="Arial Narrow"/>
              <a:ea typeface="+mn-ea"/>
              <a:cs typeface="Arial Narrow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end</a:t>
            </a:r>
            <a:endParaRPr lang="en-GB" sz="2000" dirty="0">
              <a:latin typeface="Arial Narrow"/>
              <a:ea typeface="+mn-ea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159797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en-US" dirty="0" err="1">
                <a:ea typeface="+mj-ea"/>
              </a:rPr>
              <a:t>Diversi</a:t>
            </a:r>
            <a:r>
              <a:rPr lang="en-US" dirty="0">
                <a:ea typeface="+mj-ea"/>
              </a:rPr>
              <a:t> tipi di </a:t>
            </a:r>
            <a:r>
              <a:rPr lang="en-US" dirty="0" err="1">
                <a:ea typeface="+mj-ea"/>
              </a:rPr>
              <a:t>strategie</a:t>
            </a:r>
            <a:endParaRPr lang="en-US" dirty="0">
              <a:ea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1773238"/>
            <a:ext cx="8208962" cy="443865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r>
              <a:rPr lang="en-US" altLang="en-US" sz="2800" dirty="0"/>
              <a:t>FIFO- First In First Out</a:t>
            </a:r>
          </a:p>
          <a:p>
            <a:pPr lvl="1"/>
            <a:r>
              <a:rPr lang="en-US" altLang="en-US" sz="2400" dirty="0" err="1"/>
              <a:t>Viene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estratto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l’elemento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più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vecchio</a:t>
            </a:r>
            <a:r>
              <a:rPr lang="en-US" altLang="en-US" sz="2400" dirty="0"/>
              <a:t> (in </a:t>
            </a:r>
            <a:r>
              <a:rPr lang="en-US" altLang="en-US" sz="2400" dirty="0" err="1"/>
              <a:t>attesa</a:t>
            </a:r>
            <a:r>
              <a:rPr lang="en-US" altLang="en-US" sz="2400" dirty="0"/>
              <a:t> da </a:t>
            </a:r>
            <a:r>
              <a:rPr lang="en-US" altLang="en-US" sz="2400" dirty="0" err="1"/>
              <a:t>più</a:t>
            </a:r>
            <a:r>
              <a:rPr lang="en-US" altLang="en-US" sz="2400" dirty="0"/>
              <a:t> tempo); in </a:t>
            </a:r>
            <a:r>
              <a:rPr lang="en-US" altLang="en-US" sz="2400" dirty="0" err="1"/>
              <a:t>nuovi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nodi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sono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aggiunti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alla</a:t>
            </a:r>
            <a:r>
              <a:rPr lang="en-US" altLang="en-US" sz="2400" dirty="0"/>
              <a:t> fine. </a:t>
            </a:r>
          </a:p>
          <a:p>
            <a:r>
              <a:rPr lang="en-US" altLang="en-US" sz="2800" dirty="0"/>
              <a:t>LIFO-Last In First Out</a:t>
            </a:r>
          </a:p>
          <a:p>
            <a:pPr lvl="1"/>
            <a:r>
              <a:rPr lang="en-US" altLang="en-US" sz="2400" dirty="0" err="1"/>
              <a:t>Viene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estratto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più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recentemente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inserito</a:t>
            </a:r>
            <a:r>
              <a:rPr lang="en-US" altLang="en-US" sz="2400" dirty="0"/>
              <a:t>;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nuovi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nodi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sono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inseriti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all’inizio</a:t>
            </a:r>
            <a:r>
              <a:rPr lang="en-US" altLang="en-US" dirty="0"/>
              <a:t>. In </a:t>
            </a:r>
            <a:r>
              <a:rPr lang="en-US" altLang="en-US" dirty="0" err="1"/>
              <a:t>genere</a:t>
            </a:r>
            <a:r>
              <a:rPr lang="en-US" altLang="en-US" dirty="0"/>
              <a:t> </a:t>
            </a:r>
            <a:r>
              <a:rPr lang="en-US" altLang="en-US" dirty="0" err="1"/>
              <a:t>questi</a:t>
            </a:r>
            <a:r>
              <a:rPr lang="en-US" altLang="en-US" dirty="0"/>
              <a:t> tipi di </a:t>
            </a:r>
            <a:r>
              <a:rPr lang="en-US" altLang="en-US" dirty="0" err="1"/>
              <a:t>lista</a:t>
            </a:r>
            <a:r>
              <a:rPr lang="en-US" altLang="en-US" dirty="0"/>
              <a:t> </a:t>
            </a:r>
            <a:r>
              <a:rPr lang="en-US" altLang="en-US" dirty="0" err="1"/>
              <a:t>prendono</a:t>
            </a:r>
            <a:r>
              <a:rPr lang="en-US" altLang="en-US" dirty="0"/>
              <a:t> </a:t>
            </a:r>
            <a:r>
              <a:rPr lang="en-US" altLang="en-US" dirty="0" err="1"/>
              <a:t>il</a:t>
            </a:r>
            <a:r>
              <a:rPr lang="en-US" altLang="en-US" dirty="0"/>
              <a:t> </a:t>
            </a:r>
            <a:r>
              <a:rPr lang="en-US" altLang="en-US" dirty="0" err="1"/>
              <a:t>nome</a:t>
            </a:r>
            <a:r>
              <a:rPr lang="en-US" altLang="en-US" dirty="0"/>
              <a:t> di </a:t>
            </a:r>
            <a:r>
              <a:rPr lang="en-US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pile</a:t>
            </a:r>
            <a:r>
              <a:rPr lang="en-US" altLang="en-US" dirty="0"/>
              <a:t>.</a:t>
            </a:r>
            <a:endParaRPr lang="en-US" altLang="en-US" sz="2400" dirty="0"/>
          </a:p>
          <a:p>
            <a:r>
              <a:rPr lang="en-US" altLang="en-US" sz="2800" dirty="0"/>
              <a:t>Coda con </a:t>
            </a:r>
            <a:r>
              <a:rPr lang="en-US" altLang="en-US" sz="2800" dirty="0" err="1"/>
              <a:t>priorità</a:t>
            </a:r>
            <a:endParaRPr lang="en-US" altLang="en-US" sz="2800" dirty="0"/>
          </a:p>
          <a:p>
            <a:pPr lvl="1"/>
            <a:r>
              <a:rPr lang="en-US" altLang="en-US" sz="2400" dirty="0" err="1"/>
              <a:t>Viene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estratto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quello</a:t>
            </a:r>
            <a:r>
              <a:rPr lang="en-US" altLang="en-US" sz="2400" dirty="0"/>
              <a:t> con </a:t>
            </a:r>
            <a:r>
              <a:rPr lang="en-US" altLang="en-US" sz="2400" dirty="0" err="1"/>
              <a:t>priorità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più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alta</a:t>
            </a:r>
            <a:r>
              <a:rPr lang="en-US" altLang="en-US" sz="2400" dirty="0"/>
              <a:t> in base a </a:t>
            </a:r>
            <a:r>
              <a:rPr lang="en-US" altLang="en-US" sz="2400" dirty="0" err="1"/>
              <a:t>una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funzione</a:t>
            </a:r>
            <a:r>
              <a:rPr lang="en-US" altLang="en-US" sz="2400" dirty="0"/>
              <a:t> di </a:t>
            </a:r>
            <a:r>
              <a:rPr lang="en-US" altLang="en-US" sz="2400" dirty="0" err="1"/>
              <a:t>ordinamento</a:t>
            </a:r>
            <a:r>
              <a:rPr lang="en-US" altLang="en-US" sz="2400" dirty="0"/>
              <a:t>; </a:t>
            </a:r>
            <a:r>
              <a:rPr lang="en-US" altLang="en-US" sz="2400" dirty="0" err="1"/>
              <a:t>dopo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l’inserimento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nuovi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nodi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riordina</a:t>
            </a:r>
            <a:r>
              <a:rPr lang="en-US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550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620713"/>
            <a:ext cx="8637588" cy="7699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Strategie</a:t>
            </a:r>
            <a:r>
              <a:rPr lang="en-US" sz="4400" dirty="0">
                <a:ea typeface="+mj-ea"/>
                <a:cs typeface="+mj-cs"/>
              </a:rPr>
              <a:t> non </a:t>
            </a:r>
            <a:r>
              <a:rPr lang="en-US" sz="4400" dirty="0" err="1">
                <a:ea typeface="+mj-ea"/>
                <a:cs typeface="+mj-cs"/>
              </a:rPr>
              <a:t>informate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>
          <a:xfrm>
            <a:off x="401638" y="1676400"/>
            <a:ext cx="8208962" cy="47244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Ricerca in ampiezza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Ricerca di costo uniforme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Ricerca in profondità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solidFill>
                  <a:schemeClr val="bg1">
                    <a:lumMod val="75000"/>
                  </a:schemeClr>
                </a:solidFill>
                <a:cs typeface="Times New Roman" panose="02020603050405020304" pitchFamily="18" charset="0"/>
              </a:rPr>
              <a:t>Ricerca in profondità limitata</a:t>
            </a:r>
            <a:endParaRPr lang="en-GB" altLang="en-US" dirty="0">
              <a:solidFill>
                <a:schemeClr val="bg1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Ricerca con approfondimento iterativo</a:t>
            </a: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/>
              <a:t>					vs</a:t>
            </a: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 err="1"/>
              <a:t>Strategie</a:t>
            </a:r>
            <a:r>
              <a:rPr lang="en-US" altLang="en-US" dirty="0"/>
              <a:t> di </a:t>
            </a:r>
            <a:r>
              <a:rPr lang="en-US" altLang="en-US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Ricerca</a:t>
            </a:r>
            <a:r>
              <a:rPr lang="en-US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Euristica</a:t>
            </a:r>
            <a:r>
              <a:rPr lang="en-US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dirty="0"/>
              <a:t>(o </a:t>
            </a:r>
            <a:r>
              <a:rPr lang="en-US" alt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informata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fanno</a:t>
            </a:r>
            <a:r>
              <a:rPr lang="en-US" altLang="en-US" dirty="0"/>
              <a:t> </a:t>
            </a:r>
            <a:r>
              <a:rPr lang="en-US" altLang="en-US" dirty="0" err="1"/>
              <a:t>uso</a:t>
            </a:r>
            <a:r>
              <a:rPr lang="en-US" altLang="en-US" dirty="0"/>
              <a:t> di </a:t>
            </a:r>
            <a:r>
              <a:rPr lang="en-US" altLang="en-US" dirty="0" err="1"/>
              <a:t>informazioni</a:t>
            </a:r>
            <a:r>
              <a:rPr lang="en-US" altLang="en-US" dirty="0"/>
              <a:t> </a:t>
            </a:r>
            <a:r>
              <a:rPr lang="en-US" altLang="en-US" dirty="0" err="1"/>
              <a:t>riguardo</a:t>
            </a:r>
            <a:r>
              <a:rPr lang="en-US" altLang="en-US" dirty="0"/>
              <a:t> </a:t>
            </a:r>
            <a:r>
              <a:rPr lang="en-US" altLang="en-US" dirty="0" err="1"/>
              <a:t>alla</a:t>
            </a:r>
            <a:r>
              <a:rPr lang="en-US" altLang="en-US" dirty="0"/>
              <a:t> </a:t>
            </a:r>
            <a:r>
              <a:rPr lang="en-US" altLang="en-US" dirty="0" err="1"/>
              <a:t>distanza</a:t>
            </a:r>
            <a:r>
              <a:rPr lang="en-US" altLang="en-US" dirty="0"/>
              <a:t> </a:t>
            </a:r>
            <a:r>
              <a:rPr lang="en-US" altLang="en-US" dirty="0" err="1"/>
              <a:t>stimata</a:t>
            </a:r>
            <a:r>
              <a:rPr lang="en-US" altLang="en-US" dirty="0"/>
              <a:t> </a:t>
            </a:r>
            <a:r>
              <a:rPr lang="en-US" altLang="en-US" dirty="0" err="1"/>
              <a:t>dalla</a:t>
            </a:r>
            <a:r>
              <a:rPr lang="en-US" altLang="en-US" dirty="0"/>
              <a:t> </a:t>
            </a:r>
            <a:r>
              <a:rPr lang="en-US" altLang="en-US" dirty="0" err="1"/>
              <a:t>soluzione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96273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8463" y="620713"/>
            <a:ext cx="8637587" cy="7699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Valutazione</a:t>
            </a:r>
            <a:r>
              <a:rPr lang="en-US" sz="4400" dirty="0">
                <a:ea typeface="+mj-ea"/>
                <a:cs typeface="+mj-cs"/>
              </a:rPr>
              <a:t> di </a:t>
            </a:r>
            <a:r>
              <a:rPr lang="en-US" sz="4400" dirty="0" err="1">
                <a:ea typeface="+mj-ea"/>
                <a:cs typeface="+mj-cs"/>
              </a:rPr>
              <a:t>una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strategia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pPr eaLnBrk="1" hangingPunct="1"/>
            <a:r>
              <a:rPr lang="it-IT" altLang="en-US" i="1" dirty="0">
                <a:cs typeface="Times New Roman" panose="02020603050405020304" pitchFamily="18" charset="0"/>
              </a:rPr>
              <a:t>Completezza</a:t>
            </a:r>
            <a:r>
              <a:rPr lang="it-IT" altLang="en-US" dirty="0"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it-IT" altLang="en-US" dirty="0">
                <a:cs typeface="Times New Roman" panose="02020603050405020304" pitchFamily="18" charset="0"/>
              </a:rPr>
              <a:t>se la soluzione esiste l’Algoritmo di Ricerca riesce a trovarla</a:t>
            </a:r>
          </a:p>
          <a:p>
            <a:pPr eaLnBrk="1" hangingPunct="1"/>
            <a:r>
              <a:rPr lang="it-IT" altLang="en-US" i="1" dirty="0">
                <a:cs typeface="Times New Roman" panose="02020603050405020304" pitchFamily="18" charset="0"/>
              </a:rPr>
              <a:t>Ottimalità </a:t>
            </a:r>
            <a:r>
              <a:rPr lang="it-IT" altLang="en-US" dirty="0">
                <a:cs typeface="Times New Roman" panose="02020603050405020304" pitchFamily="18" charset="0"/>
              </a:rPr>
              <a:t>(ammissibilità): </a:t>
            </a:r>
          </a:p>
          <a:p>
            <a:pPr lvl="1"/>
            <a:r>
              <a:rPr lang="it-IT" altLang="en-US" dirty="0" err="1">
                <a:cs typeface="Times New Roman" panose="02020603050405020304" pitchFamily="18" charset="0"/>
              </a:rPr>
              <a:t>l’AdR</a:t>
            </a:r>
            <a:r>
              <a:rPr lang="it-IT" altLang="en-US" dirty="0">
                <a:cs typeface="Times New Roman" panose="02020603050405020304" pitchFamily="18" charset="0"/>
              </a:rPr>
              <a:t> trova la soluzione migliore, quella cioè con costo minore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i="1" dirty="0">
                <a:cs typeface="Times New Roman" panose="02020603050405020304" pitchFamily="18" charset="0"/>
              </a:rPr>
              <a:t>Complessità nel tempo</a:t>
            </a:r>
            <a:r>
              <a:rPr lang="it-IT" altLang="en-US" dirty="0"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it-IT" altLang="en-US" dirty="0">
                <a:cs typeface="Times New Roman" panose="02020603050405020304" pitchFamily="18" charset="0"/>
              </a:rPr>
              <a:t>tempo richiesto affinche l’AdR trovi la soluzione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i="1" dirty="0">
                <a:cs typeface="Times New Roman" panose="02020603050405020304" pitchFamily="18" charset="0"/>
              </a:rPr>
              <a:t>Complessità nello spazio</a:t>
            </a:r>
            <a:r>
              <a:rPr lang="it-IT" altLang="en-US" dirty="0"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it-IT" altLang="en-US" dirty="0">
                <a:cs typeface="Times New Roman" panose="02020603050405020304" pitchFamily="18" charset="0"/>
              </a:rPr>
              <a:t>quanta memoria viene richiesta dal completamento di una elaborazione completa </a:t>
            </a:r>
            <a:r>
              <a:rPr lang="it-IT" altLang="en-US" dirty="0" err="1">
                <a:cs typeface="Times New Roman" panose="02020603050405020304" pitchFamily="18" charset="0"/>
              </a:rPr>
              <a:t>dell’AdR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04111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f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484313"/>
            <a:ext cx="61214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0213" y="434975"/>
            <a:ext cx="86375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in </a:t>
            </a:r>
            <a:r>
              <a:rPr lang="en-US" sz="4400" dirty="0" err="1">
                <a:ea typeface="+mj-ea"/>
                <a:cs typeface="+mj-cs"/>
              </a:rPr>
              <a:t>ampiezza</a:t>
            </a:r>
            <a:r>
              <a:rPr lang="en-US" sz="4400" dirty="0">
                <a:ea typeface="+mj-ea"/>
                <a:cs typeface="+mj-cs"/>
              </a:rPr>
              <a:t> (BF)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94329" name="Text Box 121"/>
          <p:cNvSpPr txBox="1">
            <a:spLocks noChangeArrowheads="1"/>
          </p:cNvSpPr>
          <p:nvPr/>
        </p:nvSpPr>
        <p:spPr bwMode="auto">
          <a:xfrm>
            <a:off x="457200" y="6135687"/>
            <a:ext cx="838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 dirty="0">
                <a:latin typeface="+mj-lt"/>
                <a:ea typeface="ＭＳ Ｐゴシック" charset="0"/>
                <a:cs typeface="Times New Roman" charset="0"/>
              </a:rPr>
              <a:t>Implementata con una coda che inserisce alla fine (FIFO)</a:t>
            </a:r>
            <a:endParaRPr lang="en-GB" b="0" dirty="0">
              <a:latin typeface="+mj-lt"/>
              <a:ea typeface="ＭＳ Ｐゴシック" charset="0"/>
              <a:cs typeface="Times New Roman" charset="0"/>
            </a:endParaRPr>
          </a:p>
        </p:txBody>
      </p:sp>
      <p:pic>
        <p:nvPicPr>
          <p:cNvPr id="6" name="Picture 5" descr="bf2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412875"/>
            <a:ext cx="664845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bf3.tif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12875"/>
            <a:ext cx="6840537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bf4.tif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484313"/>
            <a:ext cx="70834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294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2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f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484313"/>
            <a:ext cx="61214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0213" y="434975"/>
            <a:ext cx="86375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in </a:t>
            </a:r>
            <a:r>
              <a:rPr lang="en-US" sz="4400" dirty="0" err="1">
                <a:ea typeface="+mj-ea"/>
                <a:cs typeface="+mj-cs"/>
              </a:rPr>
              <a:t>ampiezza</a:t>
            </a:r>
            <a:r>
              <a:rPr lang="en-US" sz="4400" dirty="0">
                <a:ea typeface="+mj-ea"/>
                <a:cs typeface="+mj-cs"/>
              </a:rPr>
              <a:t> (BF)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94329" name="Text Box 121"/>
          <p:cNvSpPr txBox="1">
            <a:spLocks noChangeArrowheads="1"/>
          </p:cNvSpPr>
          <p:nvPr/>
        </p:nvSpPr>
        <p:spPr bwMode="auto">
          <a:xfrm>
            <a:off x="457200" y="6135687"/>
            <a:ext cx="838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 dirty="0">
                <a:latin typeface="+mj-lt"/>
                <a:ea typeface="ＭＳ Ｐゴシック" charset="0"/>
                <a:cs typeface="Times New Roman" charset="0"/>
              </a:rPr>
              <a:t>Implementata con una coda che inserisce alla fine (FIFO)</a:t>
            </a:r>
            <a:endParaRPr lang="en-GB" b="0" dirty="0">
              <a:latin typeface="+mj-lt"/>
              <a:ea typeface="ＭＳ Ｐゴシック" charset="0"/>
              <a:cs typeface="Times New Roman" charset="0"/>
            </a:endParaRPr>
          </a:p>
        </p:txBody>
      </p:sp>
      <p:pic>
        <p:nvPicPr>
          <p:cNvPr id="6" name="Picture 5" descr="bf2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412875"/>
            <a:ext cx="664845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bf3.tif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12875"/>
            <a:ext cx="6840537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020659"/>
              </p:ext>
            </p:extLst>
          </p:nvPr>
        </p:nvGraphicFramePr>
        <p:xfrm>
          <a:off x="7739063" y="1974987"/>
          <a:ext cx="887760" cy="3400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4046032206"/>
                    </a:ext>
                  </a:extLst>
                </a:gridCol>
              </a:tblGrid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138169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94135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320261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35677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932700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893560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882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357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f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484313"/>
            <a:ext cx="61214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0213" y="434975"/>
            <a:ext cx="86375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in </a:t>
            </a:r>
            <a:r>
              <a:rPr lang="en-US" sz="4400" dirty="0" err="1">
                <a:ea typeface="+mj-ea"/>
                <a:cs typeface="+mj-cs"/>
              </a:rPr>
              <a:t>ampiezza</a:t>
            </a:r>
            <a:r>
              <a:rPr lang="en-US" sz="4400" dirty="0">
                <a:ea typeface="+mj-ea"/>
                <a:cs typeface="+mj-cs"/>
              </a:rPr>
              <a:t> (BF)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94329" name="Text Box 121"/>
          <p:cNvSpPr txBox="1">
            <a:spLocks noChangeArrowheads="1"/>
          </p:cNvSpPr>
          <p:nvPr/>
        </p:nvSpPr>
        <p:spPr bwMode="auto">
          <a:xfrm>
            <a:off x="457200" y="6135687"/>
            <a:ext cx="838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 dirty="0">
                <a:latin typeface="+mj-lt"/>
                <a:ea typeface="ＭＳ Ｐゴシック" charset="0"/>
                <a:cs typeface="Times New Roman" charset="0"/>
              </a:rPr>
              <a:t>Implementata con una coda che inserisce alla fine (FIFO)</a:t>
            </a:r>
            <a:endParaRPr lang="en-GB" b="0" dirty="0">
              <a:latin typeface="+mj-lt"/>
              <a:ea typeface="ＭＳ Ｐゴシック" charset="0"/>
              <a:cs typeface="Times New Roman" charset="0"/>
            </a:endParaRPr>
          </a:p>
        </p:txBody>
      </p:sp>
      <p:pic>
        <p:nvPicPr>
          <p:cNvPr id="6" name="Picture 5" descr="bf2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412875"/>
            <a:ext cx="664845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bf3.tif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12875"/>
            <a:ext cx="6840537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bf4.tif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484313"/>
            <a:ext cx="70834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94278"/>
              </p:ext>
            </p:extLst>
          </p:nvPr>
        </p:nvGraphicFramePr>
        <p:xfrm>
          <a:off x="7739063" y="1974987"/>
          <a:ext cx="887760" cy="3400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4046032206"/>
                    </a:ext>
                  </a:extLst>
                </a:gridCol>
              </a:tblGrid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138169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94135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320261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35677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932700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893560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882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4705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355600"/>
            <a:ext cx="81041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in </a:t>
            </a:r>
            <a:r>
              <a:rPr lang="en-US" sz="4400" dirty="0" err="1">
                <a:ea typeface="+mj-ea"/>
                <a:cs typeface="+mj-cs"/>
              </a:rPr>
              <a:t>ampiezza</a:t>
            </a:r>
            <a:r>
              <a:rPr lang="en-US" sz="4400" dirty="0">
                <a:ea typeface="+mj-ea"/>
                <a:cs typeface="+mj-cs"/>
              </a:rPr>
              <a:t> (</a:t>
            </a:r>
            <a:r>
              <a:rPr lang="en-US" sz="4400" dirty="0" err="1">
                <a:ea typeface="+mj-ea"/>
                <a:cs typeface="+mj-cs"/>
              </a:rPr>
              <a:t>su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albero</a:t>
            </a:r>
            <a:r>
              <a:rPr lang="en-US" sz="4400" dirty="0">
                <a:ea typeface="+mj-ea"/>
                <a:cs typeface="+mj-cs"/>
              </a:rPr>
              <a:t>)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61583"/>
            <a:ext cx="8928223" cy="566124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en-GB" sz="2000" b="1" dirty="0">
                <a:latin typeface="Arial Narrow"/>
                <a:ea typeface="+mn-ea"/>
                <a:cs typeface="Arial Narrow"/>
              </a:rPr>
              <a:t>function </a:t>
            </a:r>
            <a:r>
              <a:rPr lang="en-GB" sz="2000" dirty="0" err="1">
                <a:latin typeface="Arial Narrow"/>
                <a:ea typeface="+mn-ea"/>
                <a:cs typeface="Arial Narrow"/>
              </a:rPr>
              <a:t>Ricerca</a:t>
            </a:r>
            <a:r>
              <a:rPr lang="en-GB" sz="2000" dirty="0">
                <a:latin typeface="Arial Narrow"/>
                <a:ea typeface="+mn-ea"/>
                <a:cs typeface="Arial Narrow"/>
              </a:rPr>
              <a:t>-</a:t>
            </a:r>
            <a:r>
              <a:rPr lang="en-GB" sz="2000" dirty="0" err="1">
                <a:latin typeface="Arial Narrow"/>
                <a:ea typeface="+mn-ea"/>
                <a:cs typeface="Arial Narrow"/>
              </a:rPr>
              <a:t>Ampiezza</a:t>
            </a:r>
            <a:r>
              <a:rPr lang="en-GB" sz="2000" dirty="0">
                <a:latin typeface="Arial Narrow"/>
                <a:ea typeface="+mn-ea"/>
                <a:cs typeface="Arial Narrow"/>
              </a:rPr>
              <a:t>-A (</a:t>
            </a:r>
            <a:r>
              <a:rPr lang="en-GB" sz="2000" i="1" dirty="0" err="1">
                <a:latin typeface="Arial Narrow"/>
                <a:ea typeface="+mn-ea"/>
                <a:cs typeface="Arial Narrow"/>
              </a:rPr>
              <a:t>problema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en-GB" sz="2000" b="1" i="1" dirty="0">
                <a:latin typeface="Arial Narrow"/>
                <a:ea typeface="+mn-ea"/>
                <a:cs typeface="Arial Narrow"/>
              </a:rPr>
              <a:t>	</a:t>
            </a:r>
            <a:r>
              <a:rPr lang="en-GB" sz="2000" b="1" dirty="0">
                <a:latin typeface="Arial Narrow"/>
                <a:ea typeface="+mn-ea"/>
                <a:cs typeface="Arial Narrow"/>
              </a:rPr>
              <a:t>returns</a:t>
            </a:r>
            <a:r>
              <a:rPr lang="en-GB" sz="2000" b="1" i="1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dirty="0" err="1">
                <a:latin typeface="Arial Narrow"/>
                <a:ea typeface="+mn-ea"/>
                <a:cs typeface="Arial Narrow"/>
              </a:rPr>
              <a:t>soluzione</a:t>
            </a:r>
            <a:r>
              <a:rPr lang="en-GB" sz="2000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dirty="0" err="1">
                <a:latin typeface="Arial Narrow"/>
                <a:ea typeface="+mn-ea"/>
                <a:cs typeface="Arial Narrow"/>
              </a:rPr>
              <a:t>oppure</a:t>
            </a:r>
            <a:r>
              <a:rPr lang="en-GB" sz="2000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b="1" dirty="0" err="1">
                <a:latin typeface="Arial Narrow"/>
                <a:ea typeface="+mn-ea"/>
                <a:cs typeface="Arial Narrow"/>
              </a:rPr>
              <a:t>fallimento</a:t>
            </a:r>
            <a:endParaRPr lang="en-GB" sz="2000" b="1" dirty="0">
              <a:latin typeface="Arial Narrow"/>
              <a:ea typeface="+mn-ea"/>
              <a:cs typeface="Arial Narrow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en-GB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dirty="0">
                <a:latin typeface="Arial Narrow"/>
                <a:ea typeface="+mn-ea"/>
                <a:cs typeface="Arial Narrow"/>
              </a:rPr>
              <a:t>    </a:t>
            </a:r>
            <a:r>
              <a:rPr lang="en-GB" sz="2000" i="1" dirty="0" err="1">
                <a:latin typeface="Arial Narrow"/>
                <a:ea typeface="+mn-ea"/>
                <a:cs typeface="Arial Narrow"/>
              </a:rPr>
              <a:t>nodo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 = </a:t>
            </a:r>
            <a:r>
              <a:rPr lang="en-GB" sz="2000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un </a:t>
            </a:r>
            <a:r>
              <a:rPr lang="en-GB" sz="2000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nodo</a:t>
            </a:r>
            <a:r>
              <a:rPr lang="en-GB" sz="2000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con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stato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il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problema.stato-iniziale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    e  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costo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-di-</a:t>
            </a:r>
            <a:r>
              <a:rPr lang="en-GB" sz="2000" i="1" dirty="0" err="1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cammino</a:t>
            </a:r>
            <a:r>
              <a:rPr lang="en-GB" sz="2000" i="1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=0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en-GB" sz="2000" i="1" dirty="0">
                <a:latin typeface="Arial Narrow"/>
                <a:ea typeface="+mn-ea"/>
                <a:cs typeface="Arial Narrow"/>
              </a:rPr>
              <a:t>	 </a:t>
            </a:r>
            <a:r>
              <a:rPr lang="en-GB" sz="2000" b="1" dirty="0">
                <a:latin typeface="Arial Narrow"/>
                <a:ea typeface="+mn-ea"/>
                <a:cs typeface="Arial Narrow"/>
              </a:rPr>
              <a:t>if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 </a:t>
            </a:r>
            <a:r>
              <a:rPr lang="en-GB" sz="2000" i="1" dirty="0" err="1">
                <a:latin typeface="Arial Narrow"/>
                <a:ea typeface="+mn-ea"/>
                <a:cs typeface="Arial Narrow"/>
              </a:rPr>
              <a:t>problema.Test-Obiettivo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(</a:t>
            </a:r>
            <a:r>
              <a:rPr lang="en-GB" sz="2000" i="1" dirty="0" err="1">
                <a:latin typeface="Arial Narrow"/>
                <a:ea typeface="+mn-ea"/>
                <a:cs typeface="Arial Narrow"/>
              </a:rPr>
              <a:t>nodo.</a:t>
            </a:r>
            <a:r>
              <a:rPr lang="en-GB" sz="2000" dirty="0" err="1">
                <a:latin typeface="Arial Narrow"/>
                <a:ea typeface="+mn-ea"/>
                <a:cs typeface="Arial Narrow"/>
              </a:rPr>
              <a:t>Stato</a:t>
            </a:r>
            <a:r>
              <a:rPr lang="en-GB" sz="2000" i="1" dirty="0">
                <a:latin typeface="Arial Narrow"/>
                <a:ea typeface="+mn-ea"/>
                <a:cs typeface="Arial Narrow"/>
              </a:rPr>
              <a:t>)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then return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Soluzione(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nodo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	 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= una coda FIFO con 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nodo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come unico elemento</a:t>
            </a:r>
            <a:endParaRPr lang="en-GB" sz="2000" i="1" dirty="0">
              <a:latin typeface="Arial Narrow"/>
              <a:ea typeface="+mn-ea"/>
              <a:cs typeface="Arial Narrow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b="1" dirty="0">
                <a:latin typeface="Arial Narrow"/>
                <a:ea typeface="+mn-ea"/>
                <a:cs typeface="Arial Narrow"/>
              </a:rPr>
              <a:t>  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loop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do</a:t>
            </a:r>
            <a:endParaRPr lang="en-GB" sz="2000" b="1" dirty="0">
              <a:latin typeface="Arial Narrow"/>
              <a:ea typeface="+mn-ea"/>
              <a:cs typeface="Arial Narrow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	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if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cap="small" dirty="0">
                <a:latin typeface="Arial Narrow"/>
                <a:ea typeface="+mn-ea"/>
                <a:cs typeface="Arial Narrow"/>
              </a:rPr>
              <a:t>IsEmpty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then return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fallimento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b="1" dirty="0">
                <a:latin typeface="Arial Narrow"/>
                <a:ea typeface="+mn-ea"/>
                <a:cs typeface="Arial Narrow"/>
              </a:rPr>
              <a:t>	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nodo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= POP(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b="1" dirty="0">
                <a:latin typeface="Arial Narrow"/>
                <a:ea typeface="+mn-ea"/>
                <a:cs typeface="Arial Narrow"/>
              </a:rPr>
              <a:t>	for 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each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azione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in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 err="1">
                <a:latin typeface="Arial Narrow"/>
                <a:ea typeface="+mn-ea"/>
                <a:cs typeface="Arial Narrow"/>
              </a:rPr>
              <a:t>problema.Azioni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(</a:t>
            </a:r>
            <a:r>
              <a:rPr lang="it-IT" sz="2000" dirty="0" err="1">
                <a:latin typeface="Arial Narrow"/>
                <a:ea typeface="+mn-ea"/>
                <a:cs typeface="Arial Narrow"/>
              </a:rPr>
              <a:t>nodo.Stato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do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b="1" dirty="0">
                <a:latin typeface="Arial Narrow"/>
                <a:ea typeface="+mn-ea"/>
                <a:cs typeface="Arial Narrow"/>
              </a:rPr>
              <a:t>		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figlio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= Nodo-Figlio(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problema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, 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nodo, azione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		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if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 err="1">
                <a:latin typeface="Arial Narrow"/>
                <a:ea typeface="+mn-ea"/>
                <a:cs typeface="Arial Narrow"/>
              </a:rPr>
              <a:t>Problema.</a:t>
            </a:r>
            <a:r>
              <a:rPr lang="it-IT" sz="2000" cap="small" dirty="0" err="1">
                <a:latin typeface="Arial Narrow"/>
                <a:ea typeface="+mn-ea"/>
                <a:cs typeface="Arial Narrow"/>
              </a:rPr>
              <a:t>TestObiettivo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(</a:t>
            </a:r>
            <a:r>
              <a:rPr lang="it-IT" sz="2000" dirty="0" err="1">
                <a:latin typeface="Arial Narrow"/>
                <a:ea typeface="+mn-ea"/>
                <a:cs typeface="Arial Narrow"/>
              </a:rPr>
              <a:t>figlio.Stato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 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then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b="1" dirty="0" err="1">
                <a:latin typeface="Arial Narrow"/>
                <a:ea typeface="+mn-ea"/>
                <a:cs typeface="Arial Narrow"/>
              </a:rPr>
              <a:t>return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Soluzione(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figlio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		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 = </a:t>
            </a:r>
            <a:r>
              <a:rPr lang="it-IT" sz="2000" cap="small" dirty="0">
                <a:latin typeface="Arial Narrow"/>
                <a:ea typeface="+mn-ea"/>
                <a:cs typeface="Arial Narrow"/>
              </a:rPr>
              <a:t>InCoda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(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figlio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, </a:t>
            </a:r>
            <a:r>
              <a:rPr lang="it-IT" sz="2000" i="1" dirty="0">
                <a:latin typeface="Arial Narrow"/>
                <a:ea typeface="+mn-ea"/>
                <a:cs typeface="Arial Narrow"/>
              </a:rPr>
              <a:t>frontiera</a:t>
            </a:r>
            <a:r>
              <a:rPr lang="it-IT" sz="2000" dirty="0">
                <a:latin typeface="Arial Narrow"/>
                <a:ea typeface="+mn-ea"/>
                <a:cs typeface="Arial Narrow"/>
              </a:rPr>
              <a:t>)                </a:t>
            </a:r>
            <a:r>
              <a:rPr lang="it-IT" sz="2000" dirty="0">
                <a:solidFill>
                  <a:srgbClr val="00B050"/>
                </a:solidFill>
                <a:latin typeface="Arial Narrow"/>
                <a:ea typeface="+mn-ea"/>
                <a:cs typeface="Arial Narrow"/>
              </a:rPr>
              <a:t>/* frontiera come coda FIFO</a:t>
            </a:r>
            <a:endParaRPr lang="en-GB" sz="2000" dirty="0">
              <a:solidFill>
                <a:srgbClr val="00B050"/>
              </a:solidFill>
              <a:latin typeface="Arial Narrow"/>
              <a:ea typeface="+mn-ea"/>
              <a:cs typeface="Arial Narrow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charset="0"/>
              <a:buNone/>
              <a:defRPr/>
            </a:pPr>
            <a:r>
              <a:rPr lang="it-IT" sz="2000" dirty="0">
                <a:latin typeface="Arial Narrow"/>
                <a:ea typeface="+mn-ea"/>
                <a:cs typeface="Arial Narrow"/>
              </a:rPr>
              <a:t> </a:t>
            </a:r>
            <a:r>
              <a:rPr lang="it-IT" sz="2000" b="1" dirty="0">
                <a:latin typeface="Arial Narrow"/>
                <a:ea typeface="+mn-ea"/>
                <a:cs typeface="Arial Narrow"/>
              </a:rPr>
              <a:t>end</a:t>
            </a:r>
            <a:endParaRPr lang="en-GB" sz="2000" dirty="0">
              <a:latin typeface="Arial Narrow"/>
              <a:ea typeface="+mn-ea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77233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488950"/>
            <a:ext cx="8637588" cy="70802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r>
              <a:rPr lang="en-US" altLang="en-US" sz="4000"/>
              <a:t>Analisi complessità spazio-temporale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dirty="0" err="1">
                <a:cs typeface="Times New Roman" panose="02020603050405020304" pitchFamily="18" charset="0"/>
              </a:rPr>
              <a:t>Assumiamo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i="1" dirty="0"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i="1" dirty="0">
                <a:cs typeface="Times New Roman" panose="02020603050405020304" pitchFamily="18" charset="0"/>
              </a:rPr>
              <a:t>b</a:t>
            </a:r>
            <a:r>
              <a:rPr lang="it-IT" altLang="en-US" dirty="0">
                <a:cs typeface="Times New Roman" panose="02020603050405020304" pitchFamily="18" charset="0"/>
              </a:rPr>
              <a:t> = fattore di </a:t>
            </a:r>
            <a:r>
              <a:rPr lang="it-IT" altLang="en-US" i="1" dirty="0">
                <a:cs typeface="Times New Roman" panose="02020603050405020304" pitchFamily="18" charset="0"/>
              </a:rPr>
              <a:t>ramificazione</a:t>
            </a:r>
            <a:r>
              <a:rPr lang="it-IT" altLang="en-US" dirty="0">
                <a:cs typeface="Times New Roman" panose="02020603050405020304" pitchFamily="18" charset="0"/>
              </a:rPr>
              <a:t> (</a:t>
            </a:r>
            <a:r>
              <a:rPr lang="it-IT" altLang="en-US" i="1" dirty="0">
                <a:cs typeface="Times New Roman" panose="02020603050405020304" pitchFamily="18" charset="0"/>
              </a:rPr>
              <a:t>branching</a:t>
            </a:r>
            <a:r>
              <a:rPr lang="it-IT" altLang="en-US" dirty="0"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		 (numero </a:t>
            </a:r>
            <a:r>
              <a:rPr lang="it-IT" altLang="en-US" dirty="0" err="1">
                <a:cs typeface="Times New Roman" panose="02020603050405020304" pitchFamily="18" charset="0"/>
              </a:rPr>
              <a:t>max</a:t>
            </a:r>
            <a:r>
              <a:rPr lang="it-IT" altLang="en-US" dirty="0">
                <a:cs typeface="Times New Roman" panose="02020603050405020304" pitchFamily="18" charset="0"/>
              </a:rPr>
              <a:t> di successori)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i="1" dirty="0">
                <a:cs typeface="Times New Roman" panose="02020603050405020304" pitchFamily="18" charset="0"/>
              </a:rPr>
              <a:t>	d</a:t>
            </a:r>
            <a:r>
              <a:rPr lang="it-IT" altLang="en-US" dirty="0">
                <a:cs typeface="Times New Roman" panose="02020603050405020304" pitchFamily="18" charset="0"/>
              </a:rPr>
              <a:t> = profondità del </a:t>
            </a:r>
            <a:r>
              <a:rPr lang="it-IT" altLang="en-US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nodo obiettivo </a:t>
            </a:r>
            <a:r>
              <a:rPr lang="it-IT" altLang="en-US" dirty="0">
                <a:cs typeface="Times New Roman" panose="02020603050405020304" pitchFamily="18" charset="0"/>
              </a:rPr>
              <a:t>più superficiale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	</a:t>
            </a:r>
            <a:r>
              <a:rPr lang="it-IT" altLang="en-US" i="1" dirty="0">
                <a:cs typeface="Times New Roman" panose="02020603050405020304" pitchFamily="18" charset="0"/>
              </a:rPr>
              <a:t>m </a:t>
            </a:r>
            <a:r>
              <a:rPr lang="it-IT" altLang="en-US" dirty="0">
                <a:cs typeface="Times New Roman" panose="02020603050405020304" pitchFamily="18" charset="0"/>
              </a:rPr>
              <a:t>= lunghezza massima dei cammini nello 	 	 spazio di ricerca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91808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143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in </a:t>
            </a:r>
            <a:r>
              <a:rPr lang="en-US" sz="4400" dirty="0" err="1">
                <a:ea typeface="+mj-ea"/>
                <a:cs typeface="+mj-cs"/>
              </a:rPr>
              <a:t>ampiezza</a:t>
            </a:r>
            <a:r>
              <a:rPr lang="en-US" sz="4400" dirty="0">
                <a:ea typeface="+mj-ea"/>
                <a:cs typeface="+mj-cs"/>
              </a:rPr>
              <a:t>: </a:t>
            </a:r>
            <a:r>
              <a:rPr lang="en-US" sz="4400" dirty="0" err="1">
                <a:ea typeface="+mj-ea"/>
                <a:cs typeface="+mj-cs"/>
              </a:rPr>
              <a:t>analisi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it-IT" altLang="en-US" sz="2800" dirty="0">
                <a:cs typeface="Times New Roman" panose="02020603050405020304" pitchFamily="18" charset="0"/>
              </a:rPr>
              <a:t>Strategia </a:t>
            </a:r>
            <a:r>
              <a:rPr lang="it-IT" altLang="en-US" sz="2800" i="1" dirty="0">
                <a:cs typeface="Times New Roman" panose="02020603050405020304" pitchFamily="18" charset="0"/>
              </a:rPr>
              <a:t>completa</a:t>
            </a:r>
            <a:endParaRPr lang="en-GB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sz="2800" dirty="0">
                <a:cs typeface="Times New Roman" panose="02020603050405020304" pitchFamily="18" charset="0"/>
              </a:rPr>
              <a:t>Strategia </a:t>
            </a:r>
            <a:r>
              <a:rPr lang="it-IT" altLang="en-US" sz="2800" i="1" dirty="0">
                <a:cs typeface="Times New Roman" panose="02020603050405020304" pitchFamily="18" charset="0"/>
              </a:rPr>
              <a:t>ottimale</a:t>
            </a:r>
            <a:r>
              <a:rPr lang="it-IT" altLang="en-US" sz="2800" dirty="0">
                <a:cs typeface="Times New Roman" panose="02020603050405020304" pitchFamily="18" charset="0"/>
              </a:rPr>
              <a:t> </a:t>
            </a:r>
            <a:r>
              <a:rPr lang="it-IT" altLang="en-US" sz="2800" dirty="0">
                <a:solidFill>
                  <a:srgbClr val="009999"/>
                </a:solidFill>
                <a:cs typeface="Times New Roman" panose="02020603050405020304" pitchFamily="18" charset="0"/>
              </a:rPr>
              <a:t>se gli operatori hanno tutti lo stesso costo </a:t>
            </a:r>
            <a:r>
              <a:rPr lang="it-IT" altLang="en-US" sz="2800" i="1" dirty="0">
                <a:solidFill>
                  <a:srgbClr val="009999"/>
                </a:solidFill>
                <a:cs typeface="Times New Roman" panose="02020603050405020304" pitchFamily="18" charset="0"/>
              </a:rPr>
              <a:t>k</a:t>
            </a:r>
            <a:r>
              <a:rPr lang="it-IT" altLang="en-US" sz="2800" dirty="0">
                <a:cs typeface="Times New Roman" panose="02020603050405020304" pitchFamily="18" charset="0"/>
              </a:rPr>
              <a:t>, cioè </a:t>
            </a:r>
            <a:r>
              <a:rPr lang="it-IT" altLang="en-US" sz="2800" i="1" dirty="0">
                <a:cs typeface="Times New Roman" panose="02020603050405020304" pitchFamily="18" charset="0"/>
              </a:rPr>
              <a:t>g</a:t>
            </a:r>
            <a:r>
              <a:rPr lang="it-IT" altLang="en-US" sz="2800" dirty="0">
                <a:cs typeface="Times New Roman" panose="02020603050405020304" pitchFamily="18" charset="0"/>
              </a:rPr>
              <a:t>(</a:t>
            </a:r>
            <a:r>
              <a:rPr lang="it-IT" altLang="en-US" sz="2800" i="1" dirty="0">
                <a:cs typeface="Times New Roman" panose="02020603050405020304" pitchFamily="18" charset="0"/>
              </a:rPr>
              <a:t>n</a:t>
            </a:r>
            <a:r>
              <a:rPr lang="it-IT" altLang="en-US" sz="2800" dirty="0">
                <a:cs typeface="Times New Roman" panose="02020603050405020304" pitchFamily="18" charset="0"/>
              </a:rPr>
              <a:t>) = </a:t>
            </a:r>
            <a:r>
              <a:rPr lang="it-IT" altLang="en-US" sz="2800" i="1" dirty="0">
                <a:cs typeface="Times New Roman" panose="02020603050405020304" pitchFamily="18" charset="0"/>
              </a:rPr>
              <a:t>k</a:t>
            </a:r>
            <a:r>
              <a:rPr lang="it-IT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·</a:t>
            </a:r>
            <a:r>
              <a:rPr lang="it-IT" altLang="en-US" sz="2800" dirty="0">
                <a:cs typeface="Times New Roman" panose="02020603050405020304" pitchFamily="18" charset="0"/>
              </a:rPr>
              <a:t> depth(</a:t>
            </a:r>
            <a:r>
              <a:rPr lang="it-IT" altLang="en-US" sz="2800" i="1" dirty="0">
                <a:cs typeface="Times New Roman" panose="02020603050405020304" pitchFamily="18" charset="0"/>
              </a:rPr>
              <a:t>n</a:t>
            </a:r>
            <a:r>
              <a:rPr lang="it-IT" altLang="en-US" sz="2800" dirty="0">
                <a:cs typeface="Times New Roman" panose="02020603050405020304" pitchFamily="18" charset="0"/>
              </a:rPr>
              <a:t>), dove </a:t>
            </a:r>
            <a:r>
              <a:rPr lang="it-IT" altLang="en-US" sz="2800" i="1" dirty="0">
                <a:cs typeface="Times New Roman" panose="02020603050405020304" pitchFamily="18" charset="0"/>
              </a:rPr>
              <a:t>g</a:t>
            </a:r>
            <a:r>
              <a:rPr lang="it-IT" altLang="en-US" sz="2800" dirty="0">
                <a:cs typeface="Times New Roman" panose="02020603050405020304" pitchFamily="18" charset="0"/>
              </a:rPr>
              <a:t>(</a:t>
            </a:r>
            <a:r>
              <a:rPr lang="it-IT" altLang="en-US" sz="2800" i="1" dirty="0">
                <a:cs typeface="Times New Roman" panose="02020603050405020304" pitchFamily="18" charset="0"/>
              </a:rPr>
              <a:t>n</a:t>
            </a:r>
            <a:r>
              <a:rPr lang="it-IT" altLang="en-US" sz="2800" dirty="0">
                <a:cs typeface="Times New Roman" panose="02020603050405020304" pitchFamily="18" charset="0"/>
              </a:rPr>
              <a:t>) è il costo del cammino per arrivare a  </a:t>
            </a:r>
            <a:r>
              <a:rPr lang="it-IT" altLang="en-US" sz="2800" i="1" dirty="0">
                <a:cs typeface="Times New Roman" panose="02020603050405020304" pitchFamily="18" charset="0"/>
              </a:rPr>
              <a:t>n</a:t>
            </a: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Complessità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nel</a:t>
            </a:r>
            <a:r>
              <a:rPr lang="en-US" altLang="en-US" sz="2800" dirty="0">
                <a:cs typeface="Times New Roman" panose="02020603050405020304" pitchFamily="18" charset="0"/>
              </a:rPr>
              <a:t> tempo (</a:t>
            </a:r>
            <a:r>
              <a:rPr lang="en-US" altLang="en-US" sz="2800" dirty="0" err="1">
                <a:cs typeface="Times New Roman" panose="02020603050405020304" pitchFamily="18" charset="0"/>
              </a:rPr>
              <a:t>nodi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generati</a:t>
            </a:r>
            <a:r>
              <a:rPr lang="en-US" altLang="en-US" sz="2800" dirty="0">
                <a:cs typeface="Times New Roman" panose="02020603050405020304" pitchFamily="18" charset="0"/>
              </a:rPr>
              <a:t>)</a:t>
            </a:r>
            <a:endParaRPr lang="it-IT" altLang="en-US" sz="2800" dirty="0"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it-IT" altLang="en-US" sz="2800" i="1" dirty="0">
                <a:cs typeface="Times New Roman" panose="02020603050405020304" pitchFamily="18" charset="0"/>
              </a:rPr>
              <a:t>T(b, d) = b</a:t>
            </a:r>
            <a:r>
              <a:rPr lang="it-IT" altLang="en-US" sz="2800" dirty="0">
                <a:cs typeface="Times New Roman" panose="02020603050405020304" pitchFamily="18" charset="0"/>
              </a:rPr>
              <a:t> + </a:t>
            </a:r>
            <a:r>
              <a:rPr lang="it-IT" altLang="en-US" sz="2800" i="1" dirty="0">
                <a:cs typeface="Times New Roman" panose="02020603050405020304" pitchFamily="18" charset="0"/>
              </a:rPr>
              <a:t>b</a:t>
            </a:r>
            <a:r>
              <a:rPr lang="it-IT" altLang="en-US" sz="2800" baseline="30000" dirty="0">
                <a:cs typeface="Times New Roman" panose="02020603050405020304" pitchFamily="18" charset="0"/>
              </a:rPr>
              <a:t>2</a:t>
            </a:r>
            <a:r>
              <a:rPr lang="it-IT" altLang="en-US" sz="2800" dirty="0">
                <a:cs typeface="Times New Roman" panose="02020603050405020304" pitchFamily="18" charset="0"/>
              </a:rPr>
              <a:t> + … </a:t>
            </a:r>
            <a:r>
              <a:rPr lang="en-GB" altLang="en-US" sz="2800" dirty="0">
                <a:cs typeface="Times New Roman" panose="02020603050405020304" pitchFamily="18" charset="0"/>
              </a:rPr>
              <a:t>+ </a:t>
            </a:r>
            <a:r>
              <a:rPr lang="en-GB" altLang="en-US" sz="2800" i="1" dirty="0" err="1">
                <a:cs typeface="Times New Roman" panose="02020603050405020304" pitchFamily="18" charset="0"/>
              </a:rPr>
              <a:t>b</a:t>
            </a:r>
            <a:r>
              <a:rPr lang="en-GB" altLang="en-US" sz="2800" baseline="30000" dirty="0" err="1">
                <a:cs typeface="Times New Roman" panose="02020603050405020304" pitchFamily="18" charset="0"/>
              </a:rPr>
              <a:t>d</a:t>
            </a:r>
            <a:r>
              <a:rPr lang="en-GB" altLang="en-US" sz="2800" dirty="0">
                <a:cs typeface="Times New Roman" panose="02020603050405020304" pitchFamily="18" charset="0"/>
              </a:rPr>
              <a:t>  </a:t>
            </a:r>
            <a:r>
              <a:rPr lang="en-GB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GB" altLang="en-US" sz="2800" dirty="0">
                <a:cs typeface="Times New Roman" panose="02020603050405020304" pitchFamily="18" charset="0"/>
              </a:rPr>
              <a:t> O(</a:t>
            </a:r>
            <a:r>
              <a:rPr lang="en-GB" altLang="en-US" sz="2800" i="1" dirty="0" err="1">
                <a:cs typeface="Times New Roman" panose="02020603050405020304" pitchFamily="18" charset="0"/>
              </a:rPr>
              <a:t>b</a:t>
            </a:r>
            <a:r>
              <a:rPr lang="en-GB" altLang="en-US" sz="2800" baseline="30000" dirty="0" err="1">
                <a:cs typeface="Times New Roman" panose="02020603050405020304" pitchFamily="18" charset="0"/>
              </a:rPr>
              <a:t>d</a:t>
            </a:r>
            <a:r>
              <a:rPr lang="en-GB" altLang="en-US" sz="2800" dirty="0"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it-IT" altLang="en-US" sz="2800" dirty="0">
                <a:cs typeface="Times New Roman" panose="02020603050405020304" pitchFamily="18" charset="0"/>
              </a:rPr>
              <a:t>Complessità spazio (nodi in memoria): O(</a:t>
            </a:r>
            <a:r>
              <a:rPr lang="it-IT" altLang="en-US" sz="2800" i="1" dirty="0" err="1">
                <a:cs typeface="Times New Roman" panose="02020603050405020304" pitchFamily="18" charset="0"/>
              </a:rPr>
              <a:t>b</a:t>
            </a:r>
            <a:r>
              <a:rPr lang="it-IT" altLang="en-US" sz="2800" baseline="30000" dirty="0" err="1">
                <a:cs typeface="Times New Roman" panose="02020603050405020304" pitchFamily="18" charset="0"/>
              </a:rPr>
              <a:t>d</a:t>
            </a:r>
            <a:r>
              <a:rPr lang="it-IT" altLang="en-US" sz="2800" dirty="0">
                <a:cs typeface="Times New Roman" panose="02020603050405020304" pitchFamily="18" charset="0"/>
              </a:rPr>
              <a:t>)</a:t>
            </a:r>
            <a:r>
              <a:rPr lang="en-GB" altLang="en-US" sz="2800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2800" dirty="0"/>
              <a:t>Nota: O</a:t>
            </a:r>
            <a:r>
              <a:rPr lang="en-GB" altLang="en-US" sz="2800" i="1" dirty="0"/>
              <a:t>(.)</a:t>
            </a:r>
            <a:r>
              <a:rPr lang="en-GB" altLang="en-US" sz="2800" dirty="0"/>
              <a:t> </a:t>
            </a:r>
            <a:r>
              <a:rPr lang="en-GB" altLang="en-US" sz="2800" dirty="0" err="1"/>
              <a:t>notazione</a:t>
            </a:r>
            <a:r>
              <a:rPr lang="en-GB" altLang="en-US" sz="2800" dirty="0"/>
              <a:t> per la </a:t>
            </a:r>
            <a:r>
              <a:rPr lang="en-GB" altLang="en-US" sz="2800" dirty="0" err="1"/>
              <a:t>complessità</a:t>
            </a:r>
            <a:r>
              <a:rPr lang="en-GB" altLang="en-US" sz="2800" dirty="0"/>
              <a:t> </a:t>
            </a:r>
            <a:r>
              <a:rPr lang="en-GB" altLang="en-US" sz="2800" dirty="0" err="1"/>
              <a:t>asintotica</a:t>
            </a: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039792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5111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in </a:t>
            </a:r>
            <a:r>
              <a:rPr lang="en-US" sz="4400" dirty="0" err="1">
                <a:ea typeface="+mj-ea"/>
                <a:cs typeface="+mj-cs"/>
              </a:rPr>
              <a:t>ampiezza</a:t>
            </a:r>
            <a:r>
              <a:rPr lang="en-US" sz="4400" dirty="0">
                <a:ea typeface="+mj-ea"/>
                <a:cs typeface="+mj-cs"/>
              </a:rPr>
              <a:t>: </a:t>
            </a:r>
            <a:r>
              <a:rPr lang="en-US" sz="4400" dirty="0" err="1">
                <a:ea typeface="+mj-ea"/>
                <a:cs typeface="+mj-cs"/>
              </a:rPr>
              <a:t>esempio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477838" y="1295400"/>
            <a:ext cx="8208962" cy="10668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buFont typeface="Wingdings" charset="0"/>
              <a:buChar char="§"/>
              <a:defRPr/>
            </a:pPr>
            <a:r>
              <a:rPr lang="it-IT" i="1" dirty="0">
                <a:ea typeface="+mn-ea"/>
                <a:cs typeface="Times New Roman" charset="0"/>
              </a:rPr>
              <a:t>Esempio</a:t>
            </a:r>
            <a:r>
              <a:rPr lang="it-IT" dirty="0">
                <a:ea typeface="+mn-ea"/>
                <a:cs typeface="Times New Roman" charset="0"/>
              </a:rPr>
              <a:t>: </a:t>
            </a:r>
            <a:r>
              <a:rPr lang="it-IT" i="1" dirty="0">
                <a:ea typeface="+mn-ea"/>
                <a:cs typeface="Times New Roman" charset="0"/>
              </a:rPr>
              <a:t>b</a:t>
            </a:r>
            <a:r>
              <a:rPr lang="it-IT" dirty="0">
                <a:ea typeface="+mn-ea"/>
                <a:cs typeface="Times New Roman" charset="0"/>
              </a:rPr>
              <a:t>=10; circa 1 milione nodi al sec generati;</a:t>
            </a:r>
            <a:r>
              <a:rPr lang="en-US" dirty="0">
                <a:ea typeface="+mn-ea"/>
                <a:cs typeface="Times New Roman" charset="0"/>
              </a:rPr>
              <a:t> </a:t>
            </a:r>
            <a:r>
              <a:rPr lang="it-IT" dirty="0">
                <a:ea typeface="+mn-ea"/>
                <a:cs typeface="Times New Roman" charset="0"/>
              </a:rPr>
              <a:t>1 nodo occupa 1000 byte</a:t>
            </a:r>
            <a:r>
              <a:rPr lang="en-GB" dirty="0">
                <a:ea typeface="+mn-ea"/>
                <a:cs typeface="+mn-cs"/>
              </a:rPr>
              <a:t> </a:t>
            </a:r>
            <a:endParaRPr lang="en-US" dirty="0">
              <a:ea typeface="+mn-ea"/>
              <a:cs typeface="+mn-cs"/>
            </a:endParaRPr>
          </a:p>
          <a:p>
            <a:pPr eaLnBrk="1" hangingPunct="1">
              <a:buFont typeface="Wingdings" charset="0"/>
              <a:buNone/>
              <a:defRPr/>
            </a:pPr>
            <a:endParaRPr lang="en-US" dirty="0">
              <a:ea typeface="+mn-ea"/>
              <a:cs typeface="+mn-cs"/>
            </a:endParaRPr>
          </a:p>
        </p:txBody>
      </p:sp>
      <p:graphicFrame>
        <p:nvGraphicFramePr>
          <p:cNvPr id="133167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774078"/>
              </p:ext>
            </p:extLst>
          </p:nvPr>
        </p:nvGraphicFramePr>
        <p:xfrm>
          <a:off x="533400" y="2438400"/>
          <a:ext cx="7924800" cy="3913827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</a:rPr>
                        <a:t>Profondità</a:t>
                      </a:r>
                      <a:endParaRPr kumimoji="0" lang="en-GB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</a:rPr>
                        <a:t>Nodi</a:t>
                      </a:r>
                      <a:endParaRPr kumimoji="0" lang="en-GB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</a:rPr>
                        <a:t>Tempo</a:t>
                      </a:r>
                      <a:endParaRPr kumimoji="0" lang="en-GB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</a:rPr>
                        <a:t>Memoria</a:t>
                      </a:r>
                      <a:endParaRPr kumimoji="0" lang="en-GB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8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</a:rPr>
                        <a:t> </a:t>
                      </a: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11.100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en-GB" alt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GB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en-GB" alt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GB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en-GB" alt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GB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en-GB" alt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GB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en-GB" alt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GB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0,11 ms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11 ms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1.1 sec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 min</a:t>
                      </a:r>
                      <a:endParaRPr kumimoji="0" lang="en-GB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 ore</a:t>
                      </a:r>
                      <a:endParaRPr kumimoji="0" lang="en-GB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13 giorni</a:t>
                      </a:r>
                      <a:endParaRPr kumimoji="0" lang="en-GB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3,5 anni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</a:rPr>
                        <a:t> 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w Cen MT" panose="020B0602020104020603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107 kilobyte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10,6 megabyte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gigabyte</a:t>
                      </a:r>
                      <a:endParaRPr kumimoji="0" lang="en-GB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103 gigabyte</a:t>
                      </a:r>
                      <a:endParaRPr kumimoji="0" lang="en-GB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10 </a:t>
                      </a:r>
                      <a:r>
                        <a:rPr kumimoji="0" lang="it-IT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terabyte</a:t>
                      </a:r>
                      <a:endParaRPr kumimoji="0" lang="en-GB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kumimoji="0" lang="it-IT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petabyte</a:t>
                      </a: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</a:rPr>
                        <a:t>10 </a:t>
                      </a:r>
                      <a:r>
                        <a:rPr kumimoji="0" lang="en-GB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anose="020B0600070205080204" pitchFamily="34" charset="-128"/>
                        </a:rPr>
                        <a:t>esabyte</a:t>
                      </a:r>
                      <a:endParaRPr kumimoji="0" lang="en-GB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anose="020B0600070205080204" pitchFamily="34" charset="-128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374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Come fare meglio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77200" y="19050"/>
            <a:ext cx="1066800" cy="32861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7DAAE82-F564-4FE7-8753-3D1FD589D700}" type="slidenum">
              <a:rPr lang="it-IT" noProof="0" smtClean="0"/>
              <a:pPr>
                <a:defRPr/>
              </a:pPr>
              <a:t>41</a:t>
            </a:fld>
            <a:endParaRPr lang="it-IT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49" y="1600200"/>
            <a:ext cx="5869501" cy="50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687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404664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di </a:t>
            </a:r>
            <a:r>
              <a:rPr lang="en-US" sz="4400" dirty="0" err="1">
                <a:ea typeface="+mj-ea"/>
                <a:cs typeface="+mj-cs"/>
              </a:rPr>
              <a:t>costo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uniforme</a:t>
            </a:r>
            <a:r>
              <a:rPr lang="en-US" sz="4400" dirty="0">
                <a:ea typeface="+mj-ea"/>
                <a:cs typeface="+mj-cs"/>
              </a:rPr>
              <a:t> (UC)</a:t>
            </a:r>
            <a:endParaRPr lang="en-GB" sz="4400" dirty="0">
              <a:ea typeface="+mj-ea"/>
              <a:cs typeface="+mj-cs"/>
            </a:endParaRPr>
          </a:p>
        </p:txBody>
      </p:sp>
      <p:pic>
        <p:nvPicPr>
          <p:cNvPr id="80898" name="Picture 5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192" y="1977117"/>
            <a:ext cx="6589092" cy="390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457200" y="1166813"/>
            <a:ext cx="815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 dirty="0">
                <a:latin typeface="+mj-lt"/>
                <a:ea typeface="ＭＳ Ｐゴシック" charset="0"/>
                <a:cs typeface="Times New Roman" charset="0"/>
              </a:rPr>
              <a:t>Generalizzazione della ricerca in ampiezza: </a:t>
            </a:r>
            <a:r>
              <a:rPr lang="it-IT" b="0" i="1" dirty="0">
                <a:latin typeface="+mj-lt"/>
                <a:ea typeface="ＭＳ Ｐゴシック" charset="0"/>
                <a:cs typeface="Times New Roman" charset="0"/>
              </a:rPr>
              <a:t>si sceglie il nodo di costo minore sulla frontiera</a:t>
            </a:r>
            <a:r>
              <a:rPr lang="en-GB" b="0" dirty="0">
                <a:latin typeface="+mj-lt"/>
                <a:ea typeface="ＭＳ Ｐゴシック" charset="0"/>
              </a:rPr>
              <a:t> (</a:t>
            </a:r>
            <a:r>
              <a:rPr lang="en-GB" b="0" dirty="0" err="1">
                <a:latin typeface="+mj-lt"/>
                <a:ea typeface="ＭＳ Ｐゴシック" charset="0"/>
              </a:rPr>
              <a:t>si</a:t>
            </a:r>
            <a:r>
              <a:rPr lang="en-GB" b="0" dirty="0">
                <a:latin typeface="+mj-lt"/>
                <a:ea typeface="ＭＳ Ｐゴシック" charset="0"/>
              </a:rPr>
              <a:t> </a:t>
            </a:r>
            <a:r>
              <a:rPr lang="en-GB" b="0" dirty="0" err="1">
                <a:latin typeface="+mj-lt"/>
                <a:ea typeface="ＭＳ Ｐゴシック" charset="0"/>
              </a:rPr>
              <a:t>intende</a:t>
            </a:r>
            <a:r>
              <a:rPr lang="en-GB" b="0" dirty="0">
                <a:latin typeface="+mj-lt"/>
                <a:ea typeface="ＭＳ Ｐゴシック" charset="0"/>
              </a:rPr>
              <a:t> </a:t>
            </a:r>
            <a:r>
              <a:rPr lang="en-GB" b="0" dirty="0" err="1">
                <a:latin typeface="+mj-lt"/>
                <a:ea typeface="ＭＳ Ｐゴシック" charset="0"/>
              </a:rPr>
              <a:t>il</a:t>
            </a:r>
            <a:r>
              <a:rPr lang="en-GB" b="0" dirty="0">
                <a:latin typeface="+mj-lt"/>
                <a:ea typeface="ＭＳ Ｐゴシック" charset="0"/>
              </a:rPr>
              <a:t> </a:t>
            </a:r>
            <a:r>
              <a:rPr lang="en-GB" b="0" dirty="0" err="1">
                <a:latin typeface="+mj-lt"/>
                <a:ea typeface="ＭＳ Ｐゴシック" charset="0"/>
              </a:rPr>
              <a:t>costo</a:t>
            </a:r>
            <a:r>
              <a:rPr lang="en-GB" b="0" dirty="0">
                <a:latin typeface="+mj-lt"/>
                <a:ea typeface="ＭＳ Ｐゴシック" charset="0"/>
              </a:rPr>
              <a:t> del </a:t>
            </a:r>
            <a:r>
              <a:rPr lang="en-GB" b="0" dirty="0" err="1">
                <a:latin typeface="+mj-lt"/>
                <a:ea typeface="ＭＳ Ｐゴシック" charset="0"/>
              </a:rPr>
              <a:t>cammino</a:t>
            </a:r>
            <a:r>
              <a:rPr lang="en-GB" b="0" dirty="0">
                <a:latin typeface="+mj-lt"/>
                <a:ea typeface="ＭＳ Ｐゴシック" charset="0"/>
              </a:rPr>
              <a:t>)</a:t>
            </a:r>
          </a:p>
        </p:txBody>
      </p:sp>
      <p:sp>
        <p:nvSpPr>
          <p:cNvPr id="134151" name="Text Box 7"/>
          <p:cNvSpPr txBox="1">
            <a:spLocks noChangeArrowheads="1"/>
          </p:cNvSpPr>
          <p:nvPr/>
        </p:nvSpPr>
        <p:spPr bwMode="auto">
          <a:xfrm>
            <a:off x="533400" y="5807075"/>
            <a:ext cx="815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 dirty="0">
                <a:latin typeface="+mj-lt"/>
                <a:ea typeface="ＭＳ Ｐゴシック" charset="0"/>
                <a:cs typeface="Times New Roman" charset="0"/>
              </a:rPr>
              <a:t>Implementata da una coda ordinata per costo crescente   (in cima i nodi di costo minore)</a:t>
            </a:r>
            <a:r>
              <a:rPr lang="en-GB" b="0" dirty="0">
                <a:latin typeface="+mj-lt"/>
                <a:ea typeface="ＭＳ Ｐゴシック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5651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355600"/>
            <a:ext cx="8386762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UC (</a:t>
            </a:r>
            <a:r>
              <a:rPr lang="en-US" sz="4400" dirty="0" err="1">
                <a:ea typeface="+mj-ea"/>
                <a:cs typeface="+mj-cs"/>
              </a:rPr>
              <a:t>su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albero</a:t>
            </a:r>
            <a:r>
              <a:rPr lang="en-US" sz="4400" dirty="0">
                <a:ea typeface="+mj-ea"/>
                <a:cs typeface="+mj-cs"/>
              </a:rPr>
              <a:t>)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196876"/>
            <a:ext cx="8675687" cy="4824412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400" b="1" dirty="0">
                <a:latin typeface="Arial Narrow" panose="020B0606020202030204" pitchFamily="34" charset="0"/>
              </a:rPr>
              <a:t>function </a:t>
            </a:r>
            <a:r>
              <a:rPr lang="en-GB" altLang="en-US" sz="2400" dirty="0" err="1">
                <a:latin typeface="Arial Narrow" panose="020B0606020202030204" pitchFamily="34" charset="0"/>
              </a:rPr>
              <a:t>Ricerca</a:t>
            </a:r>
            <a:r>
              <a:rPr lang="en-GB" altLang="en-US" sz="2400" dirty="0">
                <a:latin typeface="Arial Narrow" panose="020B0606020202030204" pitchFamily="34" charset="0"/>
              </a:rPr>
              <a:t>-UC-A (</a:t>
            </a:r>
            <a:r>
              <a:rPr lang="en-GB" altLang="en-US" sz="2400" i="1" dirty="0" err="1">
                <a:latin typeface="Arial Narrow" panose="020B0606020202030204" pitchFamily="34" charset="0"/>
              </a:rPr>
              <a:t>problema</a:t>
            </a:r>
            <a:r>
              <a:rPr lang="en-GB" altLang="en-US" sz="2400" i="1" dirty="0">
                <a:latin typeface="Arial Narrow" panose="020B0606020202030204" pitchFamily="34" charset="0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400" b="1" i="1" dirty="0">
                <a:latin typeface="Arial Narrow" panose="020B0606020202030204" pitchFamily="34" charset="0"/>
              </a:rPr>
              <a:t>	</a:t>
            </a:r>
            <a:r>
              <a:rPr lang="en-GB" altLang="en-US" sz="2400" b="1" dirty="0">
                <a:latin typeface="Arial Narrow" panose="020B0606020202030204" pitchFamily="34" charset="0"/>
              </a:rPr>
              <a:t>returns</a:t>
            </a:r>
            <a:r>
              <a:rPr lang="en-GB" altLang="en-US" sz="2400" b="1" i="1" dirty="0">
                <a:latin typeface="Arial Narrow" panose="020B0606020202030204" pitchFamily="34" charset="0"/>
              </a:rPr>
              <a:t> </a:t>
            </a:r>
            <a:r>
              <a:rPr lang="en-GB" altLang="en-US" sz="2400" i="1" dirty="0" err="1">
                <a:latin typeface="Arial Narrow" panose="020B0606020202030204" pitchFamily="34" charset="0"/>
              </a:rPr>
              <a:t>soluzione</a:t>
            </a:r>
            <a:r>
              <a:rPr lang="en-GB" altLang="en-US" sz="2400" dirty="0">
                <a:latin typeface="Arial Narrow" panose="020B0606020202030204" pitchFamily="34" charset="0"/>
              </a:rPr>
              <a:t> </a:t>
            </a:r>
            <a:r>
              <a:rPr lang="en-GB" altLang="en-US" sz="2400" dirty="0" err="1">
                <a:latin typeface="Arial Narrow" panose="020B0606020202030204" pitchFamily="34" charset="0"/>
              </a:rPr>
              <a:t>oppure</a:t>
            </a:r>
            <a:r>
              <a:rPr lang="en-GB" altLang="en-US" sz="2400" dirty="0">
                <a:latin typeface="Arial Narrow" panose="020B0606020202030204" pitchFamily="34" charset="0"/>
              </a:rPr>
              <a:t> </a:t>
            </a:r>
            <a:r>
              <a:rPr lang="en-GB" altLang="en-US" sz="2400" b="1" dirty="0" err="1">
                <a:latin typeface="Arial Narrow" panose="020B0606020202030204" pitchFamily="34" charset="0"/>
              </a:rPr>
              <a:t>fallimento</a:t>
            </a:r>
            <a:endParaRPr lang="en-GB" altLang="en-US" sz="24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400" b="1" dirty="0">
                <a:latin typeface="Arial Narrow" panose="020B0606020202030204" pitchFamily="34" charset="0"/>
              </a:rPr>
              <a:t> </a:t>
            </a:r>
            <a:r>
              <a:rPr lang="en-GB" altLang="en-US" sz="2400" dirty="0">
                <a:latin typeface="Arial Narrow" panose="020B0606020202030204" pitchFamily="34" charset="0"/>
              </a:rPr>
              <a:t>    </a:t>
            </a:r>
            <a:r>
              <a:rPr lang="en-GB" altLang="en-US" sz="2400" i="1" dirty="0" err="1">
                <a:latin typeface="Arial Narrow" panose="020B0606020202030204" pitchFamily="34" charset="0"/>
              </a:rPr>
              <a:t>nodo</a:t>
            </a:r>
            <a:r>
              <a:rPr lang="en-GB" altLang="en-US" sz="2400" i="1" dirty="0">
                <a:latin typeface="Arial Narrow" panose="020B0606020202030204" pitchFamily="34" charset="0"/>
              </a:rPr>
              <a:t> = </a:t>
            </a:r>
            <a:r>
              <a:rPr lang="en-GB" altLang="en-US" sz="2400" dirty="0">
                <a:latin typeface="Arial Narrow" panose="020B0606020202030204" pitchFamily="34" charset="0"/>
              </a:rPr>
              <a:t>un </a:t>
            </a:r>
            <a:r>
              <a:rPr lang="en-GB" altLang="en-US" sz="2400" dirty="0" err="1">
                <a:latin typeface="Arial Narrow" panose="020B0606020202030204" pitchFamily="34" charset="0"/>
              </a:rPr>
              <a:t>nodo</a:t>
            </a:r>
            <a:r>
              <a:rPr lang="en-GB" altLang="en-US" sz="2400" dirty="0">
                <a:latin typeface="Arial Narrow" panose="020B0606020202030204" pitchFamily="34" charset="0"/>
              </a:rPr>
              <a:t> con</a:t>
            </a:r>
            <a:r>
              <a:rPr lang="en-GB" altLang="en-US" sz="2400" i="1" dirty="0">
                <a:latin typeface="Arial Narrow" panose="020B0606020202030204" pitchFamily="34" charset="0"/>
              </a:rPr>
              <a:t> </a:t>
            </a:r>
            <a:r>
              <a:rPr lang="en-GB" altLang="en-US" sz="2400" i="1" dirty="0" err="1">
                <a:latin typeface="Arial Narrow" panose="020B0606020202030204" pitchFamily="34" charset="0"/>
              </a:rPr>
              <a:t>stato</a:t>
            </a:r>
            <a:r>
              <a:rPr lang="en-GB" altLang="en-US" sz="2400" i="1" dirty="0">
                <a:latin typeface="Arial Narrow" panose="020B0606020202030204" pitchFamily="34" charset="0"/>
              </a:rPr>
              <a:t> </a:t>
            </a:r>
            <a:r>
              <a:rPr lang="en-GB" altLang="en-US" sz="2400" i="1" dirty="0" err="1">
                <a:latin typeface="Arial Narrow" panose="020B0606020202030204" pitchFamily="34" charset="0"/>
              </a:rPr>
              <a:t>il</a:t>
            </a:r>
            <a:r>
              <a:rPr lang="en-GB" altLang="en-US" sz="2400" i="1" dirty="0">
                <a:latin typeface="Arial Narrow" panose="020B0606020202030204" pitchFamily="34" charset="0"/>
              </a:rPr>
              <a:t> </a:t>
            </a:r>
            <a:r>
              <a:rPr lang="en-GB" altLang="en-US" sz="2400" i="1" dirty="0" err="1">
                <a:latin typeface="Arial Narrow" panose="020B0606020202030204" pitchFamily="34" charset="0"/>
              </a:rPr>
              <a:t>problema.stato-iniziale</a:t>
            </a:r>
            <a:r>
              <a:rPr lang="en-GB" altLang="en-US" sz="2400" i="1" dirty="0">
                <a:latin typeface="Arial Narrow" panose="020B0606020202030204" pitchFamily="34" charset="0"/>
              </a:rPr>
              <a:t> e </a:t>
            </a:r>
            <a:r>
              <a:rPr lang="en-GB" altLang="en-US" sz="2400" i="1" dirty="0" err="1">
                <a:latin typeface="Arial Narrow" panose="020B0606020202030204" pitchFamily="34" charset="0"/>
              </a:rPr>
              <a:t>costo</a:t>
            </a:r>
            <a:r>
              <a:rPr lang="en-GB" altLang="en-US" sz="2400" i="1" dirty="0">
                <a:latin typeface="Arial Narrow" panose="020B0606020202030204" pitchFamily="34" charset="0"/>
              </a:rPr>
              <a:t>-di-</a:t>
            </a:r>
            <a:r>
              <a:rPr lang="en-GB" altLang="en-US" sz="2400" i="1" dirty="0" err="1">
                <a:latin typeface="Arial Narrow" panose="020B0606020202030204" pitchFamily="34" charset="0"/>
              </a:rPr>
              <a:t>cammino</a:t>
            </a:r>
            <a:r>
              <a:rPr lang="en-GB" altLang="en-US" sz="2400" i="1" dirty="0">
                <a:latin typeface="Arial Narrow" panose="020B0606020202030204" pitchFamily="34" charset="0"/>
              </a:rPr>
              <a:t>=0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	</a:t>
            </a:r>
            <a:r>
              <a:rPr lang="it-IT" altLang="en-US" sz="24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2400" dirty="0">
                <a:latin typeface="Arial Narrow" panose="020B0606020202030204" pitchFamily="34" charset="0"/>
              </a:rPr>
              <a:t> = </a:t>
            </a:r>
            <a:r>
              <a:rPr lang="it-IT" altLang="en-US" sz="2400" dirty="0">
                <a:solidFill>
                  <a:srgbClr val="009999"/>
                </a:solidFill>
                <a:latin typeface="Arial Narrow" panose="020B0606020202030204" pitchFamily="34" charset="0"/>
              </a:rPr>
              <a:t>una coda con priorità con </a:t>
            </a:r>
            <a:r>
              <a:rPr lang="it-IT" altLang="en-US" sz="2400" i="1" dirty="0">
                <a:solidFill>
                  <a:srgbClr val="009999"/>
                </a:solidFill>
                <a:latin typeface="Arial Narrow" panose="020B0606020202030204" pitchFamily="34" charset="0"/>
              </a:rPr>
              <a:t>nodo</a:t>
            </a:r>
            <a:r>
              <a:rPr lang="it-IT" altLang="en-US" sz="2400" dirty="0">
                <a:solidFill>
                  <a:srgbClr val="009999"/>
                </a:solidFill>
                <a:latin typeface="Arial Narrow" panose="020B0606020202030204" pitchFamily="34" charset="0"/>
              </a:rPr>
              <a:t> come unico elemento</a:t>
            </a:r>
            <a:endParaRPr lang="en-GB" altLang="en-US" sz="2400" i="1" dirty="0">
              <a:solidFill>
                <a:srgbClr val="009999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b="1" dirty="0">
                <a:latin typeface="Arial Narrow" panose="020B0606020202030204" pitchFamily="34" charset="0"/>
              </a:rPr>
              <a:t>  </a:t>
            </a:r>
            <a:r>
              <a:rPr lang="it-IT" altLang="en-US" sz="2400" b="1" dirty="0" err="1">
                <a:latin typeface="Arial Narrow" panose="020B0606020202030204" pitchFamily="34" charset="0"/>
              </a:rPr>
              <a:t>loop</a:t>
            </a:r>
            <a:r>
              <a:rPr lang="it-IT" altLang="en-US" sz="2400" b="1" dirty="0">
                <a:latin typeface="Arial Narrow" panose="020B0606020202030204" pitchFamily="34" charset="0"/>
              </a:rPr>
              <a:t> do</a:t>
            </a:r>
            <a:endParaRPr lang="en-GB" altLang="en-US" sz="24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	</a:t>
            </a:r>
            <a:r>
              <a:rPr lang="it-IT" altLang="en-US" sz="2400" b="1" dirty="0">
                <a:latin typeface="Arial Narrow" panose="020B0606020202030204" pitchFamily="34" charset="0"/>
              </a:rPr>
              <a:t>if</a:t>
            </a:r>
            <a:r>
              <a:rPr lang="it-IT" altLang="en-US" sz="2400" dirty="0">
                <a:latin typeface="Arial Narrow" panose="020B0606020202030204" pitchFamily="34" charset="0"/>
              </a:rPr>
              <a:t> </a:t>
            </a:r>
            <a:r>
              <a:rPr lang="it-IT" altLang="en-US" sz="2400" cap="small" dirty="0">
                <a:latin typeface="Arial Narrow" panose="020B0606020202030204" pitchFamily="34" charset="0"/>
              </a:rPr>
              <a:t>IsEmpty</a:t>
            </a:r>
            <a:r>
              <a:rPr lang="it-IT" altLang="en-US" sz="2400" dirty="0">
                <a:latin typeface="Arial Narrow" panose="020B0606020202030204" pitchFamily="34" charset="0"/>
              </a:rPr>
              <a:t>(</a:t>
            </a:r>
            <a:r>
              <a:rPr lang="it-IT" altLang="en-US" sz="24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2400" dirty="0">
                <a:latin typeface="Arial Narrow" panose="020B0606020202030204" pitchFamily="34" charset="0"/>
              </a:rPr>
              <a:t>)</a:t>
            </a:r>
            <a:r>
              <a:rPr lang="it-IT" altLang="en-US" sz="2400" i="1" dirty="0">
                <a:latin typeface="Arial Narrow" panose="020B0606020202030204" pitchFamily="34" charset="0"/>
              </a:rPr>
              <a:t> </a:t>
            </a:r>
            <a:r>
              <a:rPr lang="it-IT" altLang="en-US" sz="2400" b="1" dirty="0">
                <a:latin typeface="Arial Narrow" panose="020B0606020202030204" pitchFamily="34" charset="0"/>
              </a:rPr>
              <a:t>then return</a:t>
            </a:r>
            <a:r>
              <a:rPr lang="it-IT" altLang="en-US" sz="2400" dirty="0">
                <a:latin typeface="Arial Narrow" panose="020B0606020202030204" pitchFamily="34" charset="0"/>
              </a:rPr>
              <a:t> </a:t>
            </a:r>
            <a:r>
              <a:rPr lang="it-IT" altLang="en-US" sz="2400" b="1" dirty="0">
                <a:latin typeface="Arial Narrow" panose="020B0606020202030204" pitchFamily="34" charset="0"/>
              </a:rPr>
              <a:t>fallimento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b="1" dirty="0">
                <a:latin typeface="Arial Narrow" panose="020B0606020202030204" pitchFamily="34" charset="0"/>
              </a:rPr>
              <a:t>	</a:t>
            </a:r>
            <a:r>
              <a:rPr lang="it-IT" altLang="en-US" sz="2400" i="1" dirty="0">
                <a:latin typeface="Arial Narrow" panose="020B0606020202030204" pitchFamily="34" charset="0"/>
              </a:rPr>
              <a:t>nodo</a:t>
            </a:r>
            <a:r>
              <a:rPr lang="it-IT" altLang="en-US" sz="2400" b="1" dirty="0">
                <a:latin typeface="Arial Narrow" panose="020B0606020202030204" pitchFamily="34" charset="0"/>
              </a:rPr>
              <a:t> </a:t>
            </a:r>
            <a:r>
              <a:rPr lang="it-IT" altLang="en-US" sz="2400" dirty="0">
                <a:latin typeface="Arial Narrow" panose="020B0606020202030204" pitchFamily="34" charset="0"/>
              </a:rPr>
              <a:t>= </a:t>
            </a:r>
            <a:r>
              <a:rPr lang="it-IT" altLang="en-US" sz="2400" cap="small" dirty="0">
                <a:latin typeface="Arial Narrow" panose="020B0606020202030204" pitchFamily="34" charset="0"/>
              </a:rPr>
              <a:t>pop</a:t>
            </a:r>
            <a:r>
              <a:rPr lang="it-IT" altLang="en-US" sz="2400" dirty="0">
                <a:latin typeface="Arial Narrow" panose="020B0606020202030204" pitchFamily="34" charset="0"/>
              </a:rPr>
              <a:t>(</a:t>
            </a:r>
            <a:r>
              <a:rPr lang="it-IT" altLang="en-US" sz="24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2400" dirty="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	</a:t>
            </a:r>
            <a:r>
              <a:rPr lang="it-IT" altLang="en-US" sz="2400" b="1" dirty="0" err="1">
                <a:solidFill>
                  <a:srgbClr val="009999"/>
                </a:solidFill>
                <a:latin typeface="Arial Narrow" panose="020B0606020202030204" pitchFamily="34" charset="0"/>
              </a:rPr>
              <a:t>if</a:t>
            </a:r>
            <a:r>
              <a:rPr lang="it-IT" altLang="en-US" sz="2400" dirty="0">
                <a:solidFill>
                  <a:srgbClr val="009999"/>
                </a:solidFill>
                <a:latin typeface="Arial Narrow" panose="020B0606020202030204" pitchFamily="34" charset="0"/>
              </a:rPr>
              <a:t> </a:t>
            </a:r>
            <a:r>
              <a:rPr lang="it-IT" altLang="en-US" sz="2400" dirty="0" err="1">
                <a:solidFill>
                  <a:srgbClr val="009999"/>
                </a:solidFill>
                <a:latin typeface="Arial Narrow" panose="020B0606020202030204" pitchFamily="34" charset="0"/>
              </a:rPr>
              <a:t>problema.</a:t>
            </a:r>
            <a:r>
              <a:rPr lang="it-IT" altLang="en-US" sz="2400" cap="small" dirty="0" err="1">
                <a:solidFill>
                  <a:srgbClr val="009999"/>
                </a:solidFill>
                <a:latin typeface="Arial Narrow" panose="020B0606020202030204" pitchFamily="34" charset="0"/>
              </a:rPr>
              <a:t>TestObiettivo</a:t>
            </a:r>
            <a:r>
              <a:rPr lang="it-IT" altLang="en-US" sz="2400" dirty="0">
                <a:solidFill>
                  <a:srgbClr val="009999"/>
                </a:solidFill>
                <a:latin typeface="Arial Narrow" panose="020B0606020202030204" pitchFamily="34" charset="0"/>
              </a:rPr>
              <a:t>(</a:t>
            </a:r>
            <a:r>
              <a:rPr lang="it-IT" altLang="en-US" sz="2400" i="1" dirty="0" err="1">
                <a:solidFill>
                  <a:srgbClr val="009999"/>
                </a:solidFill>
                <a:latin typeface="Arial Narrow" panose="020B0606020202030204" pitchFamily="34" charset="0"/>
              </a:rPr>
              <a:t>nodo</a:t>
            </a:r>
            <a:r>
              <a:rPr lang="it-IT" altLang="en-US" sz="2400" dirty="0" err="1">
                <a:solidFill>
                  <a:srgbClr val="009999"/>
                </a:solidFill>
                <a:latin typeface="Arial Narrow" panose="020B0606020202030204" pitchFamily="34" charset="0"/>
              </a:rPr>
              <a:t>.Stato</a:t>
            </a:r>
            <a:r>
              <a:rPr lang="it-IT" altLang="en-US" sz="2400" dirty="0">
                <a:solidFill>
                  <a:srgbClr val="009999"/>
                </a:solidFill>
                <a:latin typeface="Arial Narrow" panose="020B0606020202030204" pitchFamily="34" charset="0"/>
              </a:rPr>
              <a:t>) </a:t>
            </a:r>
            <a:r>
              <a:rPr lang="it-IT" altLang="en-US" sz="2400" b="1" dirty="0" err="1">
                <a:solidFill>
                  <a:srgbClr val="009999"/>
                </a:solidFill>
                <a:latin typeface="Arial Narrow" panose="020B0606020202030204" pitchFamily="34" charset="0"/>
              </a:rPr>
              <a:t>then</a:t>
            </a:r>
            <a:r>
              <a:rPr lang="it-IT" altLang="en-US" sz="2400" b="1" dirty="0">
                <a:solidFill>
                  <a:srgbClr val="009999"/>
                </a:solidFill>
                <a:latin typeface="Arial Narrow" panose="020B0606020202030204" pitchFamily="34" charset="0"/>
              </a:rPr>
              <a:t> </a:t>
            </a:r>
            <a:r>
              <a:rPr lang="it-IT" altLang="en-US" sz="2400" b="1" dirty="0" err="1">
                <a:solidFill>
                  <a:srgbClr val="009999"/>
                </a:solidFill>
                <a:latin typeface="Arial Narrow" panose="020B0606020202030204" pitchFamily="34" charset="0"/>
              </a:rPr>
              <a:t>return</a:t>
            </a:r>
            <a:r>
              <a:rPr lang="it-IT" altLang="en-US" sz="2400" b="1" dirty="0">
                <a:solidFill>
                  <a:srgbClr val="009999"/>
                </a:solidFill>
                <a:latin typeface="Arial Narrow" panose="020B0606020202030204" pitchFamily="34" charset="0"/>
              </a:rPr>
              <a:t> </a:t>
            </a:r>
            <a:r>
              <a:rPr lang="it-IT" altLang="en-US" sz="2400" cap="small" dirty="0">
                <a:solidFill>
                  <a:srgbClr val="009999"/>
                </a:solidFill>
                <a:latin typeface="Arial Narrow" panose="020B0606020202030204" pitchFamily="34" charset="0"/>
              </a:rPr>
              <a:t>Soluzione</a:t>
            </a:r>
            <a:r>
              <a:rPr lang="it-IT" altLang="en-US" sz="2400" dirty="0">
                <a:solidFill>
                  <a:srgbClr val="009999"/>
                </a:solidFill>
                <a:latin typeface="Arial Narrow" panose="020B0606020202030204" pitchFamily="34" charset="0"/>
              </a:rPr>
              <a:t>(</a:t>
            </a:r>
            <a:r>
              <a:rPr lang="it-IT" altLang="en-US" sz="2400" i="1" dirty="0">
                <a:solidFill>
                  <a:srgbClr val="009999"/>
                </a:solidFill>
                <a:latin typeface="Arial Narrow" panose="020B0606020202030204" pitchFamily="34" charset="0"/>
              </a:rPr>
              <a:t>nodo</a:t>
            </a:r>
            <a:r>
              <a:rPr lang="it-IT" altLang="en-US" sz="2400" dirty="0">
                <a:solidFill>
                  <a:srgbClr val="009999"/>
                </a:solidFill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b="1" dirty="0">
                <a:latin typeface="Arial Narrow" panose="020B0606020202030204" pitchFamily="34" charset="0"/>
              </a:rPr>
              <a:t>	for </a:t>
            </a:r>
            <a:r>
              <a:rPr lang="it-IT" altLang="en-US" sz="2400" b="1" dirty="0" err="1">
                <a:latin typeface="Arial Narrow" panose="020B0606020202030204" pitchFamily="34" charset="0"/>
              </a:rPr>
              <a:t>each</a:t>
            </a:r>
            <a:r>
              <a:rPr lang="it-IT" altLang="en-US" sz="2400" b="1" dirty="0">
                <a:latin typeface="Arial Narrow" panose="020B0606020202030204" pitchFamily="34" charset="0"/>
              </a:rPr>
              <a:t> </a:t>
            </a:r>
            <a:r>
              <a:rPr lang="it-IT" altLang="en-US" sz="2400" dirty="0">
                <a:latin typeface="Arial Narrow" panose="020B0606020202030204" pitchFamily="34" charset="0"/>
              </a:rPr>
              <a:t>azione </a:t>
            </a:r>
            <a:r>
              <a:rPr lang="it-IT" altLang="en-US" sz="2400" b="1" dirty="0">
                <a:latin typeface="Arial Narrow" panose="020B0606020202030204" pitchFamily="34" charset="0"/>
              </a:rPr>
              <a:t>in</a:t>
            </a:r>
            <a:r>
              <a:rPr lang="it-IT" altLang="en-US" sz="2400" dirty="0">
                <a:latin typeface="Arial Narrow" panose="020B0606020202030204" pitchFamily="34" charset="0"/>
              </a:rPr>
              <a:t> </a:t>
            </a:r>
            <a:r>
              <a:rPr lang="it-IT" altLang="en-US" sz="2400" dirty="0" err="1">
                <a:latin typeface="Arial Narrow" panose="020B0606020202030204" pitchFamily="34" charset="0"/>
              </a:rPr>
              <a:t>problema.</a:t>
            </a:r>
            <a:r>
              <a:rPr lang="it-IT" altLang="en-US" sz="2400" cap="small" dirty="0" err="1">
                <a:latin typeface="Arial Narrow" panose="020B0606020202030204" pitchFamily="34" charset="0"/>
              </a:rPr>
              <a:t>Azioni</a:t>
            </a:r>
            <a:r>
              <a:rPr lang="it-IT" altLang="en-US" sz="2400" dirty="0">
                <a:latin typeface="Arial Narrow" panose="020B0606020202030204" pitchFamily="34" charset="0"/>
              </a:rPr>
              <a:t>(</a:t>
            </a:r>
            <a:r>
              <a:rPr lang="it-IT" altLang="en-US" sz="2400" dirty="0" err="1">
                <a:latin typeface="Arial Narrow" panose="020B0606020202030204" pitchFamily="34" charset="0"/>
              </a:rPr>
              <a:t>nodo.Stato</a:t>
            </a:r>
            <a:r>
              <a:rPr lang="it-IT" altLang="en-US" sz="2400" dirty="0">
                <a:latin typeface="Arial Narrow" panose="020B0606020202030204" pitchFamily="34" charset="0"/>
              </a:rPr>
              <a:t>) </a:t>
            </a:r>
            <a:r>
              <a:rPr lang="it-IT" altLang="en-US" sz="2400" b="1" dirty="0">
                <a:latin typeface="Arial Narrow" panose="020B0606020202030204" pitchFamily="34" charset="0"/>
              </a:rPr>
              <a:t>do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b="1" dirty="0">
                <a:latin typeface="Arial Narrow" panose="020B0606020202030204" pitchFamily="34" charset="0"/>
              </a:rPr>
              <a:t>		</a:t>
            </a:r>
            <a:r>
              <a:rPr lang="it-IT" altLang="en-US" sz="2400" i="1" dirty="0">
                <a:latin typeface="Arial Narrow" panose="020B0606020202030204" pitchFamily="34" charset="0"/>
              </a:rPr>
              <a:t>figlio</a:t>
            </a:r>
            <a:r>
              <a:rPr lang="it-IT" altLang="en-US" sz="2400" dirty="0">
                <a:latin typeface="Arial Narrow" panose="020B0606020202030204" pitchFamily="34" charset="0"/>
              </a:rPr>
              <a:t> = </a:t>
            </a:r>
            <a:r>
              <a:rPr lang="it-IT" altLang="en-US" sz="2400" cap="small" dirty="0">
                <a:latin typeface="Arial Narrow" panose="020B0606020202030204" pitchFamily="34" charset="0"/>
              </a:rPr>
              <a:t>Nodo-Figlio</a:t>
            </a:r>
            <a:r>
              <a:rPr lang="it-IT" altLang="en-US" sz="2400" dirty="0">
                <a:latin typeface="Arial Narrow" panose="020B0606020202030204" pitchFamily="34" charset="0"/>
              </a:rPr>
              <a:t>(</a:t>
            </a:r>
            <a:r>
              <a:rPr lang="it-IT" altLang="en-US" sz="2400" i="1" dirty="0">
                <a:latin typeface="Arial Narrow" panose="020B0606020202030204" pitchFamily="34" charset="0"/>
              </a:rPr>
              <a:t>problema</a:t>
            </a:r>
            <a:r>
              <a:rPr lang="it-IT" altLang="en-US" sz="2400" dirty="0">
                <a:latin typeface="Arial Narrow" panose="020B0606020202030204" pitchFamily="34" charset="0"/>
              </a:rPr>
              <a:t>, </a:t>
            </a:r>
            <a:r>
              <a:rPr lang="it-IT" altLang="en-US" sz="2400" i="1" dirty="0">
                <a:latin typeface="Arial Narrow" panose="020B0606020202030204" pitchFamily="34" charset="0"/>
              </a:rPr>
              <a:t>nodo, azione</a:t>
            </a:r>
            <a:r>
              <a:rPr lang="it-IT" altLang="en-US" sz="2400" dirty="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		</a:t>
            </a:r>
            <a:r>
              <a:rPr lang="it-IT" altLang="en-US" sz="24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2400" dirty="0">
                <a:latin typeface="Arial Narrow" panose="020B0606020202030204" pitchFamily="34" charset="0"/>
              </a:rPr>
              <a:t> = </a:t>
            </a:r>
            <a:r>
              <a:rPr lang="it-IT" altLang="en-US" sz="2400" cap="small" dirty="0">
                <a:latin typeface="Arial Narrow" panose="020B0606020202030204" pitchFamily="34" charset="0"/>
              </a:rPr>
              <a:t>Inserisci</a:t>
            </a:r>
            <a:r>
              <a:rPr lang="it-IT" altLang="en-US" sz="2400" dirty="0">
                <a:latin typeface="Arial Narrow" panose="020B0606020202030204" pitchFamily="34" charset="0"/>
              </a:rPr>
              <a:t>(</a:t>
            </a:r>
            <a:r>
              <a:rPr lang="it-IT" altLang="en-US" sz="2400" i="1" dirty="0">
                <a:latin typeface="Arial Narrow" panose="020B0606020202030204" pitchFamily="34" charset="0"/>
              </a:rPr>
              <a:t>figlio</a:t>
            </a:r>
            <a:r>
              <a:rPr lang="it-IT" altLang="en-US" sz="2400" dirty="0">
                <a:latin typeface="Arial Narrow" panose="020B0606020202030204" pitchFamily="34" charset="0"/>
              </a:rPr>
              <a:t>, </a:t>
            </a:r>
            <a:r>
              <a:rPr lang="it-IT" altLang="en-US" sz="24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2400" dirty="0">
                <a:latin typeface="Arial Narrow" panose="020B0606020202030204" pitchFamily="34" charset="0"/>
              </a:rPr>
              <a:t>)   /* in coda con priorità</a:t>
            </a:r>
            <a:endParaRPr lang="en-GB" altLang="en-US" sz="2400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400" dirty="0">
                <a:latin typeface="Arial Narrow" panose="020B0606020202030204" pitchFamily="34" charset="0"/>
              </a:rPr>
              <a:t> </a:t>
            </a:r>
            <a:r>
              <a:rPr lang="it-IT" altLang="en-US" sz="2400" b="1" dirty="0">
                <a:latin typeface="Arial Narrow" panose="020B0606020202030204" pitchFamily="34" charset="0"/>
              </a:rPr>
              <a:t>end</a:t>
            </a:r>
            <a:endParaRPr lang="en-GB" alt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6532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Ricerca UC (modified)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77200" y="19050"/>
            <a:ext cx="1066800" cy="32861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7DAAE82-F564-4FE7-8753-3D1FD589D700}" type="slidenum">
              <a:rPr lang="it-IT" noProof="0" smtClean="0"/>
              <a:pPr>
                <a:defRPr/>
              </a:pPr>
              <a:t>44</a:t>
            </a:fld>
            <a:endParaRPr lang="it-IT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99499"/>
            <a:ext cx="7530709" cy="51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9826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111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Costo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uniforme</a:t>
            </a:r>
            <a:r>
              <a:rPr lang="en-US" sz="4400" dirty="0">
                <a:ea typeface="+mj-ea"/>
                <a:cs typeface="+mj-cs"/>
              </a:rPr>
              <a:t>: </a:t>
            </a:r>
            <a:r>
              <a:rPr lang="en-US" sz="4400" dirty="0" err="1">
                <a:ea typeface="+mj-ea"/>
                <a:cs typeface="+mj-cs"/>
              </a:rPr>
              <a:t>analisi</a:t>
            </a:r>
            <a:endParaRPr lang="en-GB" sz="4400" dirty="0"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17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68313" y="1690688"/>
                <a:ext cx="8208962" cy="4834656"/>
              </a:xfrm>
              <a:extLst>
                <a:ext uri="{909E8E84-426E-40dd-AFC4-6F175D3DCCD1}">
                  <a14:hiddenFill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  <a:ext uri="{FAA26D3D-D897-4be2-8F04-BA451C77F1D7}">
                  <ma14:placeholderFlag xmlns="" xmlns:ma14="http://schemas.microsoft.com/office/mac/drawingml/2011/main" val="1"/>
                </a:ext>
              </a:extLst>
            </p:spPr>
            <p:txBody>
              <a:bodyPr>
                <a:normAutofit fontScale="92500"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it-IT" altLang="en-US" sz="2800" i="1" dirty="0">
                    <a:cs typeface="Times New Roman" panose="02020603050405020304" pitchFamily="18" charset="0"/>
                  </a:rPr>
                  <a:t>Ottimalità</a:t>
                </a:r>
                <a:r>
                  <a:rPr lang="it-IT" altLang="en-US" sz="2800" dirty="0">
                    <a:cs typeface="Times New Roman" panose="02020603050405020304" pitchFamily="18" charset="0"/>
                  </a:rPr>
                  <a:t> e </a:t>
                </a:r>
                <a:r>
                  <a:rPr lang="it-IT" altLang="en-US" sz="2800" i="1" dirty="0">
                    <a:cs typeface="Times New Roman" panose="02020603050405020304" pitchFamily="18" charset="0"/>
                  </a:rPr>
                  <a:t>completezza </a:t>
                </a:r>
                <a:r>
                  <a:rPr lang="it-IT" altLang="en-US" sz="2800" dirty="0">
                    <a:cs typeface="Times New Roman" panose="02020603050405020304" pitchFamily="18" charset="0"/>
                  </a:rPr>
                  <a:t>garantite purché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il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costo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degli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archi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sia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maggiore</a:t>
                </a:r>
                <a:r>
                  <a:rPr lang="en-US" altLang="en-US" sz="2800" dirty="0"/>
                  <a:t> di </a:t>
                </a:r>
                <a:r>
                  <a:rPr lang="en-US" altLang="en-US" sz="2800" dirty="0">
                    <a:latin typeface="GreekC" pitchFamily="2" charset="0"/>
                    <a:sym typeface="Symbol" panose="05050102010706020507" pitchFamily="18" charset="2"/>
                  </a:rPr>
                  <a:t>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0.</a:t>
                </a:r>
                <a:endParaRPr lang="en-US" altLang="en-US" sz="2800" dirty="0">
                  <a:latin typeface="GreekC" pitchFamily="2" charset="0"/>
                  <a:sym typeface="Symbol" panose="05050102010706020507" pitchFamily="18" charset="2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GB" altLang="en-US" sz="2800" i="1" dirty="0"/>
                  <a:t>C*</a:t>
                </a:r>
                <a:r>
                  <a:rPr lang="en-GB" altLang="en-US" sz="2800" dirty="0"/>
                  <a:t> è </a:t>
                </a:r>
                <a:r>
                  <a:rPr lang="en-GB" altLang="en-US" sz="2800" dirty="0" err="1"/>
                  <a:t>il</a:t>
                </a:r>
                <a:r>
                  <a:rPr lang="en-GB" altLang="en-US" sz="2800" dirty="0"/>
                  <a:t> </a:t>
                </a:r>
                <a:r>
                  <a:rPr lang="en-GB" altLang="en-US" sz="2800" dirty="0" err="1"/>
                  <a:t>costo</a:t>
                </a:r>
                <a:r>
                  <a:rPr lang="en-GB" altLang="en-US" sz="2800" dirty="0"/>
                  <a:t> </a:t>
                </a:r>
                <a:r>
                  <a:rPr lang="en-GB" altLang="en-US" sz="2800" dirty="0" err="1"/>
                  <a:t>della</a:t>
                </a:r>
                <a:r>
                  <a:rPr lang="en-GB" altLang="en-US" sz="2800" dirty="0"/>
                  <a:t> </a:t>
                </a:r>
                <a:r>
                  <a:rPr lang="en-GB" altLang="en-US" sz="2800" dirty="0" err="1"/>
                  <a:t>soluzione</a:t>
                </a:r>
                <a:r>
                  <a:rPr lang="en-GB" altLang="en-US" sz="2800" dirty="0"/>
                  <a:t> </a:t>
                </a:r>
                <a:r>
                  <a:rPr lang="en-GB" altLang="en-US" sz="2800" dirty="0" err="1"/>
                  <a:t>ottima</a:t>
                </a:r>
                <a:endParaRPr lang="en-GB" altLang="en-US" sz="2800" dirty="0"/>
              </a:p>
              <a:p>
                <a:pPr>
                  <a:spcBef>
                    <a:spcPts val="1800"/>
                  </a:spcBef>
                </a:pPr>
                <a:r>
                  <a:rPr lang="it-IT" altLang="en-US" sz="28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</a:t>
                </a:r>
                <a:r>
                  <a:rPr lang="it-IT" altLang="en-US" sz="2800" i="1" dirty="0">
                    <a:cs typeface="Times New Roman" panose="02020603050405020304" pitchFamily="18" charset="0"/>
                  </a:rPr>
                  <a:t>C*/</a:t>
                </a:r>
                <a:r>
                  <a:rPr lang="en-US" altLang="en-US" sz="2800" i="1" dirty="0">
                    <a:latin typeface="GreekC" pitchFamily="2" charset="0"/>
                    <a:sym typeface="Symbol" panose="05050102010706020507" pitchFamily="18" charset="2"/>
                  </a:rPr>
                  <a:t></a:t>
                </a:r>
                <a:r>
                  <a:rPr lang="it-IT" altLang="en-US" sz="28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</a:t>
                </a:r>
                <a:r>
                  <a:rPr lang="en-US" altLang="en-US" sz="2800" dirty="0">
                    <a:latin typeface="GreekC" pitchFamily="2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è </a:t>
                </a:r>
                <a:r>
                  <a:rPr lang="en-US" altLang="en-US" sz="2800" dirty="0" err="1">
                    <a:sym typeface="Symbol" panose="05050102010706020507" pitchFamily="18" charset="2"/>
                  </a:rPr>
                  <a:t>il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ym typeface="Symbol" panose="05050102010706020507" pitchFamily="18" charset="2"/>
                  </a:rPr>
                  <a:t>numero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 di </a:t>
                </a:r>
                <a:r>
                  <a:rPr lang="en-US" altLang="en-US" sz="2800" dirty="0" err="1">
                    <a:sym typeface="Symbol" panose="05050102010706020507" pitchFamily="18" charset="2"/>
                  </a:rPr>
                  <a:t>mosse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ym typeface="Symbol" panose="05050102010706020507" pitchFamily="18" charset="2"/>
                  </a:rPr>
                  <a:t>nel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ym typeface="Symbol" panose="05050102010706020507" pitchFamily="18" charset="2"/>
                  </a:rPr>
                  <a:t>caso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ym typeface="Symbol" panose="05050102010706020507" pitchFamily="18" charset="2"/>
                  </a:rPr>
                  <a:t>peggiore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,       </a:t>
                </a:r>
                <a:r>
                  <a:rPr lang="en-US" altLang="en-US" sz="2800" dirty="0" err="1">
                    <a:sym typeface="Symbol" panose="05050102010706020507" pitchFamily="18" charset="2"/>
                  </a:rPr>
                  <a:t>arrotondato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 per </a:t>
                </a:r>
                <a:r>
                  <a:rPr lang="en-US" altLang="en-US" sz="2800" dirty="0" err="1">
                    <a:sym typeface="Symbol" panose="05050102010706020507" pitchFamily="18" charset="2"/>
                  </a:rPr>
                  <a:t>difetto</a:t>
                </a:r>
                <a:endParaRPr lang="en-US" altLang="en-US" sz="2800" dirty="0">
                  <a:sym typeface="Symbol" panose="05050102010706020507" pitchFamily="18" charset="2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GB" altLang="en-US" sz="2800" dirty="0" err="1"/>
                  <a:t>Complessità</a:t>
                </a:r>
                <a:r>
                  <a:rPr lang="en-GB" altLang="en-US" sz="2800" dirty="0"/>
                  <a:t>:  </a:t>
                </a:r>
                <a14:m>
                  <m:oMath xmlns:m="http://schemas.openxmlformats.org/officeDocument/2006/math">
                    <m:r>
                      <a:rPr lang="it-IT" alt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alt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IT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alt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it-IT" altLang="en-US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it-IT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alt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it-IT" alt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altLang="en-US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it-IT" altLang="en-US" sz="28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it-IT" alt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it-IT" alt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sz="2800" dirty="0"/>
                  <a:t>  </a:t>
                </a:r>
                <a:endParaRPr lang="en-US" altLang="en-US" sz="2800" dirty="0">
                  <a:sym typeface="Symbol" panose="05050102010706020507" pitchFamily="18" charset="2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it-IT" altLang="en-US" sz="2800" i="1" dirty="0">
                    <a:cs typeface="Times New Roman" panose="02020603050405020304" pitchFamily="18" charset="0"/>
                  </a:rPr>
                  <a:t>Nota</a:t>
                </a:r>
                <a:r>
                  <a:rPr lang="it-IT" altLang="en-US" sz="2800" dirty="0">
                    <a:cs typeface="Times New Roman" panose="02020603050405020304" pitchFamily="18" charset="0"/>
                  </a:rPr>
                  <a:t>: quando ogni azione ha lo stesso costo</a:t>
                </a:r>
                <a:r>
                  <a:rPr lang="en-GB" altLang="en-US" sz="2800" dirty="0">
                    <a:cs typeface="Times New Roman" panose="02020603050405020304" pitchFamily="18" charset="0"/>
                  </a:rPr>
                  <a:t> UC </a:t>
                </a:r>
                <a:r>
                  <a:rPr lang="en-GB" altLang="en-US" sz="2800" dirty="0" err="1">
                    <a:cs typeface="Times New Roman" panose="02020603050405020304" pitchFamily="18" charset="0"/>
                  </a:rPr>
                  <a:t>somiglia</a:t>
                </a:r>
                <a:r>
                  <a:rPr lang="en-GB" altLang="en-US" sz="2800" dirty="0">
                    <a:cs typeface="Times New Roman" panose="02020603050405020304" pitchFamily="18" charset="0"/>
                  </a:rPr>
                  <a:t> a BF ma </a:t>
                </a:r>
                <a:r>
                  <a:rPr lang="en-GB" altLang="en-US" sz="2800" dirty="0" err="1">
                    <a:cs typeface="Times New Roman" panose="02020603050405020304" pitchFamily="18" charset="0"/>
                  </a:rPr>
                  <a:t>complessità</a:t>
                </a:r>
                <a:r>
                  <a:rPr lang="en-GB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alt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alt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IT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alt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it-IT" altLang="en-US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it-IT" alt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it-IT" alt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800" dirty="0"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ts val="1200"/>
                  </a:spcBef>
                  <a:buFont typeface="Wingdings" panose="05000000000000000000" pitchFamily="2" charset="2"/>
                  <a:buNone/>
                </a:pPr>
                <a:endParaRPr lang="en-GB" altLang="en-US" sz="2800" dirty="0"/>
              </a:p>
            </p:txBody>
          </p:sp>
        </mc:Choice>
        <mc:Fallback>
          <p:sp>
            <p:nvSpPr>
              <p:cNvPr id="1351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313" y="1690688"/>
                <a:ext cx="8208962" cy="4834656"/>
              </a:xfrm>
              <a:blipFill>
                <a:blip r:embed="rId3"/>
                <a:stretch>
                  <a:fillRect l="-743" t="-1513"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  <a:ext uri="{FAA26D3D-D897-4be2-8F04-BA451C77F1D7}">
                  <ma14:placeholderFlag xmlns="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9602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44624"/>
            <a:ext cx="7269480" cy="1325562"/>
          </a:xfrm>
        </p:spPr>
        <p:txBody>
          <a:bodyPr/>
          <a:lstStyle/>
          <a:p>
            <a:r>
              <a:rPr lang="it-IT" dirty="0"/>
              <a:t>Ricerca UC: ottimalità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507665"/>
            <a:ext cx="7269480" cy="4351337"/>
          </a:xfrm>
        </p:spPr>
        <p:txBody>
          <a:bodyPr/>
          <a:lstStyle/>
          <a:p>
            <a:r>
              <a:rPr lang="it-IT" dirty="0"/>
              <a:t>Goal: Sibiu to Bucarest</a:t>
            </a:r>
          </a:p>
          <a:p>
            <a:r>
              <a:rPr lang="it-IT" dirty="0"/>
              <a:t>A patto che le transizioni singole abbiano costo non nullo, la scelta UC del cammino con l lunghezza minima implica che il primo cammino trovato dall’algoritmo non può non essere ottimo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77200" y="-315913"/>
            <a:ext cx="1066800" cy="3302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7DAAE82-F564-4FE7-8753-3D1FD589D700}" type="slidenum">
              <a:rPr lang="it-IT" noProof="0" smtClean="0"/>
              <a:pPr>
                <a:defRPr/>
              </a:pPr>
              <a:t>46</a:t>
            </a:fld>
            <a:endParaRPr lang="it-IT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922812"/>
            <a:ext cx="7925166" cy="2592288"/>
          </a:xfrm>
          <a:prstGeom prst="rect">
            <a:avLst/>
          </a:prstGeom>
        </p:spPr>
      </p:pic>
      <p:sp>
        <p:nvSpPr>
          <p:cNvPr id="6" name="Arc 5"/>
          <p:cNvSpPr/>
          <p:nvPr/>
        </p:nvSpPr>
        <p:spPr>
          <a:xfrm rot="3495172">
            <a:off x="1925785" y="4229701"/>
            <a:ext cx="1967341" cy="1062893"/>
          </a:xfrm>
          <a:prstGeom prst="arc">
            <a:avLst>
              <a:gd name="adj1" fmla="val 10697865"/>
              <a:gd name="adj2" fmla="val 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7" name="Arc 6"/>
          <p:cNvSpPr/>
          <p:nvPr/>
        </p:nvSpPr>
        <p:spPr>
          <a:xfrm rot="2876071">
            <a:off x="2246526" y="4400484"/>
            <a:ext cx="2683935" cy="747978"/>
          </a:xfrm>
          <a:prstGeom prst="arc">
            <a:avLst>
              <a:gd name="adj1" fmla="val 11284265"/>
              <a:gd name="adj2" fmla="val 562939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Arc 7"/>
          <p:cNvSpPr/>
          <p:nvPr/>
        </p:nvSpPr>
        <p:spPr>
          <a:xfrm rot="4052414">
            <a:off x="2632728" y="4065371"/>
            <a:ext cx="2759820" cy="1391553"/>
          </a:xfrm>
          <a:prstGeom prst="arc">
            <a:avLst>
              <a:gd name="adj1" fmla="val 12226046"/>
              <a:gd name="adj2" fmla="val 102846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02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df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649413"/>
            <a:ext cx="5989638" cy="364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6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637588" cy="8239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Ricerca in profondità</a:t>
            </a:r>
            <a:endParaRPr lang="en-GB" altLang="en-US"/>
          </a:p>
        </p:txBody>
      </p:sp>
      <p:sp>
        <p:nvSpPr>
          <p:cNvPr id="95295" name="Text Box 63"/>
          <p:cNvSpPr txBox="1">
            <a:spLocks noChangeArrowheads="1"/>
          </p:cNvSpPr>
          <p:nvPr/>
        </p:nvSpPr>
        <p:spPr bwMode="auto">
          <a:xfrm>
            <a:off x="457200" y="5715000"/>
            <a:ext cx="830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>
                <a:latin typeface="+mj-lt"/>
                <a:ea typeface="ＭＳ Ｐゴシック" charset="0"/>
                <a:cs typeface="Times New Roman" charset="0"/>
              </a:rPr>
              <a:t>Implementata da una coda che mette i successori in testa alla lista (LIFO, pila o stack).</a:t>
            </a:r>
            <a:r>
              <a:rPr lang="en-GB" b="0">
                <a:latin typeface="+mj-lt"/>
                <a:ea typeface="ＭＳ Ｐゴシック" charset="0"/>
              </a:rPr>
              <a:t> </a:t>
            </a:r>
          </a:p>
        </p:txBody>
      </p:sp>
      <p:pic>
        <p:nvPicPr>
          <p:cNvPr id="20" name="Picture 19" descr="df2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1700213"/>
            <a:ext cx="5773738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 descr="df3.tif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687513"/>
            <a:ext cx="575310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df4.tif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1624013"/>
            <a:ext cx="6032500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df5.tif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585913"/>
            <a:ext cx="5838825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df6.tif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1700213"/>
            <a:ext cx="5495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 descr="df7.tif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752600"/>
            <a:ext cx="6054725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 descr="df8.tif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714500"/>
            <a:ext cx="6354763" cy="354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6" descr="df9.tif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712913"/>
            <a:ext cx="5710238" cy="341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7" descr="df10.tif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700213"/>
            <a:ext cx="58388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8" descr="df11.tif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1725613"/>
            <a:ext cx="5753100" cy="33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9" descr="df12.tiff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700213"/>
            <a:ext cx="5795962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878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df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649413"/>
            <a:ext cx="5989638" cy="364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6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637588" cy="8239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Ricerca in profondità</a:t>
            </a:r>
            <a:endParaRPr lang="en-GB" altLang="en-US"/>
          </a:p>
        </p:txBody>
      </p:sp>
      <p:sp>
        <p:nvSpPr>
          <p:cNvPr id="95295" name="Text Box 63"/>
          <p:cNvSpPr txBox="1">
            <a:spLocks noChangeArrowheads="1"/>
          </p:cNvSpPr>
          <p:nvPr/>
        </p:nvSpPr>
        <p:spPr bwMode="auto">
          <a:xfrm>
            <a:off x="457200" y="5715000"/>
            <a:ext cx="830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>
                <a:latin typeface="+mj-lt"/>
                <a:ea typeface="ＭＳ Ｐゴシック" charset="0"/>
                <a:cs typeface="Times New Roman" charset="0"/>
              </a:rPr>
              <a:t>Implementata da una coda che mette i successori in testa alla lista (LIFO, pila o stack).</a:t>
            </a:r>
            <a:r>
              <a:rPr lang="en-GB" b="0">
                <a:latin typeface="+mj-lt"/>
                <a:ea typeface="ＭＳ Ｐゴシック" charset="0"/>
              </a:rPr>
              <a:t> </a:t>
            </a:r>
          </a:p>
        </p:txBody>
      </p:sp>
      <p:pic>
        <p:nvPicPr>
          <p:cNvPr id="20" name="Picture 19" descr="df2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1700213"/>
            <a:ext cx="5773738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 descr="df3.tif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687513"/>
            <a:ext cx="575310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df4.tif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1624013"/>
            <a:ext cx="6032500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df5.tif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585913"/>
            <a:ext cx="5838825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df6.tif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1700213"/>
            <a:ext cx="5495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 descr="df7.tif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752600"/>
            <a:ext cx="6054725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 descr="df8.tif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714500"/>
            <a:ext cx="6354763" cy="354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6" descr="df9.tif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712913"/>
            <a:ext cx="5710238" cy="341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7" descr="df10.tif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700213"/>
            <a:ext cx="58388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673759"/>
              </p:ext>
            </p:extLst>
          </p:nvPr>
        </p:nvGraphicFramePr>
        <p:xfrm>
          <a:off x="7762875" y="3474244"/>
          <a:ext cx="887760" cy="145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4046032206"/>
                    </a:ext>
                  </a:extLst>
                </a:gridCol>
              </a:tblGrid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138169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94135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320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8481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df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649413"/>
            <a:ext cx="5989638" cy="364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6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637588" cy="8239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Ricerca in profondità</a:t>
            </a:r>
            <a:endParaRPr lang="en-GB" altLang="en-US"/>
          </a:p>
        </p:txBody>
      </p:sp>
      <p:sp>
        <p:nvSpPr>
          <p:cNvPr id="95295" name="Text Box 63"/>
          <p:cNvSpPr txBox="1">
            <a:spLocks noChangeArrowheads="1"/>
          </p:cNvSpPr>
          <p:nvPr/>
        </p:nvSpPr>
        <p:spPr bwMode="auto">
          <a:xfrm>
            <a:off x="457200" y="5715000"/>
            <a:ext cx="830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>
                <a:latin typeface="+mj-lt"/>
                <a:ea typeface="ＭＳ Ｐゴシック" charset="0"/>
                <a:cs typeface="Times New Roman" charset="0"/>
              </a:rPr>
              <a:t>Implementata da una coda che mette i successori in testa alla lista (LIFO, pila o stack).</a:t>
            </a:r>
            <a:r>
              <a:rPr lang="en-GB" b="0">
                <a:latin typeface="+mj-lt"/>
                <a:ea typeface="ＭＳ Ｐゴシック" charset="0"/>
              </a:rPr>
              <a:t> </a:t>
            </a:r>
          </a:p>
        </p:txBody>
      </p:sp>
      <p:pic>
        <p:nvPicPr>
          <p:cNvPr id="20" name="Picture 19" descr="df2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1700213"/>
            <a:ext cx="5773738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 descr="df3.tif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687513"/>
            <a:ext cx="575310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df4.tif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1624013"/>
            <a:ext cx="6032500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df5.tif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585913"/>
            <a:ext cx="5838825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df6.tif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1700213"/>
            <a:ext cx="5495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 descr="df7.tif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752600"/>
            <a:ext cx="6054725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 descr="df8.tif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714500"/>
            <a:ext cx="6354763" cy="354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6" descr="df9.tif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712913"/>
            <a:ext cx="5710238" cy="341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7" descr="df10.tif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700213"/>
            <a:ext cx="58388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8" descr="df11.tif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1725613"/>
            <a:ext cx="5753100" cy="33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961898"/>
              </p:ext>
            </p:extLst>
          </p:nvPr>
        </p:nvGraphicFramePr>
        <p:xfrm>
          <a:off x="7762875" y="3474244"/>
          <a:ext cx="887760" cy="145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4046032206"/>
                    </a:ext>
                  </a:extLst>
                </a:gridCol>
              </a:tblGrid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138169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94135"/>
                  </a:ext>
                </a:extLst>
              </a:tr>
              <a:tr h="485736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320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7385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Ricerca in profondità: analisi</a:t>
            </a:r>
            <a:endParaRPr lang="en-GB" alt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51304" cy="5141168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Se	</a:t>
            </a:r>
            <a:r>
              <a:rPr lang="it-IT" i="1" dirty="0"/>
              <a:t>m</a:t>
            </a:r>
            <a:r>
              <a:rPr lang="it-IT" dirty="0"/>
              <a:t> 	distanza massima della soluzione 				nello</a:t>
            </a:r>
            <a:r>
              <a:rPr lang="en-US" dirty="0"/>
              <a:t> 	</a:t>
            </a:r>
            <a:r>
              <a:rPr lang="it-IT" dirty="0"/>
              <a:t>spazio di ricerca</a:t>
            </a:r>
            <a:endParaRPr lang="en-GB" dirty="0"/>
          </a:p>
          <a:p>
            <a:r>
              <a:rPr lang="it-IT" dirty="0"/>
              <a:t>	</a:t>
            </a:r>
            <a:r>
              <a:rPr lang="it-IT" i="1" dirty="0"/>
              <a:t>b</a:t>
            </a:r>
            <a:r>
              <a:rPr lang="it-IT" dirty="0"/>
              <a:t> 	fattore di diramazione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Allora</a:t>
            </a:r>
            <a:r>
              <a:rPr lang="en-GB" dirty="0"/>
              <a:t> la </a:t>
            </a:r>
            <a:r>
              <a:rPr lang="en-GB" dirty="0" err="1"/>
              <a:t>complessità</a:t>
            </a:r>
            <a:r>
              <a:rPr lang="en-GB" dirty="0"/>
              <a:t> </a:t>
            </a:r>
            <a:r>
              <a:rPr lang="en-GB" dirty="0" err="1"/>
              <a:t>temporale</a:t>
            </a:r>
            <a:r>
              <a:rPr lang="en-GB" dirty="0"/>
              <a:t> è: </a:t>
            </a:r>
            <a:r>
              <a:rPr lang="it-IT" i="1" dirty="0"/>
              <a:t>O(b</a:t>
            </a:r>
            <a:r>
              <a:rPr lang="it-IT" i="1" baseline="30000" dirty="0"/>
              <a:t>m+1</a:t>
            </a:r>
            <a:r>
              <a:rPr lang="it-IT" i="1" dirty="0"/>
              <a:t>)</a:t>
            </a:r>
            <a:r>
              <a:rPr lang="it-IT" dirty="0"/>
              <a:t> </a:t>
            </a:r>
          </a:p>
          <a:p>
            <a:r>
              <a:rPr lang="it-IT" dirty="0"/>
              <a:t> e la Occupazione di memoria è proporzionale a: </a:t>
            </a:r>
            <a:r>
              <a:rPr lang="it-IT" i="1" dirty="0"/>
              <a:t>bm+1</a:t>
            </a:r>
            <a:endParaRPr lang="en-GB" i="1" dirty="0"/>
          </a:p>
          <a:p>
            <a:endParaRPr lang="it-IT" dirty="0"/>
          </a:p>
          <a:p>
            <a:r>
              <a:rPr lang="it-IT" dirty="0"/>
              <a:t>Strategia non completa e non ottimale.</a:t>
            </a:r>
            <a:endParaRPr lang="en-GB" dirty="0"/>
          </a:p>
          <a:p>
            <a:endParaRPr lang="it-IT" dirty="0"/>
          </a:p>
          <a:p>
            <a:r>
              <a:rPr lang="it-IT" dirty="0"/>
              <a:t>Drastico risparmio in memoria:</a:t>
            </a:r>
            <a:endParaRPr lang="en-GB" dirty="0"/>
          </a:p>
          <a:p>
            <a:pPr lvl="1"/>
            <a:r>
              <a:rPr lang="en-GB" dirty="0"/>
              <a:t>(</a:t>
            </a:r>
            <a:r>
              <a:rPr lang="en-GB" dirty="0" err="1"/>
              <a:t>ampiezza</a:t>
            </a:r>
            <a:r>
              <a:rPr lang="en-GB" dirty="0"/>
              <a:t>)   BF     d=16	10 </a:t>
            </a:r>
            <a:r>
              <a:rPr lang="en-GB" dirty="0" err="1"/>
              <a:t>esabyte</a:t>
            </a:r>
            <a:r>
              <a:rPr lang="en-GB" dirty="0"/>
              <a:t> (10</a:t>
            </a:r>
            <a:r>
              <a:rPr lang="en-GB" baseline="30000" dirty="0"/>
              <a:t>14</a:t>
            </a:r>
            <a:r>
              <a:rPr lang="en-GB" dirty="0"/>
              <a:t> byte)</a:t>
            </a:r>
          </a:p>
          <a:p>
            <a:pPr lvl="1"/>
            <a:r>
              <a:rPr lang="en-GB" dirty="0"/>
              <a:t>(</a:t>
            </a:r>
            <a:r>
              <a:rPr lang="en-GB" dirty="0" err="1"/>
              <a:t>profondità</a:t>
            </a:r>
            <a:r>
              <a:rPr lang="en-GB" dirty="0"/>
              <a:t>)  DF</a:t>
            </a:r>
            <a:r>
              <a:rPr lang="en-US" dirty="0"/>
              <a:t>     </a:t>
            </a:r>
            <a:r>
              <a:rPr lang="en-GB" dirty="0"/>
              <a:t>d=16	156 Kbyte   (10</a:t>
            </a:r>
            <a:r>
              <a:rPr lang="en-GB" baseline="30000" dirty="0"/>
              <a:t>2</a:t>
            </a:r>
            <a:r>
              <a:rPr lang="en-GB" dirty="0"/>
              <a:t> byte)	</a:t>
            </a:r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88607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404813"/>
            <a:ext cx="8637588" cy="7699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400"/>
              <a:t>Ricerca in profondità ricorsiva</a:t>
            </a:r>
            <a:endParaRPr lang="it-IT" altLang="en-US" sz="4400"/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1"/>
          </p:nvPr>
        </p:nvSpPr>
        <p:spPr>
          <a:xfrm>
            <a:off x="401638" y="1484313"/>
            <a:ext cx="8208962" cy="51260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en-US" sz="2800" dirty="0" err="1"/>
              <a:t>Ancora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più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efficiente</a:t>
            </a:r>
            <a:r>
              <a:rPr lang="en-US" altLang="en-US" sz="2800" dirty="0"/>
              <a:t> in </a:t>
            </a:r>
            <a:r>
              <a:rPr lang="en-US" altLang="en-US" sz="2800" dirty="0" err="1"/>
              <a:t>occupazione</a:t>
            </a:r>
            <a:r>
              <a:rPr lang="en-US" altLang="en-US" sz="2800" dirty="0"/>
              <a:t> di </a:t>
            </a:r>
            <a:r>
              <a:rPr lang="en-US" altLang="en-US" sz="2800" dirty="0" err="1"/>
              <a:t>memoria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perché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mantiene</a:t>
            </a:r>
            <a:r>
              <a:rPr lang="en-US" altLang="en-US" sz="2800" dirty="0"/>
              <a:t> solo </a:t>
            </a:r>
            <a:r>
              <a:rPr lang="en-US" altLang="en-US" sz="2800" dirty="0" err="1"/>
              <a:t>il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cammino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corrente</a:t>
            </a:r>
            <a:r>
              <a:rPr lang="en-US" altLang="en-US" sz="2800" dirty="0"/>
              <a:t> (solo </a:t>
            </a:r>
            <a:r>
              <a:rPr lang="en-US" altLang="en-US" sz="2800" i="1" dirty="0"/>
              <a:t>m </a:t>
            </a:r>
            <a:r>
              <a:rPr lang="en-US" altLang="en-US" sz="2800" dirty="0" err="1"/>
              <a:t>nodi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caso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pessimo</a:t>
            </a:r>
            <a:r>
              <a:rPr lang="en-US" altLang="en-US" sz="2800" dirty="0"/>
              <a:t>)</a:t>
            </a:r>
            <a:endParaRPr lang="it-IT" altLang="en-US" sz="2800" dirty="0"/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it-IT" altLang="en-US" sz="2800" dirty="0"/>
              <a:t>Realizzata da un algoritmo ricorsivo “con backtracking” che non necessita di tenere in memoria </a:t>
            </a:r>
            <a:r>
              <a:rPr lang="it-IT" altLang="en-US" sz="2800" i="1" dirty="0"/>
              <a:t>b</a:t>
            </a:r>
            <a:r>
              <a:rPr lang="it-IT" altLang="en-US" sz="2800" dirty="0"/>
              <a:t> nodi per ogni livello, ma salva lo stato su uno </a:t>
            </a:r>
            <a:r>
              <a:rPr lang="it-IT" altLang="en-US" sz="2800" dirty="0" err="1"/>
              <a:t>stack</a:t>
            </a:r>
            <a:r>
              <a:rPr lang="it-IT" altLang="en-US" sz="2800" dirty="0"/>
              <a:t> a cui torna in caso di fallimento per fare altri tentativi.</a:t>
            </a:r>
          </a:p>
        </p:txBody>
      </p:sp>
    </p:spTree>
    <p:extLst>
      <p:ext uri="{BB962C8B-B14F-4D97-AF65-F5344CB8AC3E}">
        <p14:creationId xmlns:p14="http://schemas.microsoft.com/office/powerpoint/2010/main" val="32474157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355600"/>
            <a:ext cx="8386762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400"/>
              <a:t>Ricerca in profondità (su albero)</a:t>
            </a:r>
            <a:endParaRPr lang="en-GB" altLang="en-US" sz="440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8208962" cy="4824412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000" b="1" dirty="0">
                <a:latin typeface="Arial Narrow" panose="020B0606020202030204" pitchFamily="34" charset="0"/>
              </a:rPr>
              <a:t>function </a:t>
            </a:r>
            <a:r>
              <a:rPr lang="en-GB" altLang="en-US" sz="2000" dirty="0" err="1">
                <a:latin typeface="Arial Narrow" panose="020B0606020202030204" pitchFamily="34" charset="0"/>
              </a:rPr>
              <a:t>Ricerca</a:t>
            </a:r>
            <a:r>
              <a:rPr lang="en-GB" altLang="en-US" sz="2000" dirty="0">
                <a:latin typeface="Arial Narrow" panose="020B0606020202030204" pitchFamily="34" charset="0"/>
              </a:rPr>
              <a:t>-DF-A (</a:t>
            </a:r>
            <a:r>
              <a:rPr lang="en-GB" altLang="en-US" sz="2000" i="1" dirty="0" err="1">
                <a:latin typeface="Arial Narrow" panose="020B0606020202030204" pitchFamily="34" charset="0"/>
              </a:rPr>
              <a:t>problema</a:t>
            </a:r>
            <a:r>
              <a:rPr lang="en-GB" altLang="en-US" sz="2000" i="1" dirty="0">
                <a:latin typeface="Arial Narrow" panose="020B0606020202030204" pitchFamily="34" charset="0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000" b="1" i="1" dirty="0">
                <a:latin typeface="Arial Narrow" panose="020B0606020202030204" pitchFamily="34" charset="0"/>
              </a:rPr>
              <a:t>	</a:t>
            </a:r>
            <a:r>
              <a:rPr lang="en-GB" altLang="en-US" sz="2000" b="1" dirty="0">
                <a:latin typeface="Arial Narrow" panose="020B0606020202030204" pitchFamily="34" charset="0"/>
              </a:rPr>
              <a:t>returns</a:t>
            </a:r>
            <a:r>
              <a:rPr lang="en-GB" altLang="en-US" sz="2000" b="1" i="1" dirty="0">
                <a:latin typeface="Arial Narrow" panose="020B0606020202030204" pitchFamily="34" charset="0"/>
              </a:rPr>
              <a:t> </a:t>
            </a:r>
            <a:r>
              <a:rPr lang="en-GB" altLang="en-US" sz="2000" dirty="0" err="1">
                <a:latin typeface="Arial Narrow" panose="020B0606020202030204" pitchFamily="34" charset="0"/>
              </a:rPr>
              <a:t>soluzione</a:t>
            </a:r>
            <a:r>
              <a:rPr lang="en-GB" altLang="en-US" sz="2000" dirty="0">
                <a:latin typeface="Arial Narrow" panose="020B0606020202030204" pitchFamily="34" charset="0"/>
              </a:rPr>
              <a:t> </a:t>
            </a:r>
            <a:r>
              <a:rPr lang="en-GB" altLang="en-US" sz="2000" dirty="0" err="1">
                <a:latin typeface="Arial Narrow" panose="020B0606020202030204" pitchFamily="34" charset="0"/>
              </a:rPr>
              <a:t>oppure</a:t>
            </a:r>
            <a:r>
              <a:rPr lang="en-GB" altLang="en-US" sz="2000" dirty="0">
                <a:latin typeface="Arial Narrow" panose="020B0606020202030204" pitchFamily="34" charset="0"/>
              </a:rPr>
              <a:t> </a:t>
            </a:r>
            <a:r>
              <a:rPr lang="en-GB" altLang="en-US" sz="2000" b="1" dirty="0" err="1">
                <a:latin typeface="Arial Narrow" panose="020B0606020202030204" pitchFamily="34" charset="0"/>
              </a:rPr>
              <a:t>fallimento</a:t>
            </a:r>
            <a:endParaRPr lang="en-GB" altLang="en-US" sz="20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000" b="1" dirty="0">
                <a:latin typeface="Arial Narrow" panose="020B0606020202030204" pitchFamily="34" charset="0"/>
              </a:rPr>
              <a:t>	return </a:t>
            </a:r>
            <a:r>
              <a:rPr lang="en-GB" altLang="en-US" sz="2000" dirty="0" err="1">
                <a:latin typeface="Arial Narrow" panose="020B0606020202030204" pitchFamily="34" charset="0"/>
              </a:rPr>
              <a:t>Ricerca</a:t>
            </a:r>
            <a:r>
              <a:rPr lang="en-GB" altLang="en-US" sz="2000" dirty="0">
                <a:latin typeface="Arial Narrow" panose="020B0606020202030204" pitchFamily="34" charset="0"/>
              </a:rPr>
              <a:t>-DF-</a:t>
            </a:r>
            <a:r>
              <a:rPr lang="en-GB" altLang="en-US" sz="2000" dirty="0" err="1">
                <a:latin typeface="Arial Narrow" panose="020B0606020202030204" pitchFamily="34" charset="0"/>
              </a:rPr>
              <a:t>ricorsiva</a:t>
            </a:r>
            <a:r>
              <a:rPr lang="en-GB" altLang="en-US" sz="2000" dirty="0">
                <a:latin typeface="Arial Narrow" panose="020B0606020202030204" pitchFamily="34" charset="0"/>
              </a:rPr>
              <a:t>( </a:t>
            </a:r>
            <a:r>
              <a:rPr lang="en-GB" altLang="en-US" sz="2000" cap="small" dirty="0" err="1">
                <a:latin typeface="Arial Narrow" panose="020B0606020202030204" pitchFamily="34" charset="0"/>
              </a:rPr>
              <a:t>CreaNodo</a:t>
            </a:r>
            <a:r>
              <a:rPr lang="en-GB" altLang="en-US" sz="2000" dirty="0">
                <a:latin typeface="Arial Narrow" panose="020B0606020202030204" pitchFamily="34" charset="0"/>
              </a:rPr>
              <a:t>(</a:t>
            </a:r>
            <a:r>
              <a:rPr lang="en-GB" altLang="en-US" sz="2000" i="1" dirty="0" err="1">
                <a:latin typeface="Arial Narrow" panose="020B0606020202030204" pitchFamily="34" charset="0"/>
              </a:rPr>
              <a:t>problema</a:t>
            </a:r>
            <a:r>
              <a:rPr lang="en-GB" altLang="en-US" sz="2000" dirty="0" err="1">
                <a:latin typeface="Arial Narrow" panose="020B0606020202030204" pitchFamily="34" charset="0"/>
              </a:rPr>
              <a:t>.Stato-iniziale</a:t>
            </a:r>
            <a:r>
              <a:rPr lang="en-GB" altLang="en-US" sz="2000" dirty="0">
                <a:latin typeface="Arial Narrow" panose="020B0606020202030204" pitchFamily="34" charset="0"/>
              </a:rPr>
              <a:t>), </a:t>
            </a:r>
            <a:r>
              <a:rPr lang="en-GB" altLang="en-US" sz="2000" i="1" dirty="0" err="1">
                <a:latin typeface="Arial Narrow" panose="020B0606020202030204" pitchFamily="34" charset="0"/>
              </a:rPr>
              <a:t>problema</a:t>
            </a:r>
            <a:r>
              <a:rPr lang="en-GB" altLang="en-US" sz="2000" dirty="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endParaRPr lang="en-GB" altLang="en-US" sz="20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000" b="1" dirty="0">
                <a:latin typeface="Arial Narrow" panose="020B0606020202030204" pitchFamily="34" charset="0"/>
              </a:rPr>
              <a:t>function </a:t>
            </a:r>
            <a:r>
              <a:rPr lang="en-GB" altLang="en-US" sz="2000" dirty="0" err="1">
                <a:latin typeface="Arial Narrow" panose="020B0606020202030204" pitchFamily="34" charset="0"/>
              </a:rPr>
              <a:t>Ricerca</a:t>
            </a:r>
            <a:r>
              <a:rPr lang="en-GB" altLang="en-US" sz="2000" dirty="0">
                <a:latin typeface="Arial Narrow" panose="020B0606020202030204" pitchFamily="34" charset="0"/>
              </a:rPr>
              <a:t>-DF-</a:t>
            </a:r>
            <a:r>
              <a:rPr lang="en-GB" altLang="en-US" sz="2000" dirty="0" err="1">
                <a:latin typeface="Arial Narrow" panose="020B0606020202030204" pitchFamily="34" charset="0"/>
              </a:rPr>
              <a:t>ricorsiva</a:t>
            </a:r>
            <a:r>
              <a:rPr lang="en-GB" altLang="en-US" sz="2000" dirty="0">
                <a:latin typeface="Arial Narrow" panose="020B0606020202030204" pitchFamily="34" charset="0"/>
              </a:rPr>
              <a:t>(</a:t>
            </a:r>
            <a:r>
              <a:rPr lang="en-GB" altLang="en-US" sz="2000" i="1" dirty="0" err="1">
                <a:latin typeface="Arial Narrow" panose="020B0606020202030204" pitchFamily="34" charset="0"/>
              </a:rPr>
              <a:t>nodo</a:t>
            </a:r>
            <a:r>
              <a:rPr lang="en-GB" altLang="en-US" sz="2000" i="1" dirty="0">
                <a:latin typeface="Arial Narrow" panose="020B0606020202030204" pitchFamily="34" charset="0"/>
              </a:rPr>
              <a:t>,</a:t>
            </a:r>
            <a:r>
              <a:rPr lang="en-GB" altLang="en-US" sz="2000" dirty="0">
                <a:latin typeface="Arial Narrow" panose="020B0606020202030204" pitchFamily="34" charset="0"/>
              </a:rPr>
              <a:t> </a:t>
            </a:r>
            <a:r>
              <a:rPr lang="en-GB" altLang="en-US" sz="2000" i="1" dirty="0" err="1">
                <a:latin typeface="Arial Narrow" panose="020B0606020202030204" pitchFamily="34" charset="0"/>
              </a:rPr>
              <a:t>problema</a:t>
            </a:r>
            <a:r>
              <a:rPr lang="en-GB" altLang="en-US" sz="2000" i="1" dirty="0">
                <a:latin typeface="Arial Narrow" panose="020B0606020202030204" pitchFamily="34" charset="0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000" b="1" i="1" dirty="0">
                <a:latin typeface="Arial Narrow" panose="020B0606020202030204" pitchFamily="34" charset="0"/>
              </a:rPr>
              <a:t>	</a:t>
            </a:r>
            <a:r>
              <a:rPr lang="en-GB" altLang="en-US" sz="2000" b="1" dirty="0">
                <a:latin typeface="Arial Narrow" panose="020B0606020202030204" pitchFamily="34" charset="0"/>
              </a:rPr>
              <a:t>returns</a:t>
            </a:r>
            <a:r>
              <a:rPr lang="en-GB" altLang="en-US" sz="2000" b="1" i="1" dirty="0">
                <a:latin typeface="Arial Narrow" panose="020B0606020202030204" pitchFamily="34" charset="0"/>
              </a:rPr>
              <a:t> </a:t>
            </a:r>
            <a:r>
              <a:rPr lang="en-GB" altLang="en-US" sz="2000" dirty="0" err="1">
                <a:latin typeface="Arial Narrow" panose="020B0606020202030204" pitchFamily="34" charset="0"/>
              </a:rPr>
              <a:t>soluzione</a:t>
            </a:r>
            <a:r>
              <a:rPr lang="en-GB" altLang="en-US" sz="2000" dirty="0">
                <a:latin typeface="Arial Narrow" panose="020B0606020202030204" pitchFamily="34" charset="0"/>
              </a:rPr>
              <a:t> </a:t>
            </a:r>
            <a:r>
              <a:rPr lang="en-GB" altLang="en-US" sz="2000" dirty="0" err="1">
                <a:latin typeface="Arial Narrow" panose="020B0606020202030204" pitchFamily="34" charset="0"/>
              </a:rPr>
              <a:t>oppure</a:t>
            </a:r>
            <a:r>
              <a:rPr lang="en-GB" altLang="en-US" sz="2000" dirty="0">
                <a:latin typeface="Arial Narrow" panose="020B0606020202030204" pitchFamily="34" charset="0"/>
              </a:rPr>
              <a:t> </a:t>
            </a:r>
            <a:r>
              <a:rPr lang="en-GB" altLang="en-US" sz="2000" b="1" dirty="0" err="1">
                <a:latin typeface="Arial Narrow" panose="020B0606020202030204" pitchFamily="34" charset="0"/>
              </a:rPr>
              <a:t>fallimento</a:t>
            </a:r>
            <a:endParaRPr lang="en-GB" altLang="en-US" sz="20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 Narrow" panose="020B0606020202030204" pitchFamily="34" charset="0"/>
              </a:rPr>
              <a:t>	</a:t>
            </a:r>
            <a:r>
              <a:rPr lang="it-IT" altLang="en-US" sz="2000" b="1" dirty="0">
                <a:latin typeface="Arial Narrow" panose="020B0606020202030204" pitchFamily="34" charset="0"/>
              </a:rPr>
              <a:t>if</a:t>
            </a:r>
            <a:r>
              <a:rPr lang="it-IT" altLang="en-US" sz="2000" dirty="0">
                <a:latin typeface="Arial Narrow" panose="020B0606020202030204" pitchFamily="34" charset="0"/>
              </a:rPr>
              <a:t> problema.</a:t>
            </a:r>
            <a:r>
              <a:rPr lang="it-IT" altLang="en-US" sz="2000" cap="small" dirty="0">
                <a:latin typeface="Arial Narrow" panose="020B0606020202030204" pitchFamily="34" charset="0"/>
              </a:rPr>
              <a:t>TestObiettivo</a:t>
            </a:r>
            <a:r>
              <a:rPr lang="it-IT" altLang="en-US" sz="2000" dirty="0">
                <a:latin typeface="Arial Narrow" panose="020B0606020202030204" pitchFamily="34" charset="0"/>
              </a:rPr>
              <a:t>(</a:t>
            </a:r>
            <a:r>
              <a:rPr lang="it-IT" altLang="en-US" sz="2000" i="1" dirty="0">
                <a:latin typeface="Arial Narrow" panose="020B0606020202030204" pitchFamily="34" charset="0"/>
              </a:rPr>
              <a:t>nodo</a:t>
            </a:r>
            <a:r>
              <a:rPr lang="it-IT" altLang="en-US" sz="2000" dirty="0">
                <a:latin typeface="Arial Narrow" panose="020B0606020202030204" pitchFamily="34" charset="0"/>
              </a:rPr>
              <a:t>.Stato) </a:t>
            </a:r>
            <a:r>
              <a:rPr lang="it-IT" altLang="en-US" sz="2000" b="1" dirty="0">
                <a:latin typeface="Arial Narrow" panose="020B0606020202030204" pitchFamily="34" charset="0"/>
              </a:rPr>
              <a:t>then return </a:t>
            </a:r>
            <a:r>
              <a:rPr lang="it-IT" altLang="en-US" sz="2000" dirty="0">
                <a:latin typeface="Arial Narrow" panose="020B0606020202030204" pitchFamily="34" charset="0"/>
              </a:rPr>
              <a:t>Soluzione(</a:t>
            </a:r>
            <a:r>
              <a:rPr lang="it-IT" altLang="en-US" sz="2000" i="1" dirty="0">
                <a:latin typeface="Arial Narrow" panose="020B0606020202030204" pitchFamily="34" charset="0"/>
              </a:rPr>
              <a:t>nodo</a:t>
            </a:r>
            <a:r>
              <a:rPr lang="it-IT" altLang="en-US" sz="2000" dirty="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 Narrow" panose="020B0606020202030204" pitchFamily="34" charset="0"/>
              </a:rPr>
              <a:t>	</a:t>
            </a:r>
            <a:r>
              <a:rPr lang="en-GB" altLang="en-US" sz="2000" b="1" dirty="0">
                <a:latin typeface="Arial Narrow" panose="020B0606020202030204" pitchFamily="34" charset="0"/>
              </a:rPr>
              <a:t>else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000" b="1" dirty="0">
                <a:latin typeface="Arial Narrow" panose="020B0606020202030204" pitchFamily="34" charset="0"/>
              </a:rPr>
              <a:t>	for each </a:t>
            </a:r>
            <a:r>
              <a:rPr lang="it-IT" altLang="en-US" sz="2000" i="1" dirty="0">
                <a:latin typeface="Arial Narrow" panose="020B0606020202030204" pitchFamily="34" charset="0"/>
              </a:rPr>
              <a:t>azione</a:t>
            </a:r>
            <a:r>
              <a:rPr lang="it-IT" altLang="en-US" sz="2000" dirty="0">
                <a:latin typeface="Arial Narrow" panose="020B0606020202030204" pitchFamily="34" charset="0"/>
              </a:rPr>
              <a:t> </a:t>
            </a:r>
            <a:r>
              <a:rPr lang="it-IT" altLang="en-US" sz="2000" b="1" dirty="0">
                <a:latin typeface="Arial Narrow" panose="020B0606020202030204" pitchFamily="34" charset="0"/>
              </a:rPr>
              <a:t>in</a:t>
            </a:r>
            <a:r>
              <a:rPr lang="it-IT" altLang="en-US" sz="2000" dirty="0">
                <a:latin typeface="Arial Narrow" panose="020B0606020202030204" pitchFamily="34" charset="0"/>
              </a:rPr>
              <a:t> </a:t>
            </a:r>
            <a:r>
              <a:rPr lang="it-IT" altLang="en-US" sz="2000" i="1" dirty="0">
                <a:latin typeface="Arial Narrow" panose="020B0606020202030204" pitchFamily="34" charset="0"/>
              </a:rPr>
              <a:t>problema</a:t>
            </a:r>
            <a:r>
              <a:rPr lang="it-IT" altLang="en-US" sz="2000" dirty="0">
                <a:latin typeface="Arial Narrow" panose="020B0606020202030204" pitchFamily="34" charset="0"/>
              </a:rPr>
              <a:t>.Azioni(nodo.Stato) </a:t>
            </a:r>
            <a:r>
              <a:rPr lang="it-IT" altLang="en-US" sz="2000" b="1" dirty="0">
                <a:latin typeface="Arial Narrow" panose="020B0606020202030204" pitchFamily="34" charset="0"/>
              </a:rPr>
              <a:t>do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000" b="1" dirty="0">
                <a:latin typeface="Arial Narrow" panose="020B0606020202030204" pitchFamily="34" charset="0"/>
              </a:rPr>
              <a:t>		</a:t>
            </a:r>
            <a:r>
              <a:rPr lang="it-IT" altLang="en-US" sz="2000" i="1" dirty="0">
                <a:latin typeface="Arial Narrow" panose="020B0606020202030204" pitchFamily="34" charset="0"/>
              </a:rPr>
              <a:t>figlio</a:t>
            </a:r>
            <a:r>
              <a:rPr lang="it-IT" altLang="en-US" sz="2000" dirty="0">
                <a:latin typeface="Arial Narrow" panose="020B0606020202030204" pitchFamily="34" charset="0"/>
              </a:rPr>
              <a:t> = </a:t>
            </a:r>
            <a:r>
              <a:rPr lang="it-IT" altLang="en-US" sz="2000" cap="small" dirty="0">
                <a:latin typeface="Arial Narrow" panose="020B0606020202030204" pitchFamily="34" charset="0"/>
              </a:rPr>
              <a:t>Nodo-Figlio</a:t>
            </a:r>
            <a:r>
              <a:rPr lang="it-IT" altLang="en-US" sz="2000" dirty="0">
                <a:latin typeface="Arial Narrow" panose="020B0606020202030204" pitchFamily="34" charset="0"/>
              </a:rPr>
              <a:t>(</a:t>
            </a:r>
            <a:r>
              <a:rPr lang="it-IT" altLang="en-US" sz="2000" i="1" dirty="0">
                <a:latin typeface="Arial Narrow" panose="020B0606020202030204" pitchFamily="34" charset="0"/>
              </a:rPr>
              <a:t>problema</a:t>
            </a:r>
            <a:r>
              <a:rPr lang="it-IT" altLang="en-US" sz="2000" dirty="0">
                <a:latin typeface="Arial Narrow" panose="020B0606020202030204" pitchFamily="34" charset="0"/>
              </a:rPr>
              <a:t>, </a:t>
            </a:r>
            <a:r>
              <a:rPr lang="it-IT" altLang="en-US" sz="2000" i="1" dirty="0">
                <a:latin typeface="Arial Narrow" panose="020B0606020202030204" pitchFamily="34" charset="0"/>
              </a:rPr>
              <a:t>nodo, azione</a:t>
            </a:r>
            <a:r>
              <a:rPr lang="it-IT" altLang="en-US" sz="2000" dirty="0">
                <a:latin typeface="Arial Narrow" panose="020B0606020202030204" pitchFamily="34" charset="0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000" dirty="0">
                <a:latin typeface="Arial Narrow" panose="020B0606020202030204" pitchFamily="34" charset="0"/>
              </a:rPr>
              <a:t>		</a:t>
            </a:r>
            <a:r>
              <a:rPr lang="it-IT" altLang="en-US" sz="2000" i="1" dirty="0">
                <a:latin typeface="Arial Narrow" panose="020B0606020202030204" pitchFamily="34" charset="0"/>
              </a:rPr>
              <a:t>risultato</a:t>
            </a:r>
            <a:r>
              <a:rPr lang="it-IT" altLang="en-US" sz="2000" dirty="0">
                <a:latin typeface="Arial Narrow" panose="020B0606020202030204" pitchFamily="34" charset="0"/>
              </a:rPr>
              <a:t> = </a:t>
            </a:r>
            <a:r>
              <a:rPr lang="en-GB" altLang="en-US" sz="2000" dirty="0" err="1">
                <a:latin typeface="Arial Narrow" panose="020B0606020202030204" pitchFamily="34" charset="0"/>
              </a:rPr>
              <a:t>Ricerca</a:t>
            </a:r>
            <a:r>
              <a:rPr lang="en-GB" altLang="en-US" sz="2000" dirty="0">
                <a:latin typeface="Arial Narrow" panose="020B0606020202030204" pitchFamily="34" charset="0"/>
              </a:rPr>
              <a:t>-DF-</a:t>
            </a:r>
            <a:r>
              <a:rPr lang="en-GB" altLang="en-US" sz="2000" dirty="0" err="1">
                <a:latin typeface="Arial Narrow" panose="020B0606020202030204" pitchFamily="34" charset="0"/>
              </a:rPr>
              <a:t>ricorsiva</a:t>
            </a:r>
            <a:r>
              <a:rPr lang="en-GB" altLang="en-US" sz="2000" dirty="0">
                <a:latin typeface="Arial Narrow" panose="020B0606020202030204" pitchFamily="34" charset="0"/>
              </a:rPr>
              <a:t>(</a:t>
            </a:r>
            <a:r>
              <a:rPr lang="en-GB" altLang="en-US" sz="2000" i="1" dirty="0" err="1">
                <a:latin typeface="Arial Narrow" panose="020B0606020202030204" pitchFamily="34" charset="0"/>
              </a:rPr>
              <a:t>figlio</a:t>
            </a:r>
            <a:r>
              <a:rPr lang="en-GB" altLang="en-US" sz="2000" dirty="0">
                <a:latin typeface="Arial Narrow" panose="020B0606020202030204" pitchFamily="34" charset="0"/>
              </a:rPr>
              <a:t>, </a:t>
            </a:r>
            <a:r>
              <a:rPr lang="en-GB" altLang="en-US" sz="2000" i="1" dirty="0" err="1">
                <a:latin typeface="Arial Narrow" panose="020B0606020202030204" pitchFamily="34" charset="0"/>
              </a:rPr>
              <a:t>problema</a:t>
            </a:r>
            <a:r>
              <a:rPr lang="en-GB" altLang="en-US" sz="2000" dirty="0">
                <a:latin typeface="Arial Narrow" panose="020B0606020202030204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800"/>
              </a:spcBef>
              <a:buNone/>
            </a:pPr>
            <a:r>
              <a:rPr lang="it-IT" altLang="en-US" sz="2000" dirty="0">
                <a:latin typeface="Arial Narrow" panose="020B0606020202030204" pitchFamily="34" charset="0"/>
              </a:rPr>
              <a:t>		</a:t>
            </a:r>
            <a:r>
              <a:rPr lang="it-IT" altLang="en-US" sz="2000" b="1" dirty="0">
                <a:latin typeface="Arial Narrow" panose="020B0606020202030204" pitchFamily="34" charset="0"/>
              </a:rPr>
              <a:t>if </a:t>
            </a:r>
            <a:r>
              <a:rPr lang="it-IT" altLang="en-US" sz="2000" b="1" i="1" dirty="0">
                <a:latin typeface="Arial Narrow" panose="020B0606020202030204" pitchFamily="34" charset="0"/>
              </a:rPr>
              <a:t> </a:t>
            </a:r>
            <a:r>
              <a:rPr lang="it-IT" altLang="en-US" sz="2000" i="1" dirty="0">
                <a:latin typeface="Arial Narrow" panose="020B0606020202030204" pitchFamily="34" charset="0"/>
              </a:rPr>
              <a:t>risultato ≠ </a:t>
            </a:r>
            <a:r>
              <a:rPr lang="it-IT" altLang="en-US" sz="2000" b="1" dirty="0">
                <a:latin typeface="Arial Narrow" panose="020B0606020202030204" pitchFamily="34" charset="0"/>
              </a:rPr>
              <a:t>fallimento  then return </a:t>
            </a:r>
            <a:r>
              <a:rPr lang="it-IT" altLang="en-US" sz="2000" i="1" dirty="0">
                <a:latin typeface="Arial Narrow" panose="020B0606020202030204" pitchFamily="34" charset="0"/>
              </a:rPr>
              <a:t>risultato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2000" dirty="0">
                <a:latin typeface="Arial Narrow" panose="020B0606020202030204" pitchFamily="34" charset="0"/>
              </a:rPr>
              <a:t>	 </a:t>
            </a:r>
            <a:r>
              <a:rPr lang="it-IT" altLang="en-US" sz="2000" b="1" dirty="0">
                <a:latin typeface="Arial Narrow" panose="020B0606020202030204" pitchFamily="34" charset="0"/>
              </a:rPr>
              <a:t>return fallimento</a:t>
            </a:r>
            <a:endParaRPr lang="en-GB" altLang="en-US" sz="2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7645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8463" y="476250"/>
            <a:ext cx="86375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400"/>
              <a:t>Ricerca in profondità limitata (DL)</a:t>
            </a:r>
            <a:endParaRPr lang="en-GB" altLang="en-US" sz="4400"/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586787" cy="460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eaLnBrk="1" hangingPunct="1">
              <a:spcBef>
                <a:spcPts val="1200"/>
              </a:spcBef>
            </a:pPr>
            <a:r>
              <a:rPr lang="it-IT" altLang="en-US" dirty="0">
                <a:cs typeface="Times New Roman" panose="02020603050405020304" pitchFamily="18" charset="0"/>
              </a:rPr>
              <a:t>Si va in profondità fino ad un certo livello predefinito da un valore limite </a:t>
            </a:r>
            <a:r>
              <a:rPr lang="it-IT" altLang="en-US" dirty="0">
                <a:latin typeface="Brush Script MT Italic" pitchFamily="-84" charset="0"/>
              </a:rPr>
              <a:t> </a:t>
            </a:r>
            <a:r>
              <a:rPr lang="it-IT" altLang="en-US" i="1" dirty="0">
                <a:latin typeface="Brush Script MT Italic" pitchFamily="-84" charset="0"/>
              </a:rPr>
              <a:t>l </a:t>
            </a:r>
            <a:endParaRPr lang="en-GB" altLang="en-US" i="1" dirty="0">
              <a:latin typeface="Brush Script MT Italic" pitchFamily="-84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it-IT" altLang="en-US" i="1" dirty="0">
                <a:cs typeface="Times New Roman" panose="02020603050405020304" pitchFamily="18" charset="0"/>
              </a:rPr>
              <a:t>Completa</a:t>
            </a:r>
            <a:r>
              <a:rPr lang="it-IT" altLang="en-US" dirty="0">
                <a:cs typeface="Times New Roman" panose="02020603050405020304" pitchFamily="18" charset="0"/>
              </a:rPr>
              <a:t> per problemi in cui si conosce un limite superiore per la profondità della soluzione.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	Es. </a:t>
            </a:r>
            <a:r>
              <a:rPr lang="it-IT" altLang="en-US" i="1" dirty="0">
                <a:cs typeface="Times New Roman" panose="02020603050405020304" pitchFamily="18" charset="0"/>
              </a:rPr>
              <a:t>Route-finding</a:t>
            </a:r>
            <a:r>
              <a:rPr lang="it-IT" altLang="en-US" dirty="0">
                <a:cs typeface="Times New Roman" panose="02020603050405020304" pitchFamily="18" charset="0"/>
              </a:rPr>
              <a:t> limitata da: numero di città – 1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en-US" dirty="0" err="1">
                <a:cs typeface="Times New Roman" panose="02020603050405020304" pitchFamily="18" charset="0"/>
              </a:rPr>
              <a:t>Completo</a:t>
            </a:r>
            <a:r>
              <a:rPr lang="en-US" altLang="en-US" dirty="0">
                <a:cs typeface="Times New Roman" panose="02020603050405020304" pitchFamily="18" charset="0"/>
              </a:rPr>
              <a:t>: se </a:t>
            </a:r>
            <a:r>
              <a:rPr lang="en-US" altLang="en-US" i="1" dirty="0">
                <a:cs typeface="Times New Roman" panose="02020603050405020304" pitchFamily="18" charset="0"/>
              </a:rPr>
              <a:t>d&lt;</a:t>
            </a:r>
            <a:r>
              <a:rPr lang="it-IT" altLang="en-US" i="1" dirty="0">
                <a:latin typeface="Brush Script MT Italic" pitchFamily="-84" charset="0"/>
              </a:rPr>
              <a:t>l</a:t>
            </a:r>
            <a:r>
              <a:rPr lang="it-IT" altLang="en-US" dirty="0"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spcBef>
                <a:spcPts val="1200"/>
              </a:spcBef>
            </a:pPr>
            <a:r>
              <a:rPr lang="it-IT" altLang="en-US" dirty="0">
                <a:cs typeface="Times New Roman" panose="02020603050405020304" pitchFamily="18" charset="0"/>
              </a:rPr>
              <a:t>Non è ottimale 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it-IT" altLang="en-US" dirty="0">
                <a:cs typeface="Times New Roman" panose="02020603050405020304" pitchFamily="18" charset="0"/>
              </a:rPr>
              <a:t>Complessità tempo: O(</a:t>
            </a:r>
            <a:r>
              <a:rPr lang="it-IT" altLang="en-US" i="1" dirty="0" err="1">
                <a:cs typeface="Times New Roman" panose="02020603050405020304" pitchFamily="18" charset="0"/>
              </a:rPr>
              <a:t>b</a:t>
            </a:r>
            <a:r>
              <a:rPr lang="it-IT" altLang="en-US" i="1" baseline="30000" dirty="0" err="1">
                <a:latin typeface="Brush Script MT Italic" pitchFamily="-84" charset="0"/>
              </a:rPr>
              <a:t>l</a:t>
            </a:r>
            <a:r>
              <a:rPr lang="it-IT" altLang="en-US" baseline="30000" dirty="0">
                <a:cs typeface="Times New Roman" panose="02020603050405020304" pitchFamily="18" charset="0"/>
              </a:rPr>
              <a:t> </a:t>
            </a:r>
            <a:r>
              <a:rPr lang="it-IT" altLang="en-US" dirty="0">
                <a:cs typeface="Times New Roman" panose="02020603050405020304" pitchFamily="18" charset="0"/>
              </a:rPr>
              <a:t>)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it-IT" altLang="en-US" dirty="0">
                <a:cs typeface="Times New Roman" panose="02020603050405020304" pitchFamily="18" charset="0"/>
              </a:rPr>
              <a:t>Complessità spazio: O(</a:t>
            </a:r>
            <a:r>
              <a:rPr lang="it-IT" altLang="en-US" i="1" dirty="0" err="1">
                <a:cs typeface="Times New Roman" panose="02020603050405020304" pitchFamily="18" charset="0"/>
              </a:rPr>
              <a:t>b</a:t>
            </a:r>
            <a:r>
              <a:rPr lang="it-IT" altLang="en-US" i="1" dirty="0" err="1">
                <a:latin typeface="Brush Script MT Italic" pitchFamily="-84" charset="0"/>
              </a:rPr>
              <a:t>l</a:t>
            </a:r>
            <a:r>
              <a:rPr lang="it-IT" altLang="en-US" dirty="0">
                <a:cs typeface="Times New Roman" panose="02020603050405020304" pitchFamily="18" charset="0"/>
              </a:rPr>
              <a:t> )</a:t>
            </a:r>
            <a:endParaRPr lang="en-GB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0742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ds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133600"/>
            <a:ext cx="5486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333375"/>
            <a:ext cx="8637588" cy="8239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 err="1">
                <a:ea typeface="+mj-ea"/>
                <a:cs typeface="+mj-cs"/>
              </a:rPr>
              <a:t>Approfondimento</a:t>
            </a:r>
            <a:r>
              <a:rPr lang="en-US" dirty="0">
                <a:ea typeface="+mj-ea"/>
                <a:cs typeface="+mj-cs"/>
              </a:rPr>
              <a:t> </a:t>
            </a:r>
            <a:r>
              <a:rPr lang="en-US" dirty="0" err="1">
                <a:ea typeface="+mj-ea"/>
                <a:cs typeface="+mj-cs"/>
              </a:rPr>
              <a:t>iterativo</a:t>
            </a:r>
            <a:r>
              <a:rPr lang="en-US" dirty="0">
                <a:ea typeface="+mj-ea"/>
                <a:cs typeface="+mj-cs"/>
              </a:rPr>
              <a:t> (ID)</a:t>
            </a:r>
            <a:endParaRPr lang="en-GB" dirty="0">
              <a:ea typeface="+mj-ea"/>
              <a:cs typeface="+mj-cs"/>
            </a:endParaRPr>
          </a:p>
        </p:txBody>
      </p:sp>
      <p:pic>
        <p:nvPicPr>
          <p:cNvPr id="6" name="Picture 5" descr="uno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989138"/>
            <a:ext cx="9144000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ids2.tif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1916113"/>
            <a:ext cx="8882062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ids4.tif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675"/>
            <a:ext cx="91440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953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637588" cy="8239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ID: analisi</a:t>
            </a:r>
            <a:endParaRPr lang="en-GB">
              <a:ea typeface="+mj-ea"/>
              <a:cs typeface="+mj-cs"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328613" y="1524000"/>
            <a:ext cx="8208962" cy="48768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1200"/>
              </a:spcBef>
            </a:pPr>
            <a:r>
              <a:rPr lang="it-IT" altLang="en-US" sz="2800" dirty="0">
                <a:cs typeface="Times New Roman" panose="02020603050405020304" pitchFamily="18" charset="0"/>
              </a:rPr>
              <a:t>Miglior compromesso tra BF e DF</a:t>
            </a:r>
            <a:endParaRPr lang="en-GB" altLang="en-US" sz="2800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GB" altLang="en-US" dirty="0">
                <a:cs typeface="Times New Roman" panose="02020603050405020304" pitchFamily="18" charset="0"/>
              </a:rPr>
              <a:t>BF: </a:t>
            </a:r>
            <a:r>
              <a:rPr lang="en-GB" altLang="en-US" i="1" dirty="0">
                <a:cs typeface="Times New Roman" panose="02020603050405020304" pitchFamily="18" charset="0"/>
              </a:rPr>
              <a:t>b</a:t>
            </a:r>
            <a:r>
              <a:rPr lang="en-GB" altLang="en-US" dirty="0">
                <a:cs typeface="Times New Roman" panose="02020603050405020304" pitchFamily="18" charset="0"/>
              </a:rPr>
              <a:t>+</a:t>
            </a:r>
            <a:r>
              <a:rPr lang="en-GB" altLang="en-US" i="1" dirty="0">
                <a:cs typeface="Times New Roman" panose="02020603050405020304" pitchFamily="18" charset="0"/>
              </a:rPr>
              <a:t>b</a:t>
            </a:r>
            <a:r>
              <a:rPr lang="en-GB" altLang="en-US" baseline="30000" dirty="0">
                <a:cs typeface="Times New Roman" panose="02020603050405020304" pitchFamily="18" charset="0"/>
              </a:rPr>
              <a:t>2</a:t>
            </a:r>
            <a:r>
              <a:rPr lang="en-GB" altLang="en-US" dirty="0">
                <a:cs typeface="Times New Roman" panose="02020603050405020304" pitchFamily="18" charset="0"/>
              </a:rPr>
              <a:t>+ … </a:t>
            </a:r>
            <a:r>
              <a:rPr lang="it-IT" altLang="en-US" dirty="0">
                <a:cs typeface="Times New Roman" panose="02020603050405020304" pitchFamily="18" charset="0"/>
              </a:rPr>
              <a:t>+</a:t>
            </a:r>
            <a:r>
              <a:rPr lang="it-IT" altLang="en-US" i="1" dirty="0">
                <a:cs typeface="Times New Roman" panose="02020603050405020304" pitchFamily="18" charset="0"/>
              </a:rPr>
              <a:t>b</a:t>
            </a:r>
            <a:r>
              <a:rPr lang="it-IT" altLang="en-US" baseline="30000" dirty="0">
                <a:cs typeface="Times New Roman" panose="02020603050405020304" pitchFamily="18" charset="0"/>
              </a:rPr>
              <a:t>d-1</a:t>
            </a:r>
            <a:r>
              <a:rPr lang="it-IT" altLang="en-US" dirty="0">
                <a:cs typeface="Times New Roman" panose="02020603050405020304" pitchFamily="18" charset="0"/>
              </a:rPr>
              <a:t>+</a:t>
            </a:r>
            <a:r>
              <a:rPr lang="it-IT" altLang="en-US" i="1" dirty="0">
                <a:cs typeface="Times New Roman" panose="02020603050405020304" pitchFamily="18" charset="0"/>
              </a:rPr>
              <a:t>b</a:t>
            </a:r>
            <a:r>
              <a:rPr lang="it-IT" altLang="en-US" baseline="30000" dirty="0">
                <a:cs typeface="Times New Roman" panose="02020603050405020304" pitchFamily="18" charset="0"/>
              </a:rPr>
              <a:t>d</a:t>
            </a:r>
            <a:r>
              <a:rPr lang="it-IT" altLang="en-US" dirty="0">
                <a:cs typeface="Times New Roman" panose="02020603050405020304" pitchFamily="18" charset="0"/>
              </a:rPr>
              <a:t>        con </a:t>
            </a:r>
            <a:r>
              <a:rPr lang="it-IT" altLang="en-US" i="1" dirty="0">
                <a:cs typeface="Times New Roman" panose="02020603050405020304" pitchFamily="18" charset="0"/>
              </a:rPr>
              <a:t>b</a:t>
            </a:r>
            <a:r>
              <a:rPr lang="it-IT" altLang="en-US" dirty="0">
                <a:cs typeface="Times New Roman" panose="02020603050405020304" pitchFamily="18" charset="0"/>
              </a:rPr>
              <a:t>=10 e </a:t>
            </a:r>
            <a:r>
              <a:rPr lang="it-IT" altLang="en-US" i="1" dirty="0">
                <a:cs typeface="Times New Roman" panose="02020603050405020304" pitchFamily="18" charset="0"/>
              </a:rPr>
              <a:t>d</a:t>
            </a:r>
            <a:r>
              <a:rPr lang="it-IT" altLang="en-US" dirty="0">
                <a:cs typeface="Times New Roman" panose="02020603050405020304" pitchFamily="18" charset="0"/>
              </a:rPr>
              <a:t>=5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GB" altLang="en-US" dirty="0">
                <a:cs typeface="Times New Roman" panose="02020603050405020304" pitchFamily="18" charset="0"/>
              </a:rPr>
              <a:t>10+100+1000+10.000+100.000=111.110</a:t>
            </a:r>
          </a:p>
          <a:p>
            <a:pPr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it-IT" altLang="en-US" sz="2800" dirty="0">
                <a:cs typeface="Times New Roman" panose="02020603050405020304" pitchFamily="18" charset="0"/>
              </a:rPr>
              <a:t>ID: I nodi dell’ultimo livello generati una volta, quelli del penultimo 2, quelli del terzultimo 3 … quelli del primo </a:t>
            </a:r>
            <a:r>
              <a:rPr lang="it-IT" altLang="en-US" sz="2800" i="1" dirty="0">
                <a:cs typeface="Times New Roman" panose="02020603050405020304" pitchFamily="18" charset="0"/>
              </a:rPr>
              <a:t>d</a:t>
            </a:r>
            <a:r>
              <a:rPr lang="it-IT" altLang="en-US" sz="2800" dirty="0">
                <a:cs typeface="Times New Roman" panose="02020603050405020304" pitchFamily="18" charset="0"/>
              </a:rPr>
              <a:t> volte</a:t>
            </a:r>
          </a:p>
          <a:p>
            <a:pPr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GB" altLang="en-US" sz="2800" dirty="0">
                <a:cs typeface="Times New Roman" panose="02020603050405020304" pitchFamily="18" charset="0"/>
              </a:rPr>
              <a:t> 	</a:t>
            </a:r>
            <a:r>
              <a:rPr lang="en-GB" altLang="en-US" dirty="0">
                <a:cs typeface="Times New Roman" panose="02020603050405020304" pitchFamily="18" charset="0"/>
              </a:rPr>
              <a:t>ID: 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GB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i="1" dirty="0">
                <a:cs typeface="Times New Roman" panose="02020603050405020304" pitchFamily="18" charset="0"/>
              </a:rPr>
              <a:t>)b</a:t>
            </a:r>
            <a:r>
              <a:rPr lang="en-GB" altLang="en-US" dirty="0">
                <a:cs typeface="Times New Roman" panose="02020603050405020304" pitchFamily="18" charset="0"/>
              </a:rPr>
              <a:t>+(</a:t>
            </a:r>
            <a:r>
              <a:rPr lang="en-GB" altLang="en-US" i="1" dirty="0">
                <a:cs typeface="Times New Roman" panose="02020603050405020304" pitchFamily="18" charset="0"/>
              </a:rPr>
              <a:t>d</a:t>
            </a:r>
            <a:r>
              <a:rPr lang="en-GB" altLang="en-US" dirty="0">
                <a:cs typeface="Times New Roman" panose="02020603050405020304" pitchFamily="18" charset="0"/>
              </a:rPr>
              <a:t>-1)</a:t>
            </a:r>
            <a:r>
              <a:rPr lang="en-GB" altLang="en-US" i="1" dirty="0">
                <a:cs typeface="Times New Roman" panose="02020603050405020304" pitchFamily="18" charset="0"/>
              </a:rPr>
              <a:t> b</a:t>
            </a:r>
            <a:r>
              <a:rPr lang="en-GB" altLang="en-US" baseline="30000" dirty="0">
                <a:cs typeface="Times New Roman" panose="02020603050405020304" pitchFamily="18" charset="0"/>
              </a:rPr>
              <a:t>2</a:t>
            </a:r>
            <a:r>
              <a:rPr lang="en-GB" altLang="en-US" dirty="0">
                <a:cs typeface="Times New Roman" panose="02020603050405020304" pitchFamily="18" charset="0"/>
              </a:rPr>
              <a:t>+ … +3</a:t>
            </a:r>
            <a:r>
              <a:rPr lang="en-GB" altLang="en-US" i="1" dirty="0">
                <a:cs typeface="Times New Roman" panose="02020603050405020304" pitchFamily="18" charset="0"/>
              </a:rPr>
              <a:t>b</a:t>
            </a:r>
            <a:r>
              <a:rPr lang="en-GB" altLang="en-US" baseline="30000" dirty="0">
                <a:cs typeface="Times New Roman" panose="02020603050405020304" pitchFamily="18" charset="0"/>
              </a:rPr>
              <a:t>d-2</a:t>
            </a:r>
            <a:r>
              <a:rPr lang="en-GB" altLang="en-US" dirty="0">
                <a:cs typeface="Times New Roman" panose="02020603050405020304" pitchFamily="18" charset="0"/>
              </a:rPr>
              <a:t>+2</a:t>
            </a:r>
            <a:r>
              <a:rPr lang="en-GB" altLang="en-US" i="1" dirty="0">
                <a:cs typeface="Times New Roman" panose="02020603050405020304" pitchFamily="18" charset="0"/>
              </a:rPr>
              <a:t>b</a:t>
            </a:r>
            <a:r>
              <a:rPr lang="en-GB" altLang="en-US" baseline="30000" dirty="0">
                <a:cs typeface="Times New Roman" panose="02020603050405020304" pitchFamily="18" charset="0"/>
              </a:rPr>
              <a:t>d-1</a:t>
            </a:r>
            <a:r>
              <a:rPr lang="en-GB" altLang="en-US" dirty="0">
                <a:cs typeface="Times New Roman" panose="02020603050405020304" pitchFamily="18" charset="0"/>
              </a:rPr>
              <a:t>+1</a:t>
            </a:r>
            <a:r>
              <a:rPr lang="en-GB" altLang="en-US" i="1" dirty="0">
                <a:cs typeface="Times New Roman" panose="02020603050405020304" pitchFamily="18" charset="0"/>
              </a:rPr>
              <a:t>b</a:t>
            </a:r>
            <a:r>
              <a:rPr lang="en-GB" altLang="en-US" baseline="30000" dirty="0">
                <a:cs typeface="Times New Roman" panose="02020603050405020304" pitchFamily="18" charset="0"/>
              </a:rPr>
              <a:t>d </a:t>
            </a:r>
          </a:p>
          <a:p>
            <a:pPr lvl="1" eaLnBrk="1" hangingPunct="1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</a:t>
            </a:r>
            <a:r>
              <a:rPr lang="it-IT" altLang="en-US" dirty="0">
                <a:cs typeface="Times New Roman" panose="02020603050405020304" pitchFamily="18" charset="0"/>
              </a:rPr>
              <a:t>= 50+400+3000+20.000+100.000=123450</a:t>
            </a:r>
            <a:endParaRPr lang="en-GB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it-IT" altLang="en-US" sz="2800" dirty="0">
                <a:cs typeface="Times New Roman" panose="02020603050405020304" pitchFamily="18" charset="0"/>
              </a:rPr>
              <a:t>Complessità tempo: O(</a:t>
            </a:r>
            <a:r>
              <a:rPr lang="it-IT" altLang="en-US" sz="2800" i="1" dirty="0" err="1">
                <a:cs typeface="Times New Roman" panose="02020603050405020304" pitchFamily="18" charset="0"/>
              </a:rPr>
              <a:t>b</a:t>
            </a:r>
            <a:r>
              <a:rPr lang="it-IT" altLang="en-US" sz="2800" i="1" baseline="30000" dirty="0" err="1">
                <a:cs typeface="Times New Roman" panose="02020603050405020304" pitchFamily="18" charset="0"/>
              </a:rPr>
              <a:t>d</a:t>
            </a:r>
            <a:r>
              <a:rPr lang="it-IT" altLang="en-US" sz="2800" dirty="0">
                <a:cs typeface="Times New Roman" panose="02020603050405020304" pitchFamily="18" charset="0"/>
              </a:rPr>
              <a:t>)            Spazio: O(</a:t>
            </a:r>
            <a:r>
              <a:rPr lang="it-IT" altLang="en-US" sz="2800" i="1" dirty="0" err="1">
                <a:cs typeface="Times New Roman" panose="02020603050405020304" pitchFamily="18" charset="0"/>
              </a:rPr>
              <a:t>b.d</a:t>
            </a:r>
            <a:r>
              <a:rPr lang="it-IT" altLang="en-US" sz="2800" dirty="0">
                <a:cs typeface="Times New Roman" panose="02020603050405020304" pitchFamily="18" charset="0"/>
              </a:rPr>
              <a:t>)</a:t>
            </a:r>
            <a:endParaRPr lang="en-GB" altLang="en-US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1200"/>
              </a:spcBef>
            </a:pP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646742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457200"/>
            <a:ext cx="8637588" cy="8239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Direzione della ricerca</a:t>
            </a:r>
            <a:endParaRPr lang="en-GB">
              <a:ea typeface="+mj-ea"/>
              <a:cs typeface="+mj-cs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328613" y="1524000"/>
            <a:ext cx="7987803" cy="45323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	Un problema ortogonale alla strategia è la </a:t>
            </a:r>
            <a:r>
              <a:rPr lang="it-IT" altLang="en-US" i="1" dirty="0">
                <a:cs typeface="Times New Roman" panose="02020603050405020304" pitchFamily="18" charset="0"/>
              </a:rPr>
              <a:t>direzione</a:t>
            </a:r>
            <a:r>
              <a:rPr lang="it-IT" altLang="en-US" dirty="0">
                <a:cs typeface="Times New Roman" panose="02020603050405020304" pitchFamily="18" charset="0"/>
              </a:rPr>
              <a:t> </a:t>
            </a:r>
            <a:r>
              <a:rPr lang="it-IT" altLang="en-US" i="1" dirty="0">
                <a:cs typeface="Times New Roman" panose="02020603050405020304" pitchFamily="18" charset="0"/>
              </a:rPr>
              <a:t>della ricerca</a:t>
            </a:r>
            <a:r>
              <a:rPr lang="it-IT" altLang="en-US" dirty="0"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ricerca </a:t>
            </a:r>
            <a:r>
              <a:rPr lang="it-IT" altLang="en-US" i="1" dirty="0">
                <a:solidFill>
                  <a:srgbClr val="009999"/>
                </a:solidFill>
                <a:cs typeface="Times New Roman" panose="02020603050405020304" pitchFamily="18" charset="0"/>
              </a:rPr>
              <a:t>in avanti</a:t>
            </a:r>
            <a:r>
              <a:rPr lang="it-IT" altLang="en-US" dirty="0">
                <a:solidFill>
                  <a:srgbClr val="009999"/>
                </a:solidFill>
                <a:cs typeface="Times New Roman" panose="02020603050405020304" pitchFamily="18" charset="0"/>
              </a:rPr>
              <a:t> </a:t>
            </a:r>
            <a:r>
              <a:rPr lang="it-IT" altLang="en-US" dirty="0">
                <a:cs typeface="Times New Roman" panose="02020603050405020304" pitchFamily="18" charset="0"/>
              </a:rPr>
              <a:t>o </a:t>
            </a:r>
            <a:r>
              <a:rPr lang="it-IT" altLang="en-US" i="1" dirty="0">
                <a:cs typeface="Times New Roman" panose="02020603050405020304" pitchFamily="18" charset="0"/>
              </a:rPr>
              <a:t>guidata dai dati</a:t>
            </a:r>
            <a:r>
              <a:rPr lang="it-IT" altLang="en-US" dirty="0">
                <a:cs typeface="Times New Roman" panose="02020603050405020304" pitchFamily="18" charset="0"/>
              </a:rPr>
              <a:t>: si esplora lo spazio di ricerca dallo stato iniziale allo stato obiettivo;</a:t>
            </a: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ricerca </a:t>
            </a:r>
            <a:r>
              <a:rPr lang="it-IT" altLang="en-US" i="1" dirty="0">
                <a:solidFill>
                  <a:srgbClr val="009999"/>
                </a:solidFill>
                <a:cs typeface="Times New Roman" panose="02020603050405020304" pitchFamily="18" charset="0"/>
              </a:rPr>
              <a:t>all’indietro</a:t>
            </a:r>
            <a:r>
              <a:rPr lang="it-IT" altLang="en-US" dirty="0">
                <a:cs typeface="Times New Roman" panose="02020603050405020304" pitchFamily="18" charset="0"/>
              </a:rPr>
              <a:t> o </a:t>
            </a:r>
            <a:r>
              <a:rPr lang="it-IT" altLang="en-US" i="1" dirty="0">
                <a:solidFill>
                  <a:srgbClr val="009999"/>
                </a:solidFill>
                <a:cs typeface="Times New Roman" panose="02020603050405020304" pitchFamily="18" charset="0"/>
              </a:rPr>
              <a:t>guidata dall’obiettivo</a:t>
            </a:r>
            <a:r>
              <a:rPr lang="it-IT" altLang="en-US" dirty="0">
                <a:cs typeface="Times New Roman" panose="02020603050405020304" pitchFamily="18" charset="0"/>
              </a:rPr>
              <a:t>: si esplora lo spazio di ricerca a partire da uno stato goal e riconducendosi a sotto-goal fino a trovare uno stato iniziale.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428798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Quale direzione?</a:t>
            </a:r>
            <a:endParaRPr lang="en-GB"/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946404" y="1828801"/>
            <a:ext cx="7370012" cy="4351337"/>
          </a:xfrm>
        </p:spPr>
        <p:txBody>
          <a:bodyPr/>
          <a:lstStyle/>
          <a:p>
            <a:r>
              <a:rPr lang="it-IT" altLang="en-US" dirty="0"/>
              <a:t>Conviene procedere nella direzione in cui il fattore di diramazione è minore</a:t>
            </a:r>
          </a:p>
          <a:p>
            <a:r>
              <a:rPr lang="it-IT" altLang="en-US" dirty="0"/>
              <a:t>Si preferisce ricerca all’indietro quando:</a:t>
            </a:r>
            <a:endParaRPr lang="en-US" altLang="en-US" dirty="0"/>
          </a:p>
          <a:p>
            <a:pPr lvl="1"/>
            <a:r>
              <a:rPr lang="it-IT" altLang="en-US" dirty="0"/>
              <a:t>l’obiettivo e chiaramente definito (ad es. nel </a:t>
            </a:r>
            <a:r>
              <a:rPr lang="it-IT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theorem proving</a:t>
            </a:r>
            <a:r>
              <a:rPr lang="it-IT" altLang="en-US" dirty="0"/>
              <a:t>) o si  possono formulare una serie limitata di ipotesi;</a:t>
            </a:r>
            <a:endParaRPr lang="en-GB" altLang="en-US" dirty="0"/>
          </a:p>
          <a:p>
            <a:pPr lvl="1"/>
            <a:r>
              <a:rPr lang="it-IT" altLang="en-US" dirty="0"/>
              <a:t>i dati del problema non sono noti e la loro acquisizione può essere guidata dall’obiettivo</a:t>
            </a:r>
          </a:p>
          <a:p>
            <a:r>
              <a:rPr lang="it-IT" altLang="en-US" dirty="0"/>
              <a:t>Si preferisce ricerca in avanti quando:</a:t>
            </a:r>
            <a:endParaRPr lang="en-GB" altLang="en-US" dirty="0"/>
          </a:p>
          <a:p>
            <a:pPr lvl="1"/>
            <a:r>
              <a:rPr lang="it-IT" altLang="en-US" dirty="0"/>
              <a:t>gli obiettivi possibili sono molti (</a:t>
            </a:r>
            <a:r>
              <a:rPr lang="it-IT" altLang="en-US" i="1" dirty="0"/>
              <a:t>design</a:t>
            </a:r>
            <a:r>
              <a:rPr lang="it-IT" altLang="en-US" dirty="0"/>
              <a:t>)</a:t>
            </a:r>
            <a:endParaRPr lang="en-GB" altLang="en-US" dirty="0"/>
          </a:p>
          <a:p>
            <a:pPr lvl="1"/>
            <a:r>
              <a:rPr lang="it-IT" altLang="en-US" dirty="0"/>
              <a:t>abbiamo una serie di dati da cui partire</a:t>
            </a:r>
            <a:r>
              <a:rPr lang="en-GB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67311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0213" y="434975"/>
            <a:ext cx="86375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bidirezionale</a:t>
            </a:r>
            <a:endParaRPr lang="en-GB" sz="4400" dirty="0">
              <a:ea typeface="+mj-ea"/>
              <a:cs typeface="+mj-cs"/>
            </a:endParaRPr>
          </a:p>
        </p:txBody>
      </p:sp>
      <p:pic>
        <p:nvPicPr>
          <p:cNvPr id="105474" name="Picture 4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420938"/>
            <a:ext cx="7129462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3" name="Text Box 5"/>
          <p:cNvSpPr txBox="1">
            <a:spLocks noChangeArrowheads="1"/>
          </p:cNvSpPr>
          <p:nvPr/>
        </p:nvSpPr>
        <p:spPr bwMode="auto">
          <a:xfrm>
            <a:off x="533400" y="1371600"/>
            <a:ext cx="8153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sz="3200" b="0" dirty="0">
                <a:latin typeface="+mj-lt"/>
                <a:ea typeface="ＭＳ Ｐゴシック" charset="0"/>
                <a:cs typeface="Times New Roman" charset="0"/>
              </a:rPr>
              <a:t>Si procede nelle due direzioni fino ad incontrarsi</a:t>
            </a:r>
            <a:r>
              <a:rPr lang="en-GB" b="0" dirty="0">
                <a:latin typeface="+mj-lt"/>
                <a:ea typeface="ＭＳ Ｐゴシック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05534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476250"/>
            <a:ext cx="7638876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bidirezionale</a:t>
            </a:r>
            <a:r>
              <a:rPr lang="en-US" sz="4400" dirty="0">
                <a:ea typeface="+mj-ea"/>
                <a:cs typeface="+mj-cs"/>
              </a:rPr>
              <a:t>: </a:t>
            </a:r>
            <a:r>
              <a:rPr lang="en-US" sz="4400" dirty="0" err="1">
                <a:ea typeface="+mj-ea"/>
                <a:cs typeface="+mj-cs"/>
              </a:rPr>
              <a:t>analisi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720552"/>
            <a:ext cx="8706866" cy="48768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Complessità tempo: O(</a:t>
            </a:r>
            <a:r>
              <a:rPr lang="it-IT" altLang="en-US" i="1" dirty="0">
                <a:cs typeface="Times New Roman" panose="02020603050405020304" pitchFamily="18" charset="0"/>
              </a:rPr>
              <a:t>b</a:t>
            </a:r>
            <a:r>
              <a:rPr lang="it-IT" altLang="en-US" i="1" baseline="30000" dirty="0">
                <a:cs typeface="Times New Roman" panose="02020603050405020304" pitchFamily="18" charset="0"/>
              </a:rPr>
              <a:t>d/2</a:t>
            </a:r>
            <a:r>
              <a:rPr lang="it-IT" altLang="en-US" dirty="0">
                <a:cs typeface="Times New Roman" panose="02020603050405020304" pitchFamily="18" charset="0"/>
              </a:rPr>
              <a:t>)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	(test intersezione in tempo costante, es. hash table)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en-US" dirty="0">
                <a:cs typeface="Times New Roman" panose="02020603050405020304" pitchFamily="18" charset="0"/>
              </a:rPr>
              <a:t>Complessità spazio: O(</a:t>
            </a:r>
            <a:r>
              <a:rPr lang="it-IT" altLang="en-US" i="1" dirty="0">
                <a:cs typeface="Times New Roman" panose="02020603050405020304" pitchFamily="18" charset="0"/>
              </a:rPr>
              <a:t>b</a:t>
            </a:r>
            <a:r>
              <a:rPr lang="it-IT" altLang="en-US" i="1" baseline="30000" dirty="0">
                <a:cs typeface="Times New Roman" panose="02020603050405020304" pitchFamily="18" charset="0"/>
              </a:rPr>
              <a:t>d/2</a:t>
            </a:r>
            <a:r>
              <a:rPr lang="it-IT" altLang="en-US" dirty="0">
                <a:cs typeface="Times New Roman" panose="02020603050405020304" pitchFamily="18" charset="0"/>
              </a:rPr>
              <a:t>)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	(almeno tutti i nodi in una direzione in memoria, es usando BF)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NOTA: non sempre applicabile, es. predecessori non definiti, troppi stati obiettivo … 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6799996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43497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Confronto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delle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strategie</a:t>
            </a:r>
            <a:r>
              <a:rPr lang="en-US" sz="4400" dirty="0">
                <a:ea typeface="+mj-ea"/>
                <a:cs typeface="+mj-cs"/>
              </a:rPr>
              <a:t> (</a:t>
            </a:r>
            <a:r>
              <a:rPr lang="en-US" sz="4400" dirty="0" err="1">
                <a:ea typeface="+mj-ea"/>
                <a:cs typeface="+mj-cs"/>
              </a:rPr>
              <a:t>albero</a:t>
            </a:r>
            <a:r>
              <a:rPr lang="en-US" sz="4400" dirty="0">
                <a:ea typeface="+mj-ea"/>
                <a:cs typeface="+mj-cs"/>
              </a:rPr>
              <a:t>)</a:t>
            </a:r>
            <a:endParaRPr lang="en-GB" sz="4400" dirty="0">
              <a:ea typeface="+mj-ea"/>
              <a:cs typeface="+mj-cs"/>
            </a:endParaRPr>
          </a:p>
        </p:txBody>
      </p:sp>
      <p:graphicFrame>
        <p:nvGraphicFramePr>
          <p:cNvPr id="147542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623490"/>
              </p:ext>
            </p:extLst>
          </p:nvPr>
        </p:nvGraphicFramePr>
        <p:xfrm>
          <a:off x="395288" y="1700808"/>
          <a:ext cx="7993136" cy="3093292"/>
        </p:xfrm>
        <a:graphic>
          <a:graphicData uri="http://schemas.openxmlformats.org/drawingml/2006/table">
            <a:tbl>
              <a:tblPr/>
              <a:tblGrid>
                <a:gridCol w="1524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3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0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99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66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Criterio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</a:txBody>
                  <a:tcPr marL="91439" marR="91439" marT="45703" marB="4570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BF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UC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DF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DL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ID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Bidir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</a:txBody>
                  <a:tcPr marL="91439" marR="91439"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Breadth-first</a:t>
                      </a: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+mn-cs"/>
                        </a:rPr>
                        <a:t>Uniform Cost</a:t>
                      </a: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Depth-first</a:t>
                      </a: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Limited Depth</a:t>
                      </a: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Iterative Depth</a:t>
                      </a: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Bidirectional</a:t>
                      </a: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24310"/>
                  </a:ext>
                </a:extLst>
              </a:tr>
              <a:tr h="2178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Completa?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 </a:t>
                      </a:r>
                      <a:endParaRPr kumimoji="0" lang="it-IT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Tempo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Spazio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Ottimale?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</a:txBody>
                  <a:tcPr marL="91439" marR="91439"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si</a:t>
                      </a:r>
                      <a:endParaRPr kumimoji="0" lang="it-IT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it-IT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d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it-IT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r>
                        <a:rPr kumimoji="0" lang="it-IT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si(*)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si(^)</a:t>
                      </a:r>
                      <a:endParaRPr kumimoji="0" lang="it-IT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O(b</a:t>
                      </a:r>
                      <a:r>
                        <a:rPr kumimoji="0" lang="it-IT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1+</a:t>
                      </a:r>
                      <a:r>
                        <a:rPr kumimoji="0" lang="it-IT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sym typeface="Symbol" charset="0"/>
                        </a:rPr>
                        <a:t></a:t>
                      </a:r>
                      <a:r>
                        <a:rPr kumimoji="0" lang="it-IT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C</a:t>
                      </a:r>
                      <a:r>
                        <a:rPr kumimoji="0" lang="it-IT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*/</a:t>
                      </a:r>
                      <a:r>
                        <a:rPr kumimoji="0" lang="it-IT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sym typeface="Symbol" charset="0"/>
                        </a:rPr>
                        <a:t></a:t>
                      </a:r>
                      <a:r>
                        <a:rPr kumimoji="0" lang="it-IT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sym typeface="Symbol" charset="0"/>
                        </a:rPr>
                        <a:t>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r>
                        <a:rPr kumimoji="0" lang="it-IT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sym typeface="Symbol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r>
                        <a:rPr kumimoji="0" lang="it-IT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1+</a:t>
                      </a:r>
                      <a:r>
                        <a:rPr kumimoji="0" lang="it-IT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sym typeface="Symbol" charset="0"/>
                        </a:rPr>
                        <a:t></a:t>
                      </a:r>
                      <a:r>
                        <a:rPr kumimoji="0" lang="it-IT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C*/</a:t>
                      </a:r>
                      <a:r>
                        <a:rPr kumimoji="0" lang="it-IT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sym typeface="Symbol" charset="0"/>
                        </a:rPr>
                        <a:t></a:t>
                      </a:r>
                      <a:r>
                        <a:rPr kumimoji="0" lang="it-IT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sym typeface="Symbol" charset="0"/>
                        </a:rPr>
                        <a:t>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si(^)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no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it-IT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m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it-IT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bm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no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si (+)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 </a:t>
                      </a:r>
                      <a:endParaRPr kumimoji="0" lang="it-IT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it-IT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b</a:t>
                      </a:r>
                      <a:r>
                        <a:rPr lang="it-IT" sz="2000" baseline="30000" dirty="0" err="1">
                          <a:latin typeface="+mj-lt"/>
                          <a:cs typeface="Brush Script MT Italic"/>
                        </a:rPr>
                        <a:t>l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lang="it-IT" sz="2000" baseline="30000" dirty="0">
                        <a:latin typeface="+mj-lt"/>
                        <a:cs typeface="Brush Script MT Italic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it-IT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r>
                        <a:rPr lang="it-IT" sz="2000" dirty="0" err="1">
                          <a:latin typeface="+mj-lt"/>
                          <a:cs typeface="Brush Script MT Italic"/>
                        </a:rPr>
                        <a:t>l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lang="it-IT" sz="2000" dirty="0">
                        <a:latin typeface="+mj-lt"/>
                        <a:cs typeface="Brush Script MT Italic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no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si</a:t>
                      </a:r>
                      <a:endParaRPr kumimoji="0" lang="it-IT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it-IT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d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it-IT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bd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si(*)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si</a:t>
                      </a:r>
                      <a:endParaRPr kumimoji="0" lang="en-GB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en-GB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b</a:t>
                      </a:r>
                      <a:r>
                        <a:rPr kumimoji="0" lang="en-GB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d</a:t>
                      </a:r>
                      <a:r>
                        <a:rPr kumimoji="0" lang="en-GB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/2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</a:rPr>
                        <a:t>O(</a:t>
                      </a:r>
                      <a:r>
                        <a:rPr kumimoji="0" lang="en-GB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r>
                        <a:rPr kumimoji="0" lang="en-GB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en-GB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/2</a:t>
                      </a:r>
                      <a:r>
                        <a:rPr kumimoji="0" lang="it-IT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0"/>
                        <a:cs typeface="Times New Roman" charset="0"/>
                      </a:endParaRPr>
                    </a:p>
                  </a:txBody>
                  <a:tcPr marL="91439" marR="91439"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7515" name="Text Box 59"/>
          <p:cNvSpPr txBox="1">
            <a:spLocks noChangeArrowheads="1"/>
          </p:cNvSpPr>
          <p:nvPr/>
        </p:nvSpPr>
        <p:spPr bwMode="auto">
          <a:xfrm>
            <a:off x="468313" y="4749378"/>
            <a:ext cx="8458200" cy="163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it-IT" altLang="en-US" b="0" dirty="0">
                <a:latin typeface="+mj-lt"/>
                <a:cs typeface="Times New Roman" panose="02020603050405020304" pitchFamily="18" charset="0"/>
              </a:rPr>
              <a:t>(*)  se gli operatori hanno tutti lo stesso costo</a:t>
            </a:r>
            <a:endParaRPr lang="en-GB" altLang="en-US" b="0" dirty="0">
              <a:latin typeface="+mj-lt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b="0" dirty="0">
                <a:latin typeface="+mj-lt"/>
                <a:cs typeface="Times New Roman" panose="02020603050405020304" pitchFamily="18" charset="0"/>
              </a:rPr>
              <a:t>(^) per costi degli archi </a:t>
            </a:r>
            <a:r>
              <a:rPr lang="en-GB" altLang="en-US" b="0" dirty="0">
                <a:latin typeface="+mj-lt"/>
                <a:sym typeface="Symbol" panose="05050102010706020507" pitchFamily="18" charset="2"/>
              </a:rPr>
              <a:t>  &gt; 0</a:t>
            </a:r>
            <a:endParaRPr lang="en-GB" altLang="en-US" b="0" dirty="0">
              <a:latin typeface="+mj-lt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it-IT" altLang="en-US" b="0" dirty="0">
                <a:latin typeface="+mj-lt"/>
                <a:cs typeface="Times New Roman" panose="02020603050405020304" pitchFamily="18" charset="0"/>
              </a:rPr>
              <a:t>(+)  per problemi per cui si conosce un limite alla</a:t>
            </a:r>
            <a:endParaRPr lang="en-GB" altLang="en-US" b="0" dirty="0">
              <a:latin typeface="+mj-lt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b="0" dirty="0">
                <a:latin typeface="+mj-lt"/>
                <a:cs typeface="Times New Roman" panose="02020603050405020304" pitchFamily="18" charset="0"/>
              </a:rPr>
              <a:t>      profondità della soluzione (se </a:t>
            </a:r>
            <a:r>
              <a:rPr lang="it-IT" altLang="en-US" sz="2800" b="0" i="1" dirty="0">
                <a:latin typeface="+mj-lt"/>
              </a:rPr>
              <a:t>l</a:t>
            </a:r>
            <a:r>
              <a:rPr lang="en-GB" altLang="en-US" sz="2800" b="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altLang="en-US" b="0" dirty="0">
                <a:latin typeface="+mj-lt"/>
                <a:cs typeface="Times New Roman" panose="02020603050405020304" pitchFamily="18" charset="0"/>
              </a:rPr>
              <a:t>&gt;d)</a:t>
            </a:r>
            <a:endParaRPr lang="en-GB" altLang="en-US" b="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6585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314325"/>
            <a:ext cx="6198716" cy="10414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su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grafi</a:t>
            </a:r>
            <a:r>
              <a:rPr lang="en-US" sz="4400" dirty="0">
                <a:ea typeface="+mj-ea"/>
                <a:cs typeface="+mj-cs"/>
              </a:rPr>
              <a:t>: </a:t>
            </a:r>
            <a:br>
              <a:rPr lang="en-US" sz="4400" dirty="0">
                <a:ea typeface="+mj-ea"/>
                <a:cs typeface="+mj-cs"/>
              </a:rPr>
            </a:br>
            <a:r>
              <a:rPr lang="en-US" sz="4400" dirty="0" err="1">
                <a:ea typeface="+mj-ea"/>
                <a:cs typeface="+mj-cs"/>
              </a:rPr>
              <a:t>cammini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ciclici</a:t>
            </a:r>
            <a:endParaRPr lang="en-GB" sz="4400" dirty="0">
              <a:ea typeface="+mj-ea"/>
              <a:cs typeface="+mj-cs"/>
            </a:endParaRPr>
          </a:p>
        </p:txBody>
      </p:sp>
      <p:pic>
        <p:nvPicPr>
          <p:cNvPr id="111618" name="Picture 4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282825"/>
            <a:ext cx="6781800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797" name="Text Box 5"/>
          <p:cNvSpPr txBox="1">
            <a:spLocks noChangeArrowheads="1"/>
          </p:cNvSpPr>
          <p:nvPr/>
        </p:nvSpPr>
        <p:spPr bwMode="auto">
          <a:xfrm>
            <a:off x="533400" y="1500187"/>
            <a:ext cx="8077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b="0" dirty="0">
                <a:latin typeface="+mj-lt"/>
                <a:ea typeface="ＭＳ Ｐゴシック" charset="0"/>
                <a:cs typeface="Times New Roman" charset="0"/>
              </a:rPr>
              <a:t>I cammini ciclici rendono gli alberi di ricerca infiniti</a:t>
            </a:r>
            <a:endParaRPr lang="en-GB" b="0" dirty="0">
              <a:latin typeface="+mj-lt"/>
              <a:ea typeface="ＭＳ Ｐゴシック" charset="0"/>
            </a:endParaRPr>
          </a:p>
        </p:txBody>
      </p:sp>
      <p:sp>
        <p:nvSpPr>
          <p:cNvPr id="161798" name="Rectangle 6"/>
          <p:cNvSpPr>
            <a:spLocks noChangeArrowheads="1"/>
          </p:cNvSpPr>
          <p:nvPr/>
        </p:nvSpPr>
        <p:spPr bwMode="auto">
          <a:xfrm>
            <a:off x="1403350" y="3284538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grpSp>
        <p:nvGrpSpPr>
          <p:cNvPr id="161806" name="Group 14"/>
          <p:cNvGrpSpPr>
            <a:grpSpLocks/>
          </p:cNvGrpSpPr>
          <p:nvPr/>
        </p:nvGrpSpPr>
        <p:grpSpPr bwMode="auto">
          <a:xfrm>
            <a:off x="1403350" y="2781300"/>
            <a:ext cx="1655763" cy="1727200"/>
            <a:chOff x="884" y="1752"/>
            <a:chExt cx="1043" cy="1088"/>
          </a:xfrm>
        </p:grpSpPr>
        <p:sp>
          <p:nvSpPr>
            <p:cNvPr id="161800" name="Rectangle 8"/>
            <p:cNvSpPr>
              <a:spLocks noChangeArrowheads="1"/>
            </p:cNvSpPr>
            <p:nvPr/>
          </p:nvSpPr>
          <p:spPr bwMode="auto">
            <a:xfrm>
              <a:off x="1020" y="1752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it-IT" b="0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01" name="Rectangle 9"/>
            <p:cNvSpPr>
              <a:spLocks noChangeArrowheads="1"/>
            </p:cNvSpPr>
            <p:nvPr/>
          </p:nvSpPr>
          <p:spPr bwMode="auto">
            <a:xfrm>
              <a:off x="1791" y="2341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02" name="Rectangle 10"/>
            <p:cNvSpPr>
              <a:spLocks noChangeArrowheads="1"/>
            </p:cNvSpPr>
            <p:nvPr/>
          </p:nvSpPr>
          <p:spPr bwMode="auto">
            <a:xfrm>
              <a:off x="884" y="2704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03" name="Line 11"/>
            <p:cNvSpPr>
              <a:spLocks noChangeShapeType="1"/>
            </p:cNvSpPr>
            <p:nvPr/>
          </p:nvSpPr>
          <p:spPr bwMode="auto">
            <a:xfrm flipV="1">
              <a:off x="930" y="1842"/>
              <a:ext cx="136" cy="22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04" name="Line 12"/>
            <p:cNvSpPr>
              <a:spLocks noChangeShapeType="1"/>
            </p:cNvSpPr>
            <p:nvPr/>
          </p:nvSpPr>
          <p:spPr bwMode="auto">
            <a:xfrm>
              <a:off x="1020" y="2160"/>
              <a:ext cx="771" cy="22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05" name="Line 13"/>
            <p:cNvSpPr>
              <a:spLocks noChangeShapeType="1"/>
            </p:cNvSpPr>
            <p:nvPr/>
          </p:nvSpPr>
          <p:spPr bwMode="auto">
            <a:xfrm>
              <a:off x="930" y="2205"/>
              <a:ext cx="0" cy="499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403350" y="2276475"/>
            <a:ext cx="2952750" cy="2232025"/>
            <a:chOff x="1403648" y="2277095"/>
            <a:chExt cx="2952750" cy="2232025"/>
          </a:xfrm>
        </p:grpSpPr>
        <p:sp>
          <p:nvSpPr>
            <p:cNvPr id="161807" name="Rectangle 15"/>
            <p:cNvSpPr>
              <a:spLocks noChangeArrowheads="1"/>
            </p:cNvSpPr>
            <p:nvPr/>
          </p:nvSpPr>
          <p:spPr bwMode="auto">
            <a:xfrm>
              <a:off x="2843511" y="3716958"/>
              <a:ext cx="215900" cy="21590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08" name="Rectangle 16"/>
            <p:cNvSpPr>
              <a:spLocks noChangeArrowheads="1"/>
            </p:cNvSpPr>
            <p:nvPr/>
          </p:nvSpPr>
          <p:spPr bwMode="auto">
            <a:xfrm>
              <a:off x="1403648" y="3285158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it-IT" b="0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10" name="Rectangle 18"/>
            <p:cNvSpPr>
              <a:spLocks noChangeArrowheads="1"/>
            </p:cNvSpPr>
            <p:nvPr/>
          </p:nvSpPr>
          <p:spPr bwMode="auto">
            <a:xfrm>
              <a:off x="3203873" y="429322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11" name="Rectangle 19"/>
            <p:cNvSpPr>
              <a:spLocks noChangeArrowheads="1"/>
            </p:cNvSpPr>
            <p:nvPr/>
          </p:nvSpPr>
          <p:spPr bwMode="auto">
            <a:xfrm>
              <a:off x="4140498" y="3789983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12" name="Rectangle 20"/>
            <p:cNvSpPr>
              <a:spLocks noChangeArrowheads="1"/>
            </p:cNvSpPr>
            <p:nvPr/>
          </p:nvSpPr>
          <p:spPr bwMode="auto">
            <a:xfrm>
              <a:off x="1908473" y="2277095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13" name="Line 21"/>
            <p:cNvSpPr>
              <a:spLocks noChangeShapeType="1"/>
            </p:cNvSpPr>
            <p:nvPr/>
          </p:nvSpPr>
          <p:spPr bwMode="auto">
            <a:xfrm flipH="1" flipV="1">
              <a:off x="2051348" y="2421558"/>
              <a:ext cx="865188" cy="12954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17" name="Line 25"/>
            <p:cNvSpPr>
              <a:spLocks noChangeShapeType="1"/>
            </p:cNvSpPr>
            <p:nvPr/>
          </p:nvSpPr>
          <p:spPr bwMode="auto">
            <a:xfrm flipH="1" flipV="1">
              <a:off x="3059411" y="3861420"/>
              <a:ext cx="1081087" cy="7143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61819" name="Line 27"/>
            <p:cNvSpPr>
              <a:spLocks noChangeShapeType="1"/>
            </p:cNvSpPr>
            <p:nvPr/>
          </p:nvSpPr>
          <p:spPr bwMode="auto">
            <a:xfrm>
              <a:off x="2987973" y="3934445"/>
              <a:ext cx="215900" cy="35877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H="1" flipV="1">
              <a:off x="1619548" y="3429620"/>
              <a:ext cx="1223963" cy="358775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225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8463" y="620713"/>
            <a:ext cx="8421687" cy="7699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su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grafi</a:t>
            </a:r>
            <a:r>
              <a:rPr lang="en-US" sz="4400" dirty="0">
                <a:ea typeface="+mj-ea"/>
                <a:cs typeface="+mj-cs"/>
              </a:rPr>
              <a:t>: </a:t>
            </a:r>
            <a:br>
              <a:rPr lang="en-US" sz="4400" dirty="0">
                <a:ea typeface="+mj-ea"/>
                <a:cs typeface="+mj-cs"/>
              </a:rPr>
            </a:br>
            <a:r>
              <a:rPr lang="en-US" sz="4400" dirty="0" err="1">
                <a:ea typeface="+mj-ea"/>
                <a:cs typeface="+mj-cs"/>
              </a:rPr>
              <a:t>ridondanze</a:t>
            </a:r>
            <a:endParaRPr lang="en-GB" sz="4400" dirty="0">
              <a:ea typeface="+mj-ea"/>
              <a:cs typeface="+mj-cs"/>
            </a:endParaRPr>
          </a:p>
        </p:txBody>
      </p:sp>
      <p:pic>
        <p:nvPicPr>
          <p:cNvPr id="113666" name="Picture 4" descr="fig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179763"/>
            <a:ext cx="6375400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468313" y="1484313"/>
            <a:ext cx="770408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en-US" sz="3200" b="0" dirty="0">
                <a:latin typeface="+mj-lt"/>
                <a:cs typeface="Times New Roman" panose="02020603050405020304" pitchFamily="18" charset="0"/>
              </a:rPr>
              <a:t>Su spazi di stati a grafo si generano più volte gli stessi nodi nella ricerca, </a:t>
            </a:r>
            <a:r>
              <a:rPr lang="it-IT" altLang="en-US" sz="3200" b="0" dirty="0">
                <a:solidFill>
                  <a:srgbClr val="009999"/>
                </a:solidFill>
                <a:latin typeface="+mj-lt"/>
                <a:cs typeface="Times New Roman" panose="02020603050405020304" pitchFamily="18" charset="0"/>
              </a:rPr>
              <a:t>anche in assenza di cicli</a:t>
            </a:r>
            <a:r>
              <a:rPr lang="it-IT" altLang="en-US" sz="3200" b="0" dirty="0">
                <a:latin typeface="+mj-lt"/>
                <a:cs typeface="Times New Roman" panose="02020603050405020304" pitchFamily="18" charset="0"/>
              </a:rPr>
              <a:t>.</a:t>
            </a:r>
            <a:endParaRPr lang="en-GB" altLang="en-US" sz="3200" b="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284397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333375"/>
            <a:ext cx="8637588" cy="8239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en-US" dirty="0" err="1">
                <a:ea typeface="+mj-ea"/>
              </a:rPr>
              <a:t>Ridondanza</a:t>
            </a:r>
            <a:r>
              <a:rPr lang="en-US" dirty="0">
                <a:ea typeface="+mj-ea"/>
              </a:rPr>
              <a:t> </a:t>
            </a:r>
            <a:r>
              <a:rPr lang="en-US" dirty="0" err="1">
                <a:ea typeface="+mj-ea"/>
              </a:rPr>
              <a:t>nelle</a:t>
            </a:r>
            <a:r>
              <a:rPr lang="en-US" dirty="0">
                <a:ea typeface="+mj-ea"/>
              </a:rPr>
              <a:t> </a:t>
            </a:r>
            <a:r>
              <a:rPr lang="en-US" dirty="0" err="1">
                <a:ea typeface="+mj-ea"/>
              </a:rPr>
              <a:t>griglie</a:t>
            </a:r>
            <a:endParaRPr lang="en-US" dirty="0">
              <a:ea typeface="+mj-ea"/>
            </a:endParaRPr>
          </a:p>
        </p:txBody>
      </p:sp>
      <p:pic>
        <p:nvPicPr>
          <p:cNvPr id="115714" name="Picture 11" descr="griglia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484313"/>
            <a:ext cx="8748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468313" y="5013325"/>
            <a:ext cx="82296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en-US" sz="3200" b="0" dirty="0">
                <a:latin typeface="+mj-lt"/>
                <a:cs typeface="Times New Roman" panose="02020603050405020304" pitchFamily="18" charset="0"/>
              </a:rPr>
              <a:t>Visitare stati già visitati fa compiere lavoro inutile. Come evitarlo?</a:t>
            </a:r>
            <a:r>
              <a:rPr lang="en-GB" altLang="en-US" sz="3200" b="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1441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976344"/>
          </a:xfrm>
        </p:spPr>
        <p:txBody>
          <a:bodyPr/>
          <a:lstStyle/>
          <a:p>
            <a:r>
              <a:rPr lang="it-IT" dirty="0"/>
              <a:t>Come fare meglio</a:t>
            </a:r>
          </a:p>
        </p:txBody>
      </p:sp>
      <p:pic>
        <p:nvPicPr>
          <p:cNvPr id="8" name="Segnaposto contenuto 7" descr="Freccia circolare con riempimento a tinta unita">
            <a:extLst>
              <a:ext uri="{FF2B5EF4-FFF2-40B4-BE49-F238E27FC236}">
                <a16:creationId xmlns:a16="http://schemas.microsoft.com/office/drawing/2014/main" id="{B3165CDE-31E7-451D-B1FB-5B3127A49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2369" y="3547269"/>
            <a:ext cx="914400" cy="9144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77200" y="19050"/>
            <a:ext cx="1066800" cy="32861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7DAAE82-F564-4FE7-8753-3D1FD589D700}" type="slidenum">
              <a:rPr lang="it-IT" noProof="0" smtClean="0"/>
              <a:pPr>
                <a:defRPr/>
              </a:pPr>
              <a:t>64</a:t>
            </a:fld>
            <a:endParaRPr lang="it-IT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249" y="1600200"/>
            <a:ext cx="5869501" cy="50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1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404664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Compromesso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tra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spazio</a:t>
            </a:r>
            <a:r>
              <a:rPr lang="en-US" sz="4400" dirty="0">
                <a:ea typeface="+mj-ea"/>
                <a:cs typeface="+mj-cs"/>
              </a:rPr>
              <a:t> e tempo</a:t>
            </a:r>
            <a:endParaRPr lang="it-IT" sz="4400" dirty="0">
              <a:ea typeface="+mj-ea"/>
              <a:cs typeface="+mj-cs"/>
            </a:endParaRPr>
          </a:p>
        </p:txBody>
      </p:sp>
      <p:sp>
        <p:nvSpPr>
          <p:cNvPr id="1802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5251400"/>
            <a:ext cx="8229600" cy="15619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sz="2600" dirty="0" err="1"/>
              <a:t>Ricordare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gli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stati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già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visitati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occupa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spazio</a:t>
            </a:r>
            <a:r>
              <a:rPr lang="en-US" altLang="en-US" sz="2600" dirty="0"/>
              <a:t> ma ci </a:t>
            </a:r>
            <a:r>
              <a:rPr lang="en-US" altLang="en-US" sz="2600" dirty="0" err="1"/>
              <a:t>consente</a:t>
            </a:r>
            <a:r>
              <a:rPr lang="en-US" altLang="en-US" sz="2600" dirty="0"/>
              <a:t> di </a:t>
            </a:r>
            <a:r>
              <a:rPr lang="en-US" altLang="en-US" sz="2600" dirty="0" err="1"/>
              <a:t>evitare</a:t>
            </a:r>
            <a:r>
              <a:rPr lang="en-US" altLang="en-US" sz="2600" dirty="0"/>
              <a:t> di </a:t>
            </a:r>
            <a:r>
              <a:rPr lang="en-US" altLang="en-US" sz="2600" dirty="0" err="1"/>
              <a:t>visitarli</a:t>
            </a:r>
            <a:r>
              <a:rPr lang="en-US" altLang="en-US" sz="2600" dirty="0"/>
              <a:t> di </a:t>
            </a:r>
            <a:r>
              <a:rPr lang="en-US" altLang="en-US" sz="2600" dirty="0" err="1"/>
              <a:t>nuovo</a:t>
            </a:r>
            <a:endParaRPr lang="en-US" altLang="en-US" sz="2600" dirty="0"/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en-US" sz="2600" i="1" dirty="0" err="1"/>
              <a:t>Gli</a:t>
            </a:r>
            <a:r>
              <a:rPr lang="en-US" altLang="en-US" sz="2600" i="1" dirty="0"/>
              <a:t> </a:t>
            </a:r>
            <a:r>
              <a:rPr lang="en-US" altLang="en-US" sz="2600" i="1" dirty="0" err="1"/>
              <a:t>algoritmi</a:t>
            </a:r>
            <a:r>
              <a:rPr lang="en-US" altLang="en-US" sz="2600" i="1" dirty="0"/>
              <a:t> </a:t>
            </a:r>
            <a:r>
              <a:rPr lang="en-US" altLang="en-US" sz="2600" i="1" dirty="0" err="1"/>
              <a:t>che</a:t>
            </a:r>
            <a:r>
              <a:rPr lang="en-US" altLang="en-US" sz="2600" i="1" dirty="0"/>
              <a:t> </a:t>
            </a:r>
            <a:r>
              <a:rPr lang="en-US" altLang="en-US" sz="2600" i="1" dirty="0" err="1"/>
              <a:t>dimenticano</a:t>
            </a:r>
            <a:r>
              <a:rPr lang="en-US" altLang="en-US" sz="2600" i="1" dirty="0"/>
              <a:t> la </a:t>
            </a:r>
            <a:r>
              <a:rPr lang="en-US" altLang="en-US" sz="2600" i="1" dirty="0" err="1"/>
              <a:t>propria</a:t>
            </a:r>
            <a:r>
              <a:rPr lang="en-US" altLang="en-US" sz="2600" i="1" dirty="0"/>
              <a:t> </a:t>
            </a:r>
            <a:r>
              <a:rPr lang="en-US" altLang="en-US" sz="2600" i="1" dirty="0" err="1"/>
              <a:t>storia</a:t>
            </a:r>
            <a:r>
              <a:rPr lang="en-US" altLang="en-US" sz="2600" i="1" dirty="0"/>
              <a:t> </a:t>
            </a:r>
            <a:r>
              <a:rPr lang="en-US" altLang="en-US" sz="2600" i="1" dirty="0" err="1"/>
              <a:t>sono</a:t>
            </a:r>
            <a:r>
              <a:rPr lang="en-US" altLang="en-US" sz="2600" i="1" dirty="0"/>
              <a:t> </a:t>
            </a:r>
            <a:r>
              <a:rPr lang="en-US" altLang="en-US" sz="2600" i="1" dirty="0" err="1"/>
              <a:t>destinati</a:t>
            </a:r>
            <a:r>
              <a:rPr lang="en-US" altLang="en-US" sz="2600" i="1" dirty="0"/>
              <a:t> a </a:t>
            </a:r>
            <a:r>
              <a:rPr lang="en-US" altLang="en-US" sz="2600" i="1" dirty="0" err="1"/>
              <a:t>ripeterla</a:t>
            </a:r>
            <a:r>
              <a:rPr lang="en-US" altLang="en-US" sz="2600" i="1" dirty="0"/>
              <a:t>!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it-IT" altLang="en-US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20445"/>
          <a:stretch/>
        </p:blipFill>
        <p:spPr>
          <a:xfrm>
            <a:off x="1637249" y="1290489"/>
            <a:ext cx="5599047" cy="38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70029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58365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Tre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soluzioni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1"/>
          </p:nvPr>
        </p:nvSpPr>
        <p:spPr>
          <a:xfrm>
            <a:off x="388938" y="1412453"/>
            <a:ext cx="7711454" cy="49688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it-IT" altLang="en-US" dirty="0">
                <a:cs typeface="Times New Roman" panose="02020603050405020304" pitchFamily="18" charset="0"/>
              </a:rPr>
              <a:t>In ordine crescente di costo e di efficacia: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it-IT" altLang="en-US" dirty="0">
                <a:cs typeface="Times New Roman" panose="02020603050405020304" pitchFamily="18" charset="0"/>
              </a:rPr>
              <a:t>Non tornare nello stato da cui si proviene: si elimina il genitore dai nodi successori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it-IT" altLang="en-US" dirty="0">
                <a:cs typeface="Times New Roman" panose="02020603050405020304" pitchFamily="18" charset="0"/>
              </a:rPr>
              <a:t>Non creare cammini con cicli: si controlla che i successori non siano antenati del nodo corrente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it-IT" altLang="en-US" dirty="0">
                <a:cs typeface="Times New Roman" panose="02020603050405020304" pitchFamily="18" charset="0"/>
              </a:rPr>
              <a:t>Non generare nodi con stati già visitati: ogni nodo visitato deve essere tenuto in memoria per una complessità O(</a:t>
            </a:r>
            <a:r>
              <a:rPr lang="it-IT" altLang="en-US" i="1" dirty="0">
                <a:cs typeface="Times New Roman" panose="02020603050405020304" pitchFamily="18" charset="0"/>
              </a:rPr>
              <a:t>s</a:t>
            </a:r>
            <a:r>
              <a:rPr lang="it-IT" altLang="en-US" dirty="0">
                <a:cs typeface="Times New Roman" panose="02020603050405020304" pitchFamily="18" charset="0"/>
              </a:rPr>
              <a:t>) dove </a:t>
            </a:r>
            <a:r>
              <a:rPr lang="it-IT" altLang="en-US" i="1" dirty="0">
                <a:cs typeface="Times New Roman" panose="02020603050405020304" pitchFamily="18" charset="0"/>
              </a:rPr>
              <a:t>s</a:t>
            </a:r>
            <a:r>
              <a:rPr lang="it-IT" altLang="en-US" dirty="0">
                <a:cs typeface="Times New Roman" panose="02020603050405020304" pitchFamily="18" charset="0"/>
              </a:rPr>
              <a:t> è il numero di stati possibili (</a:t>
            </a:r>
            <a:r>
              <a:rPr lang="it-IT" altLang="en-US" i="1" dirty="0" err="1">
                <a:cs typeface="Times New Roman" panose="02020603050405020304" pitchFamily="18" charset="0"/>
              </a:rPr>
              <a:t>hash</a:t>
            </a:r>
            <a:r>
              <a:rPr lang="it-IT" altLang="en-US" i="1" dirty="0">
                <a:cs typeface="Times New Roman" panose="02020603050405020304" pitchFamily="18" charset="0"/>
              </a:rPr>
              <a:t> </a:t>
            </a:r>
            <a:r>
              <a:rPr lang="it-IT" altLang="en-US" i="1" dirty="0" err="1">
                <a:cs typeface="Times New Roman" panose="02020603050405020304" pitchFamily="18" charset="0"/>
              </a:rPr>
              <a:t>table</a:t>
            </a:r>
            <a:r>
              <a:rPr lang="it-IT" altLang="en-US" dirty="0">
                <a:cs typeface="Times New Roman" panose="02020603050405020304" pitchFamily="18" charset="0"/>
              </a:rPr>
              <a:t>).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GB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078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74688"/>
            <a:ext cx="8637588" cy="76993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su</a:t>
            </a:r>
            <a:r>
              <a:rPr lang="en-US" sz="4400" dirty="0">
                <a:ea typeface="+mj-ea"/>
                <a:cs typeface="+mj-cs"/>
              </a:rPr>
              <a:t> </a:t>
            </a:r>
            <a:r>
              <a:rPr lang="en-US" sz="4400" dirty="0" err="1">
                <a:ea typeface="+mj-ea"/>
                <a:cs typeface="+mj-cs"/>
              </a:rPr>
              <a:t>grafi</a:t>
            </a:r>
            <a:endParaRPr lang="it-IT" sz="4400" dirty="0">
              <a:ea typeface="+mj-ea"/>
              <a:cs typeface="+mj-cs"/>
            </a:endParaRP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Mantiene una lista dei nodi visitati (</a:t>
            </a:r>
            <a:r>
              <a:rPr lang="en-US" altLang="en-US" i="1">
                <a:solidFill>
                  <a:srgbClr val="009999"/>
                </a:solidFill>
              </a:rPr>
              <a:t>lista chiusa</a:t>
            </a:r>
            <a:r>
              <a:rPr lang="en-US" altLang="en-US"/>
              <a:t>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Prima di espandere un nodo si controlla se lo stato era stato già incontrato prima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Se questo succede, il nodo appena trovato non viene espanso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Ottimale solo se abbiamo la garanzia che il costo del nuovo cammino non è maggiore</a:t>
            </a:r>
          </a:p>
        </p:txBody>
      </p:sp>
    </p:spTree>
    <p:extLst>
      <p:ext uri="{BB962C8B-B14F-4D97-AF65-F5344CB8AC3E}">
        <p14:creationId xmlns:p14="http://schemas.microsoft.com/office/powerpoint/2010/main" val="133423112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476250"/>
            <a:ext cx="8637588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400" dirty="0" err="1">
                <a:ea typeface="+mj-ea"/>
              </a:rPr>
              <a:t>Ricerca</a:t>
            </a:r>
            <a:r>
              <a:rPr lang="en-US" sz="4400" dirty="0">
                <a:ea typeface="+mj-ea"/>
              </a:rPr>
              <a:t> </a:t>
            </a:r>
            <a:r>
              <a:rPr lang="en-US" sz="4400" dirty="0" err="1">
                <a:ea typeface="+mj-ea"/>
              </a:rPr>
              <a:t>sul</a:t>
            </a:r>
            <a:r>
              <a:rPr lang="en-US" sz="4400" dirty="0">
                <a:ea typeface="+mj-ea"/>
              </a:rPr>
              <a:t> </a:t>
            </a:r>
            <a:r>
              <a:rPr lang="en-US" sz="4400" dirty="0" err="1">
                <a:ea typeface="+mj-ea"/>
              </a:rPr>
              <a:t>grafo</a:t>
            </a:r>
            <a:r>
              <a:rPr lang="en-US" sz="4400" dirty="0">
                <a:ea typeface="+mj-ea"/>
              </a:rPr>
              <a:t> </a:t>
            </a:r>
            <a:r>
              <a:rPr lang="en-US" sz="4400" dirty="0" err="1">
                <a:ea typeface="+mj-ea"/>
              </a:rPr>
              <a:t>della</a:t>
            </a:r>
            <a:r>
              <a:rPr lang="en-US" sz="4400" dirty="0">
                <a:ea typeface="+mj-ea"/>
              </a:rPr>
              <a:t> Romania</a:t>
            </a:r>
          </a:p>
        </p:txBody>
      </p:sp>
      <p:pic>
        <p:nvPicPr>
          <p:cNvPr id="122882" name="Picture 2" descr="romania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3238"/>
            <a:ext cx="9144000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4765" y="4797152"/>
            <a:ext cx="8381692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273050" indent="-273050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+mj-lt"/>
              </a:rPr>
              <a:t>La </a:t>
            </a:r>
            <a:r>
              <a:rPr lang="en-US" altLang="en-US" b="0" dirty="0" err="1">
                <a:latin typeface="+mj-lt"/>
              </a:rPr>
              <a:t>ricerca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su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grafo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esplora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uno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stato</a:t>
            </a:r>
            <a:r>
              <a:rPr lang="en-US" altLang="en-US" b="0" dirty="0">
                <a:latin typeface="+mj-lt"/>
              </a:rPr>
              <a:t> al </a:t>
            </a:r>
            <a:r>
              <a:rPr lang="en-US" altLang="en-US" b="0" dirty="0" err="1">
                <a:latin typeface="+mj-lt"/>
              </a:rPr>
              <a:t>più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una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volta</a:t>
            </a:r>
            <a:endParaRPr lang="en-US" altLang="en-US" b="0" dirty="0">
              <a:latin typeface="+mj-lt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+mj-lt"/>
              </a:rPr>
              <a:t>La </a:t>
            </a:r>
            <a:r>
              <a:rPr lang="en-US" altLang="en-US" b="0" dirty="0" err="1">
                <a:latin typeface="+mj-lt"/>
              </a:rPr>
              <a:t>frontiera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separa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i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nodi</a:t>
            </a:r>
            <a:r>
              <a:rPr lang="en-US" altLang="en-US" b="0" dirty="0">
                <a:latin typeface="+mj-lt"/>
              </a:rPr>
              <a:t> </a:t>
            </a:r>
            <a:r>
              <a:rPr lang="en-US" altLang="en-US" b="0" dirty="0" err="1">
                <a:latin typeface="+mj-lt"/>
              </a:rPr>
              <a:t>esplorati</a:t>
            </a:r>
            <a:r>
              <a:rPr lang="en-US" altLang="en-US" b="0" dirty="0">
                <a:latin typeface="+mj-lt"/>
              </a:rPr>
              <a:t> da </a:t>
            </a:r>
            <a:r>
              <a:rPr lang="en-US" altLang="en-US" b="0" dirty="0" err="1">
                <a:latin typeface="+mj-lt"/>
              </a:rPr>
              <a:t>quelli</a:t>
            </a:r>
            <a:r>
              <a:rPr lang="en-US" altLang="en-US" b="0" dirty="0">
                <a:latin typeface="+mj-lt"/>
              </a:rPr>
              <a:t> non </a:t>
            </a:r>
            <a:r>
              <a:rPr lang="en-US" altLang="en-US" b="0" dirty="0" err="1">
                <a:latin typeface="+mj-lt"/>
              </a:rPr>
              <a:t>esplorati</a:t>
            </a:r>
            <a:endParaRPr lang="en-US" altLang="en-US" sz="2000" b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45948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355600"/>
            <a:ext cx="8104187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Ricerca-grafo</a:t>
            </a:r>
            <a:r>
              <a:rPr lang="en-US" sz="4400" dirty="0">
                <a:ea typeface="+mj-ea"/>
                <a:cs typeface="+mj-cs"/>
              </a:rPr>
              <a:t> in </a:t>
            </a:r>
            <a:r>
              <a:rPr lang="en-US" sz="4400" dirty="0" err="1">
                <a:ea typeface="+mj-ea"/>
                <a:cs typeface="+mj-cs"/>
              </a:rPr>
              <a:t>ampiezza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468312" y="1125538"/>
            <a:ext cx="8675687" cy="54718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1800" b="1" dirty="0">
                <a:latin typeface="Arial Narrow" panose="020B0606020202030204" pitchFamily="34" charset="0"/>
              </a:rPr>
              <a:t>function </a:t>
            </a:r>
            <a:r>
              <a:rPr lang="en-GB" altLang="en-US" sz="1800" dirty="0" err="1">
                <a:latin typeface="Arial Narrow" panose="020B0606020202030204" pitchFamily="34" charset="0"/>
              </a:rPr>
              <a:t>Ricerca</a:t>
            </a:r>
            <a:r>
              <a:rPr lang="en-GB" altLang="en-US" sz="1800" dirty="0">
                <a:latin typeface="Arial Narrow" panose="020B0606020202030204" pitchFamily="34" charset="0"/>
              </a:rPr>
              <a:t>-</a:t>
            </a:r>
            <a:r>
              <a:rPr lang="en-GB" altLang="en-US" sz="1800" dirty="0" err="1">
                <a:latin typeface="Arial Narrow" panose="020B0606020202030204" pitchFamily="34" charset="0"/>
              </a:rPr>
              <a:t>Ampiezza</a:t>
            </a:r>
            <a:r>
              <a:rPr lang="en-GB" altLang="en-US" sz="1800" dirty="0">
                <a:latin typeface="Arial Narrow" panose="020B0606020202030204" pitchFamily="34" charset="0"/>
              </a:rPr>
              <a:t>-g (</a:t>
            </a:r>
            <a:r>
              <a:rPr lang="en-GB" altLang="en-US" sz="1800" i="1" dirty="0" err="1">
                <a:latin typeface="Arial Narrow" panose="020B0606020202030204" pitchFamily="34" charset="0"/>
              </a:rPr>
              <a:t>problema</a:t>
            </a:r>
            <a:r>
              <a:rPr lang="en-GB" altLang="en-US" sz="1800" i="1" dirty="0">
                <a:latin typeface="Arial Narrow" panose="020B0606020202030204" pitchFamily="34" charset="0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1800" b="1" i="1" dirty="0">
                <a:latin typeface="Arial Narrow" panose="020B0606020202030204" pitchFamily="34" charset="0"/>
              </a:rPr>
              <a:t>	</a:t>
            </a:r>
            <a:r>
              <a:rPr lang="en-GB" altLang="en-US" sz="1800" b="1" dirty="0">
                <a:latin typeface="Arial Narrow" panose="020B0606020202030204" pitchFamily="34" charset="0"/>
              </a:rPr>
              <a:t>returns</a:t>
            </a:r>
            <a:r>
              <a:rPr lang="en-GB" altLang="en-US" sz="1800" b="1" i="1" dirty="0">
                <a:latin typeface="Arial Narrow" panose="020B0606020202030204" pitchFamily="34" charset="0"/>
              </a:rPr>
              <a:t> </a:t>
            </a:r>
            <a:r>
              <a:rPr lang="en-GB" altLang="en-US" sz="1800" dirty="0" err="1">
                <a:latin typeface="Arial Narrow" panose="020B0606020202030204" pitchFamily="34" charset="0"/>
              </a:rPr>
              <a:t>soluzione</a:t>
            </a:r>
            <a:r>
              <a:rPr lang="en-GB" altLang="en-US" sz="1800" dirty="0">
                <a:latin typeface="Arial Narrow" panose="020B0606020202030204" pitchFamily="34" charset="0"/>
              </a:rPr>
              <a:t> </a:t>
            </a:r>
            <a:r>
              <a:rPr lang="en-GB" altLang="en-US" sz="1800" dirty="0" err="1">
                <a:latin typeface="Arial Narrow" panose="020B0606020202030204" pitchFamily="34" charset="0"/>
              </a:rPr>
              <a:t>oppure</a:t>
            </a:r>
            <a:r>
              <a:rPr lang="en-GB" altLang="en-US" sz="1800" dirty="0">
                <a:latin typeface="Arial Narrow" panose="020B0606020202030204" pitchFamily="34" charset="0"/>
              </a:rPr>
              <a:t> </a:t>
            </a:r>
            <a:r>
              <a:rPr lang="en-GB" altLang="en-US" sz="1800" b="1" dirty="0" err="1">
                <a:latin typeface="Arial Narrow" panose="020B0606020202030204" pitchFamily="34" charset="0"/>
              </a:rPr>
              <a:t>fallimento</a:t>
            </a:r>
            <a:endParaRPr lang="en-GB" altLang="en-US" sz="18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1800" b="1" dirty="0">
                <a:latin typeface="Arial Narrow" panose="020B0606020202030204" pitchFamily="34" charset="0"/>
              </a:rPr>
              <a:t> </a:t>
            </a:r>
            <a:r>
              <a:rPr lang="en-GB" altLang="en-US" sz="1800" dirty="0">
                <a:latin typeface="Arial Narrow" panose="020B0606020202030204" pitchFamily="34" charset="0"/>
              </a:rPr>
              <a:t>     </a:t>
            </a:r>
            <a:r>
              <a:rPr lang="en-GB" altLang="en-US" sz="1800" i="1" dirty="0" err="1">
                <a:latin typeface="Arial Narrow" panose="020B0606020202030204" pitchFamily="34" charset="0"/>
              </a:rPr>
              <a:t>nodo</a:t>
            </a:r>
            <a:r>
              <a:rPr lang="en-GB" altLang="en-US" sz="1800" i="1" dirty="0">
                <a:latin typeface="Arial Narrow" panose="020B0606020202030204" pitchFamily="34" charset="0"/>
              </a:rPr>
              <a:t> = </a:t>
            </a:r>
            <a:r>
              <a:rPr lang="en-GB" altLang="en-US" sz="1800" dirty="0">
                <a:latin typeface="Arial Narrow" panose="020B0606020202030204" pitchFamily="34" charset="0"/>
              </a:rPr>
              <a:t>un </a:t>
            </a:r>
            <a:r>
              <a:rPr lang="en-GB" altLang="en-US" sz="1800" dirty="0" err="1">
                <a:latin typeface="Arial Narrow" panose="020B0606020202030204" pitchFamily="34" charset="0"/>
              </a:rPr>
              <a:t>nodo</a:t>
            </a:r>
            <a:r>
              <a:rPr lang="en-GB" altLang="en-US" sz="1800" dirty="0">
                <a:latin typeface="Arial Narrow" panose="020B0606020202030204" pitchFamily="34" charset="0"/>
              </a:rPr>
              <a:t> con</a:t>
            </a:r>
            <a:r>
              <a:rPr lang="en-GB" altLang="en-US" sz="1800" i="1" dirty="0">
                <a:latin typeface="Arial Narrow" panose="020B0606020202030204" pitchFamily="34" charset="0"/>
              </a:rPr>
              <a:t> </a:t>
            </a:r>
            <a:r>
              <a:rPr lang="en-GB" altLang="en-US" sz="1800" i="1" dirty="0" err="1">
                <a:latin typeface="Arial Narrow" panose="020B0606020202030204" pitchFamily="34" charset="0"/>
              </a:rPr>
              <a:t>stato</a:t>
            </a:r>
            <a:r>
              <a:rPr lang="en-GB" altLang="en-US" sz="1800" i="1" dirty="0">
                <a:latin typeface="Arial Narrow" panose="020B0606020202030204" pitchFamily="34" charset="0"/>
              </a:rPr>
              <a:t> </a:t>
            </a:r>
            <a:r>
              <a:rPr lang="en-GB" altLang="en-US" sz="1800" i="1" dirty="0" err="1">
                <a:latin typeface="Arial Narrow" panose="020B0606020202030204" pitchFamily="34" charset="0"/>
              </a:rPr>
              <a:t>il</a:t>
            </a:r>
            <a:r>
              <a:rPr lang="en-GB" altLang="en-US" sz="1800" i="1" dirty="0">
                <a:latin typeface="Arial Narrow" panose="020B0606020202030204" pitchFamily="34" charset="0"/>
              </a:rPr>
              <a:t> </a:t>
            </a:r>
            <a:r>
              <a:rPr lang="en-GB" altLang="en-US" sz="1800" i="1" dirty="0" err="1">
                <a:latin typeface="Arial Narrow" panose="020B0606020202030204" pitchFamily="34" charset="0"/>
              </a:rPr>
              <a:t>problema.stato-iniziale</a:t>
            </a:r>
            <a:r>
              <a:rPr lang="en-GB" altLang="en-US" sz="1800" i="1" dirty="0">
                <a:latin typeface="Arial Narrow" panose="020B0606020202030204" pitchFamily="34" charset="0"/>
              </a:rPr>
              <a:t> e </a:t>
            </a:r>
            <a:r>
              <a:rPr lang="en-GB" altLang="en-US" sz="1800" i="1" dirty="0" err="1">
                <a:latin typeface="Arial Narrow" panose="020B0606020202030204" pitchFamily="34" charset="0"/>
              </a:rPr>
              <a:t>costo</a:t>
            </a:r>
            <a:r>
              <a:rPr lang="en-GB" altLang="en-US" sz="1800" i="1" dirty="0">
                <a:latin typeface="Arial Narrow" panose="020B0606020202030204" pitchFamily="34" charset="0"/>
              </a:rPr>
              <a:t>-di-</a:t>
            </a:r>
            <a:r>
              <a:rPr lang="en-GB" altLang="en-US" sz="1800" i="1" dirty="0" err="1">
                <a:latin typeface="Arial Narrow" panose="020B0606020202030204" pitchFamily="34" charset="0"/>
              </a:rPr>
              <a:t>cammino</a:t>
            </a:r>
            <a:r>
              <a:rPr lang="en-GB" altLang="en-US" sz="1800" i="1" dirty="0">
                <a:latin typeface="Arial Narrow" panose="020B0606020202030204" pitchFamily="34" charset="0"/>
              </a:rPr>
              <a:t>=0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1800" i="1" dirty="0">
                <a:latin typeface="Arial Narrow" panose="020B0606020202030204" pitchFamily="34" charset="0"/>
              </a:rPr>
              <a:t>	</a:t>
            </a:r>
            <a:r>
              <a:rPr lang="en-GB" altLang="en-US" sz="1800" b="1" dirty="0">
                <a:latin typeface="Arial Narrow" panose="020B0606020202030204" pitchFamily="34" charset="0"/>
              </a:rPr>
              <a:t>if</a:t>
            </a:r>
            <a:r>
              <a:rPr lang="en-GB" altLang="en-US" sz="1800" i="1" dirty="0">
                <a:latin typeface="Arial Narrow" panose="020B0606020202030204" pitchFamily="34" charset="0"/>
              </a:rPr>
              <a:t> </a:t>
            </a:r>
            <a:r>
              <a:rPr lang="en-GB" altLang="en-US" sz="1800" i="1" dirty="0" err="1">
                <a:latin typeface="Arial Narrow" panose="020B0606020202030204" pitchFamily="34" charset="0"/>
              </a:rPr>
              <a:t>problema.Test-Obiettivo</a:t>
            </a:r>
            <a:r>
              <a:rPr lang="en-GB" altLang="en-US" sz="1800" i="1" dirty="0">
                <a:latin typeface="Arial Narrow" panose="020B0606020202030204" pitchFamily="34" charset="0"/>
              </a:rPr>
              <a:t>(</a:t>
            </a:r>
            <a:r>
              <a:rPr lang="en-GB" altLang="en-US" sz="1800" i="1" dirty="0" err="1">
                <a:latin typeface="Arial Narrow" panose="020B0606020202030204" pitchFamily="34" charset="0"/>
              </a:rPr>
              <a:t>nodo.</a:t>
            </a:r>
            <a:r>
              <a:rPr lang="en-GB" altLang="en-US" sz="1800" dirty="0" err="1">
                <a:latin typeface="Arial Narrow" panose="020B0606020202030204" pitchFamily="34" charset="0"/>
              </a:rPr>
              <a:t>Stato</a:t>
            </a:r>
            <a:r>
              <a:rPr lang="en-GB" altLang="en-US" sz="1800" i="1" dirty="0">
                <a:latin typeface="Arial Narrow" panose="020B0606020202030204" pitchFamily="34" charset="0"/>
              </a:rPr>
              <a:t>) 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then</a:t>
            </a:r>
            <a:r>
              <a:rPr lang="it-IT" altLang="en-US" sz="1800" b="1" dirty="0">
                <a:latin typeface="Arial Narrow" panose="020B0606020202030204" pitchFamily="34" charset="0"/>
              </a:rPr>
              <a:t> 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return</a:t>
            </a:r>
            <a:r>
              <a:rPr lang="it-IT" altLang="en-US" sz="1800" dirty="0">
                <a:latin typeface="Arial Narrow" panose="020B0606020202030204" pitchFamily="34" charset="0"/>
              </a:rPr>
              <a:t> Soluzione(</a:t>
            </a:r>
            <a:r>
              <a:rPr lang="it-IT" altLang="en-US" sz="1800" i="1" dirty="0">
                <a:latin typeface="Arial Narrow" panose="020B0606020202030204" pitchFamily="34" charset="0"/>
              </a:rPr>
              <a:t>nodo</a:t>
            </a:r>
            <a:r>
              <a:rPr lang="it-IT" altLang="en-US" sz="1800" dirty="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dirty="0">
                <a:latin typeface="Arial Narrow" panose="020B0606020202030204" pitchFamily="34" charset="0"/>
              </a:rPr>
              <a:t>	</a:t>
            </a:r>
            <a:r>
              <a:rPr lang="it-IT" altLang="en-US" sz="18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1800" dirty="0">
                <a:latin typeface="Arial Narrow" panose="020B0606020202030204" pitchFamily="34" charset="0"/>
              </a:rPr>
              <a:t> = una coda FIFO con </a:t>
            </a:r>
            <a:r>
              <a:rPr lang="it-IT" altLang="en-US" sz="1800" i="1" dirty="0">
                <a:latin typeface="Arial Narrow" panose="020B0606020202030204" pitchFamily="34" charset="0"/>
              </a:rPr>
              <a:t>nodo</a:t>
            </a:r>
            <a:r>
              <a:rPr lang="it-IT" altLang="en-US" sz="1800" dirty="0">
                <a:latin typeface="Arial Narrow" panose="020B0606020202030204" pitchFamily="34" charset="0"/>
              </a:rPr>
              <a:t> come unico elemento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i="1" dirty="0">
                <a:latin typeface="Arial Narrow" panose="020B0606020202030204" pitchFamily="34" charset="0"/>
              </a:rPr>
              <a:t>	</a:t>
            </a:r>
            <a:r>
              <a:rPr lang="it-IT" altLang="en-US" sz="1800" i="1" dirty="0">
                <a:solidFill>
                  <a:srgbClr val="009999"/>
                </a:solidFill>
                <a:latin typeface="Arial Narrow" panose="020B0606020202030204" pitchFamily="34" charset="0"/>
              </a:rPr>
              <a:t>esplorati = </a:t>
            </a:r>
            <a:r>
              <a:rPr lang="it-IT" altLang="en-US" sz="1800" dirty="0">
                <a:solidFill>
                  <a:srgbClr val="009999"/>
                </a:solidFill>
                <a:latin typeface="Arial Narrow" panose="020B0606020202030204" pitchFamily="34" charset="0"/>
              </a:rPr>
              <a:t>insieme vuoto</a:t>
            </a:r>
            <a:endParaRPr lang="en-GB" altLang="en-US" sz="1800" dirty="0">
              <a:solidFill>
                <a:srgbClr val="009999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b="1" dirty="0">
                <a:latin typeface="Arial Narrow" panose="020B0606020202030204" pitchFamily="34" charset="0"/>
              </a:rPr>
              <a:t>  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loop</a:t>
            </a:r>
            <a:r>
              <a:rPr lang="it-IT" altLang="en-US" sz="1800" b="1" dirty="0">
                <a:latin typeface="Arial Narrow" panose="020B0606020202030204" pitchFamily="34" charset="0"/>
              </a:rPr>
              <a:t> do</a:t>
            </a:r>
            <a:endParaRPr lang="en-GB" altLang="en-US" sz="1800" b="1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dirty="0">
                <a:latin typeface="Arial Narrow" panose="020B0606020202030204" pitchFamily="34" charset="0"/>
              </a:rPr>
              <a:t>	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if</a:t>
            </a:r>
            <a:r>
              <a:rPr lang="it-IT" altLang="en-US" sz="1800" dirty="0">
                <a:latin typeface="Arial Narrow" panose="020B0606020202030204" pitchFamily="34" charset="0"/>
              </a:rPr>
              <a:t> </a:t>
            </a:r>
            <a:r>
              <a:rPr lang="it-IT" altLang="en-US" sz="1800" i="1" dirty="0">
                <a:latin typeface="Arial Narrow" panose="020B0606020202030204" pitchFamily="34" charset="0"/>
              </a:rPr>
              <a:t>Vuota?</a:t>
            </a:r>
            <a:r>
              <a:rPr lang="it-IT" altLang="en-US" sz="1800" dirty="0">
                <a:latin typeface="Arial Narrow" panose="020B0606020202030204" pitchFamily="34" charset="0"/>
              </a:rPr>
              <a:t>(</a:t>
            </a:r>
            <a:r>
              <a:rPr lang="it-IT" altLang="en-US" sz="18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1800" dirty="0">
                <a:latin typeface="Arial Narrow" panose="020B0606020202030204" pitchFamily="34" charset="0"/>
              </a:rPr>
              <a:t>)</a:t>
            </a:r>
            <a:r>
              <a:rPr lang="it-IT" altLang="en-US" sz="1800" i="1" dirty="0">
                <a:latin typeface="Arial Narrow" panose="020B0606020202030204" pitchFamily="34" charset="0"/>
              </a:rPr>
              <a:t> 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then</a:t>
            </a:r>
            <a:r>
              <a:rPr lang="it-IT" altLang="en-US" sz="1800" b="1" dirty="0">
                <a:latin typeface="Arial Narrow" panose="020B0606020202030204" pitchFamily="34" charset="0"/>
              </a:rPr>
              <a:t> 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return</a:t>
            </a:r>
            <a:r>
              <a:rPr lang="it-IT" altLang="en-US" sz="1800" dirty="0">
                <a:latin typeface="Arial Narrow" panose="020B0606020202030204" pitchFamily="34" charset="0"/>
              </a:rPr>
              <a:t> </a:t>
            </a:r>
            <a:r>
              <a:rPr lang="it-IT" altLang="en-US" sz="1800" b="1" dirty="0">
                <a:latin typeface="Arial Narrow" panose="020B0606020202030204" pitchFamily="34" charset="0"/>
              </a:rPr>
              <a:t>fallimento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b="1" dirty="0">
                <a:latin typeface="Arial Narrow" panose="020B0606020202030204" pitchFamily="34" charset="0"/>
              </a:rPr>
              <a:t>	</a:t>
            </a:r>
            <a:r>
              <a:rPr lang="it-IT" altLang="en-US" sz="1800" i="1" dirty="0">
                <a:latin typeface="Arial Narrow" panose="020B0606020202030204" pitchFamily="34" charset="0"/>
              </a:rPr>
              <a:t>nodo</a:t>
            </a:r>
            <a:r>
              <a:rPr lang="it-IT" altLang="en-US" sz="1800" b="1" dirty="0">
                <a:latin typeface="Arial Narrow" panose="020B0606020202030204" pitchFamily="34" charset="0"/>
              </a:rPr>
              <a:t> </a:t>
            </a:r>
            <a:r>
              <a:rPr lang="it-IT" altLang="en-US" sz="1800" dirty="0">
                <a:latin typeface="Arial Narrow" panose="020B0606020202030204" pitchFamily="34" charset="0"/>
              </a:rPr>
              <a:t>= POP(</a:t>
            </a:r>
            <a:r>
              <a:rPr lang="it-IT" altLang="en-US" sz="18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1800" dirty="0">
                <a:latin typeface="Arial Narrow" panose="020B0606020202030204" pitchFamily="34" charset="0"/>
              </a:rPr>
              <a:t>); </a:t>
            </a:r>
            <a:r>
              <a:rPr lang="it-IT" altLang="en-US" sz="1800" dirty="0">
                <a:solidFill>
                  <a:srgbClr val="009999"/>
                </a:solidFill>
                <a:latin typeface="Arial Narrow" panose="020B0606020202030204" pitchFamily="34" charset="0"/>
              </a:rPr>
              <a:t>aggiungi </a:t>
            </a:r>
            <a:r>
              <a:rPr lang="it-IT" altLang="en-US" sz="1800" i="1" dirty="0" err="1">
                <a:solidFill>
                  <a:srgbClr val="009999"/>
                </a:solidFill>
                <a:latin typeface="Arial Narrow" panose="020B0606020202030204" pitchFamily="34" charset="0"/>
              </a:rPr>
              <a:t>nodo</a:t>
            </a:r>
            <a:r>
              <a:rPr lang="it-IT" altLang="en-US" sz="1800" dirty="0" err="1">
                <a:solidFill>
                  <a:srgbClr val="009999"/>
                </a:solidFill>
                <a:latin typeface="Arial Narrow" panose="020B0606020202030204" pitchFamily="34" charset="0"/>
              </a:rPr>
              <a:t>.Stato</a:t>
            </a:r>
            <a:r>
              <a:rPr lang="it-IT" altLang="en-US" sz="1800" dirty="0">
                <a:solidFill>
                  <a:srgbClr val="009999"/>
                </a:solidFill>
                <a:latin typeface="Arial Narrow" panose="020B0606020202030204" pitchFamily="34" charset="0"/>
              </a:rPr>
              <a:t>  a </a:t>
            </a:r>
            <a:r>
              <a:rPr lang="it-IT" altLang="en-US" sz="1800" i="1" dirty="0">
                <a:solidFill>
                  <a:srgbClr val="009999"/>
                </a:solidFill>
                <a:latin typeface="Arial Narrow" panose="020B0606020202030204" pitchFamily="34" charset="0"/>
              </a:rPr>
              <a:t>esplorati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b="1" dirty="0">
                <a:latin typeface="Arial Narrow" panose="020B0606020202030204" pitchFamily="34" charset="0"/>
              </a:rPr>
              <a:t>	for 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each</a:t>
            </a:r>
            <a:r>
              <a:rPr lang="it-IT" altLang="en-US" sz="1800" b="1" dirty="0">
                <a:latin typeface="Arial Narrow" panose="020B0606020202030204" pitchFamily="34" charset="0"/>
              </a:rPr>
              <a:t> </a:t>
            </a:r>
            <a:r>
              <a:rPr lang="it-IT" altLang="en-US" sz="1800" dirty="0">
                <a:latin typeface="Arial Narrow" panose="020B0606020202030204" pitchFamily="34" charset="0"/>
              </a:rPr>
              <a:t>azione </a:t>
            </a:r>
            <a:r>
              <a:rPr lang="it-IT" altLang="en-US" sz="1800" b="1" dirty="0">
                <a:latin typeface="Arial Narrow" panose="020B0606020202030204" pitchFamily="34" charset="0"/>
              </a:rPr>
              <a:t>in</a:t>
            </a:r>
            <a:r>
              <a:rPr lang="it-IT" altLang="en-US" sz="1800" dirty="0">
                <a:latin typeface="Arial Narrow" panose="020B0606020202030204" pitchFamily="34" charset="0"/>
              </a:rPr>
              <a:t> </a:t>
            </a:r>
            <a:r>
              <a:rPr lang="it-IT" altLang="en-US" sz="1800" dirty="0" err="1">
                <a:latin typeface="Arial Narrow" panose="020B0606020202030204" pitchFamily="34" charset="0"/>
              </a:rPr>
              <a:t>problema.Azioni</a:t>
            </a:r>
            <a:r>
              <a:rPr lang="it-IT" altLang="en-US" sz="1800" dirty="0">
                <a:latin typeface="Arial Narrow" panose="020B0606020202030204" pitchFamily="34" charset="0"/>
              </a:rPr>
              <a:t>(</a:t>
            </a:r>
            <a:r>
              <a:rPr lang="it-IT" altLang="en-US" sz="1800" dirty="0" err="1">
                <a:latin typeface="Arial Narrow" panose="020B0606020202030204" pitchFamily="34" charset="0"/>
              </a:rPr>
              <a:t>nodo.Stato</a:t>
            </a:r>
            <a:r>
              <a:rPr lang="it-IT" altLang="en-US" sz="1800" dirty="0">
                <a:latin typeface="Arial Narrow" panose="020B0606020202030204" pitchFamily="34" charset="0"/>
              </a:rPr>
              <a:t>) </a:t>
            </a:r>
            <a:r>
              <a:rPr lang="it-IT" altLang="en-US" sz="1800" b="1" dirty="0">
                <a:latin typeface="Arial Narrow" panose="020B0606020202030204" pitchFamily="34" charset="0"/>
              </a:rPr>
              <a:t>do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b="1" dirty="0">
                <a:latin typeface="Arial Narrow" panose="020B0606020202030204" pitchFamily="34" charset="0"/>
              </a:rPr>
              <a:t>		</a:t>
            </a:r>
            <a:r>
              <a:rPr lang="it-IT" altLang="en-US" sz="1800" i="1" dirty="0">
                <a:latin typeface="Arial Narrow" panose="020B0606020202030204" pitchFamily="34" charset="0"/>
              </a:rPr>
              <a:t>figlio</a:t>
            </a:r>
            <a:r>
              <a:rPr lang="it-IT" altLang="en-US" sz="1800" dirty="0">
                <a:latin typeface="Arial Narrow" panose="020B0606020202030204" pitchFamily="34" charset="0"/>
              </a:rPr>
              <a:t> = Nodo-Figlio(</a:t>
            </a:r>
            <a:r>
              <a:rPr lang="it-IT" altLang="en-US" sz="1800" i="1" dirty="0">
                <a:latin typeface="Arial Narrow" panose="020B0606020202030204" pitchFamily="34" charset="0"/>
              </a:rPr>
              <a:t>problema</a:t>
            </a:r>
            <a:r>
              <a:rPr lang="it-IT" altLang="en-US" sz="1800" dirty="0">
                <a:latin typeface="Arial Narrow" panose="020B0606020202030204" pitchFamily="34" charset="0"/>
              </a:rPr>
              <a:t>, </a:t>
            </a:r>
            <a:r>
              <a:rPr lang="it-IT" altLang="en-US" sz="1800" i="1" dirty="0">
                <a:latin typeface="Arial Narrow" panose="020B0606020202030204" pitchFamily="34" charset="0"/>
              </a:rPr>
              <a:t>nodo, azione</a:t>
            </a:r>
            <a:r>
              <a:rPr lang="it-IT" altLang="en-US" sz="1800" dirty="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dirty="0">
                <a:latin typeface="Arial Narrow" panose="020B0606020202030204" pitchFamily="34" charset="0"/>
              </a:rPr>
              <a:t>		</a:t>
            </a:r>
            <a:r>
              <a:rPr lang="it-IT" altLang="en-US" sz="1800" b="1" dirty="0" err="1">
                <a:solidFill>
                  <a:srgbClr val="009999"/>
                </a:solidFill>
                <a:latin typeface="Arial Narrow" panose="020B0606020202030204" pitchFamily="34" charset="0"/>
              </a:rPr>
              <a:t>if</a:t>
            </a:r>
            <a:r>
              <a:rPr lang="it-IT" altLang="en-US" sz="1800" dirty="0">
                <a:solidFill>
                  <a:srgbClr val="009999"/>
                </a:solidFill>
                <a:latin typeface="Arial Narrow" panose="020B0606020202030204" pitchFamily="34" charset="0"/>
              </a:rPr>
              <a:t> </a:t>
            </a:r>
            <a:r>
              <a:rPr lang="it-IT" altLang="en-US" sz="1800" i="1" dirty="0" err="1">
                <a:solidFill>
                  <a:srgbClr val="009999"/>
                </a:solidFill>
                <a:latin typeface="Arial Narrow" panose="020B0606020202030204" pitchFamily="34" charset="0"/>
              </a:rPr>
              <a:t>figlio</a:t>
            </a:r>
            <a:r>
              <a:rPr lang="it-IT" altLang="en-US" sz="1800" dirty="0" err="1">
                <a:solidFill>
                  <a:srgbClr val="009999"/>
                </a:solidFill>
                <a:latin typeface="Arial Narrow" panose="020B0606020202030204" pitchFamily="34" charset="0"/>
              </a:rPr>
              <a:t>.Stato</a:t>
            </a:r>
            <a:r>
              <a:rPr lang="it-IT" altLang="en-US" sz="1800" dirty="0">
                <a:solidFill>
                  <a:srgbClr val="009999"/>
                </a:solidFill>
                <a:latin typeface="Arial Narrow" panose="020B0606020202030204" pitchFamily="34" charset="0"/>
              </a:rPr>
              <a:t> non è in </a:t>
            </a:r>
            <a:r>
              <a:rPr lang="it-IT" altLang="en-US" sz="1800" i="1" dirty="0">
                <a:solidFill>
                  <a:srgbClr val="009999"/>
                </a:solidFill>
                <a:latin typeface="Arial Narrow" panose="020B0606020202030204" pitchFamily="34" charset="0"/>
              </a:rPr>
              <a:t>esplorati</a:t>
            </a:r>
            <a:r>
              <a:rPr lang="it-IT" altLang="en-US" sz="1800" dirty="0">
                <a:solidFill>
                  <a:srgbClr val="009999"/>
                </a:solidFill>
                <a:latin typeface="Arial Narrow" panose="020B0606020202030204" pitchFamily="34" charset="0"/>
              </a:rPr>
              <a:t> e non è in </a:t>
            </a:r>
            <a:r>
              <a:rPr lang="it-IT" altLang="en-US" sz="1800" i="1" dirty="0">
                <a:solidFill>
                  <a:srgbClr val="009999"/>
                </a:solidFill>
                <a:latin typeface="Arial Narrow" panose="020B0606020202030204" pitchFamily="34" charset="0"/>
              </a:rPr>
              <a:t>frontiera</a:t>
            </a:r>
            <a:r>
              <a:rPr lang="it-IT" altLang="en-US" sz="1800" dirty="0">
                <a:solidFill>
                  <a:srgbClr val="009999"/>
                </a:solidFill>
                <a:latin typeface="Arial Narrow" panose="020B0606020202030204" pitchFamily="34" charset="0"/>
              </a:rPr>
              <a:t> </a:t>
            </a:r>
            <a:r>
              <a:rPr lang="it-IT" altLang="en-US" sz="1800" b="1" dirty="0" err="1">
                <a:solidFill>
                  <a:srgbClr val="009999"/>
                </a:solidFill>
                <a:latin typeface="Arial Narrow" panose="020B0606020202030204" pitchFamily="34" charset="0"/>
              </a:rPr>
              <a:t>then</a:t>
            </a:r>
            <a:endParaRPr lang="it-IT" altLang="en-US" sz="1800" b="1" dirty="0">
              <a:solidFill>
                <a:srgbClr val="009999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dirty="0">
                <a:latin typeface="Arial Narrow" panose="020B0606020202030204" pitchFamily="34" charset="0"/>
              </a:rPr>
              <a:t>		    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if</a:t>
            </a:r>
            <a:r>
              <a:rPr lang="it-IT" altLang="en-US" sz="1800" b="1" dirty="0">
                <a:latin typeface="Arial Narrow" panose="020B0606020202030204" pitchFamily="34" charset="0"/>
              </a:rPr>
              <a:t> </a:t>
            </a:r>
            <a:r>
              <a:rPr lang="it-IT" altLang="en-US" sz="1800" dirty="0" err="1">
                <a:latin typeface="Arial Narrow" panose="020B0606020202030204" pitchFamily="34" charset="0"/>
              </a:rPr>
              <a:t>Problema.TestObiettivo</a:t>
            </a:r>
            <a:r>
              <a:rPr lang="it-IT" altLang="en-US" sz="1800" dirty="0">
                <a:latin typeface="Arial Narrow" panose="020B0606020202030204" pitchFamily="34" charset="0"/>
              </a:rPr>
              <a:t>(</a:t>
            </a:r>
            <a:r>
              <a:rPr lang="it-IT" altLang="en-US" sz="1800" dirty="0" err="1">
                <a:latin typeface="Arial Narrow" panose="020B0606020202030204" pitchFamily="34" charset="0"/>
              </a:rPr>
              <a:t>figlio.Stato</a:t>
            </a:r>
            <a:r>
              <a:rPr lang="it-IT" altLang="en-US" sz="1800" dirty="0">
                <a:latin typeface="Arial Narrow" panose="020B0606020202030204" pitchFamily="34" charset="0"/>
              </a:rPr>
              <a:t>) 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then</a:t>
            </a:r>
            <a:r>
              <a:rPr lang="it-IT" altLang="en-US" sz="1800" b="1" dirty="0">
                <a:latin typeface="Arial Narrow" panose="020B0606020202030204" pitchFamily="34" charset="0"/>
              </a:rPr>
              <a:t> </a:t>
            </a:r>
            <a:r>
              <a:rPr lang="it-IT" altLang="en-US" sz="1800" b="1" dirty="0" err="1">
                <a:latin typeface="Arial Narrow" panose="020B0606020202030204" pitchFamily="34" charset="0"/>
              </a:rPr>
              <a:t>return</a:t>
            </a:r>
            <a:r>
              <a:rPr lang="it-IT" altLang="en-US" sz="1800" b="1" dirty="0">
                <a:latin typeface="Arial Narrow" panose="020B0606020202030204" pitchFamily="34" charset="0"/>
              </a:rPr>
              <a:t> </a:t>
            </a:r>
            <a:r>
              <a:rPr lang="it-IT" altLang="en-US" sz="1800" dirty="0">
                <a:latin typeface="Arial Narrow" panose="020B0606020202030204" pitchFamily="34" charset="0"/>
              </a:rPr>
              <a:t>Soluzione(</a:t>
            </a:r>
            <a:r>
              <a:rPr lang="it-IT" altLang="en-US" sz="1800" i="1" dirty="0">
                <a:latin typeface="Arial Narrow" panose="020B0606020202030204" pitchFamily="34" charset="0"/>
              </a:rPr>
              <a:t>figlio</a:t>
            </a:r>
            <a:r>
              <a:rPr lang="it-IT" altLang="en-US" sz="1800" dirty="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 dirty="0">
                <a:latin typeface="Arial Narrow" panose="020B0606020202030204" pitchFamily="34" charset="0"/>
              </a:rPr>
              <a:t>		    </a:t>
            </a:r>
            <a:r>
              <a:rPr lang="it-IT" altLang="en-US" sz="18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1800" dirty="0">
                <a:latin typeface="Arial Narrow" panose="020B0606020202030204" pitchFamily="34" charset="0"/>
              </a:rPr>
              <a:t> = Inserisci(</a:t>
            </a:r>
            <a:r>
              <a:rPr lang="it-IT" altLang="en-US" sz="1800" i="1" dirty="0">
                <a:latin typeface="Arial Narrow" panose="020B0606020202030204" pitchFamily="34" charset="0"/>
              </a:rPr>
              <a:t>figlio</a:t>
            </a:r>
            <a:r>
              <a:rPr lang="it-IT" altLang="en-US" sz="1800" dirty="0">
                <a:latin typeface="Arial Narrow" panose="020B0606020202030204" pitchFamily="34" charset="0"/>
              </a:rPr>
              <a:t>, </a:t>
            </a:r>
            <a:r>
              <a:rPr lang="it-IT" altLang="en-US" sz="1800" i="1" dirty="0">
                <a:latin typeface="Arial Narrow" panose="020B0606020202030204" pitchFamily="34" charset="0"/>
              </a:rPr>
              <a:t>frontiera</a:t>
            </a:r>
            <a:r>
              <a:rPr lang="it-IT" altLang="en-US" sz="1800" dirty="0">
                <a:latin typeface="Arial Narrow" panose="020B0606020202030204" pitchFamily="34" charset="0"/>
              </a:rPr>
              <a:t>)   /* in coda</a:t>
            </a:r>
            <a:endParaRPr lang="en-GB" altLang="en-US" sz="1800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endParaRPr lang="en-GB" altLang="en-US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8608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355600"/>
            <a:ext cx="8386762" cy="76993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4400" dirty="0" err="1">
                <a:ea typeface="+mj-ea"/>
                <a:cs typeface="+mj-cs"/>
              </a:rPr>
              <a:t>Ricerca-grafo</a:t>
            </a:r>
            <a:r>
              <a:rPr lang="en-US" sz="4400" dirty="0">
                <a:ea typeface="+mj-ea"/>
                <a:cs typeface="+mj-cs"/>
              </a:rPr>
              <a:t> UC</a:t>
            </a:r>
            <a:endParaRPr lang="en-GB" sz="4400" dirty="0">
              <a:ea typeface="+mj-ea"/>
              <a:cs typeface="+mj-cs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08962" cy="518318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1600" b="1">
                <a:latin typeface="Arial Narrow" panose="020B0606020202030204" pitchFamily="34" charset="0"/>
              </a:rPr>
              <a:t>function </a:t>
            </a:r>
            <a:r>
              <a:rPr lang="en-GB" altLang="en-US" sz="1600">
                <a:latin typeface="Arial Narrow" panose="020B0606020202030204" pitchFamily="34" charset="0"/>
              </a:rPr>
              <a:t>Ricerca-UC-G (</a:t>
            </a:r>
            <a:r>
              <a:rPr lang="en-GB" altLang="en-US" sz="1600" i="1">
                <a:latin typeface="Arial Narrow" panose="020B0606020202030204" pitchFamily="34" charset="0"/>
              </a:rPr>
              <a:t>problema)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1600" b="1" i="1">
                <a:latin typeface="Arial Narrow" panose="020B0606020202030204" pitchFamily="34" charset="0"/>
              </a:rPr>
              <a:t>	</a:t>
            </a:r>
            <a:r>
              <a:rPr lang="en-GB" altLang="en-US" sz="1600" b="1">
                <a:latin typeface="Arial Narrow" panose="020B0606020202030204" pitchFamily="34" charset="0"/>
              </a:rPr>
              <a:t>returns</a:t>
            </a:r>
            <a:r>
              <a:rPr lang="en-GB" altLang="en-US" sz="1600" b="1" i="1">
                <a:latin typeface="Arial Narrow" panose="020B0606020202030204" pitchFamily="34" charset="0"/>
              </a:rPr>
              <a:t> </a:t>
            </a:r>
            <a:r>
              <a:rPr lang="en-GB" altLang="en-US" sz="1600">
                <a:latin typeface="Arial Narrow" panose="020B0606020202030204" pitchFamily="34" charset="0"/>
              </a:rPr>
              <a:t>soluzione oppure </a:t>
            </a:r>
            <a:r>
              <a:rPr lang="en-GB" altLang="en-US" sz="1600" b="1">
                <a:latin typeface="Arial Narrow" panose="020B0606020202030204" pitchFamily="34" charset="0"/>
              </a:rPr>
              <a:t>fallimento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en-GB" altLang="en-US" sz="1600" b="1">
                <a:latin typeface="Arial Narrow" panose="020B0606020202030204" pitchFamily="34" charset="0"/>
              </a:rPr>
              <a:t> </a:t>
            </a:r>
            <a:r>
              <a:rPr lang="en-GB" altLang="en-US" sz="1600">
                <a:latin typeface="Arial Narrow" panose="020B0606020202030204" pitchFamily="34" charset="0"/>
              </a:rPr>
              <a:t>     </a:t>
            </a:r>
            <a:r>
              <a:rPr lang="en-GB" altLang="en-US" sz="1600" i="1">
                <a:latin typeface="Arial Narrow" panose="020B0606020202030204" pitchFamily="34" charset="0"/>
              </a:rPr>
              <a:t>nodo = </a:t>
            </a:r>
            <a:r>
              <a:rPr lang="en-GB" altLang="en-US" sz="1600">
                <a:latin typeface="Arial Narrow" panose="020B0606020202030204" pitchFamily="34" charset="0"/>
              </a:rPr>
              <a:t>un nodo con</a:t>
            </a:r>
            <a:r>
              <a:rPr lang="en-GB" altLang="en-US" sz="1600" i="1">
                <a:latin typeface="Arial Narrow" panose="020B0606020202030204" pitchFamily="34" charset="0"/>
              </a:rPr>
              <a:t> stato il problema.stato-iniziale e costo-di-cammino=0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>
                <a:latin typeface="Arial Narrow" panose="020B0606020202030204" pitchFamily="34" charset="0"/>
              </a:rPr>
              <a:t>	</a:t>
            </a:r>
            <a:r>
              <a:rPr lang="it-IT" altLang="en-US" sz="1600" i="1">
                <a:latin typeface="Arial Narrow" panose="020B0606020202030204" pitchFamily="34" charset="0"/>
              </a:rPr>
              <a:t>frontiera</a:t>
            </a:r>
            <a:r>
              <a:rPr lang="it-IT" altLang="en-US" sz="1600">
                <a:latin typeface="Arial Narrow" panose="020B0606020202030204" pitchFamily="34" charset="0"/>
              </a:rPr>
              <a:t> = una coda con priorità con </a:t>
            </a:r>
            <a:r>
              <a:rPr lang="it-IT" altLang="en-US" sz="1600" i="1">
                <a:latin typeface="Arial Narrow" panose="020B0606020202030204" pitchFamily="34" charset="0"/>
              </a:rPr>
              <a:t>nodo</a:t>
            </a:r>
            <a:r>
              <a:rPr lang="it-IT" altLang="en-US" sz="1600">
                <a:latin typeface="Arial Narrow" panose="020B0606020202030204" pitchFamily="34" charset="0"/>
              </a:rPr>
              <a:t> come unico elemento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 i="1">
                <a:solidFill>
                  <a:srgbClr val="009999"/>
                </a:solidFill>
                <a:latin typeface="Arial Narrow" panose="020B0606020202030204" pitchFamily="34" charset="0"/>
              </a:rPr>
              <a:t>	esplorati = </a:t>
            </a:r>
            <a:r>
              <a:rPr lang="it-IT" altLang="en-US" sz="1600">
                <a:solidFill>
                  <a:srgbClr val="009999"/>
                </a:solidFill>
                <a:latin typeface="Arial Narrow" panose="020B0606020202030204" pitchFamily="34" charset="0"/>
              </a:rPr>
              <a:t>insieme vuoto</a:t>
            </a:r>
            <a:endParaRPr lang="en-GB" altLang="en-US" sz="1600" i="1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 b="1">
                <a:latin typeface="Arial Narrow" panose="020B0606020202030204" pitchFamily="34" charset="0"/>
              </a:rPr>
              <a:t>  loop do</a:t>
            </a:r>
            <a:endParaRPr lang="en-GB" altLang="en-US" sz="1600" b="1"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>
                <a:latin typeface="Arial Narrow" panose="020B0606020202030204" pitchFamily="34" charset="0"/>
              </a:rPr>
              <a:t>	</a:t>
            </a:r>
            <a:r>
              <a:rPr lang="it-IT" altLang="en-US" sz="1600" b="1">
                <a:latin typeface="Arial Narrow" panose="020B0606020202030204" pitchFamily="34" charset="0"/>
              </a:rPr>
              <a:t>if</a:t>
            </a:r>
            <a:r>
              <a:rPr lang="it-IT" altLang="en-US" sz="1600">
                <a:latin typeface="Arial Narrow" panose="020B0606020202030204" pitchFamily="34" charset="0"/>
              </a:rPr>
              <a:t> </a:t>
            </a:r>
            <a:r>
              <a:rPr lang="it-IT" altLang="en-US" sz="1600" i="1">
                <a:latin typeface="Arial Narrow" panose="020B0606020202030204" pitchFamily="34" charset="0"/>
              </a:rPr>
              <a:t>Vuota?</a:t>
            </a:r>
            <a:r>
              <a:rPr lang="it-IT" altLang="en-US" sz="1600">
                <a:latin typeface="Arial Narrow" panose="020B0606020202030204" pitchFamily="34" charset="0"/>
              </a:rPr>
              <a:t>(</a:t>
            </a:r>
            <a:r>
              <a:rPr lang="it-IT" altLang="en-US" sz="1600" i="1">
                <a:latin typeface="Arial Narrow" panose="020B0606020202030204" pitchFamily="34" charset="0"/>
              </a:rPr>
              <a:t>frontiera</a:t>
            </a:r>
            <a:r>
              <a:rPr lang="it-IT" altLang="en-US" sz="1600">
                <a:latin typeface="Arial Narrow" panose="020B0606020202030204" pitchFamily="34" charset="0"/>
              </a:rPr>
              <a:t>)</a:t>
            </a:r>
            <a:r>
              <a:rPr lang="it-IT" altLang="en-US" sz="1600" i="1">
                <a:latin typeface="Arial Narrow" panose="020B0606020202030204" pitchFamily="34" charset="0"/>
              </a:rPr>
              <a:t> </a:t>
            </a:r>
            <a:r>
              <a:rPr lang="it-IT" altLang="en-US" sz="1600" b="1">
                <a:latin typeface="Arial Narrow" panose="020B0606020202030204" pitchFamily="34" charset="0"/>
              </a:rPr>
              <a:t>then return</a:t>
            </a:r>
            <a:r>
              <a:rPr lang="it-IT" altLang="en-US" sz="1600">
                <a:latin typeface="Arial Narrow" panose="020B0606020202030204" pitchFamily="34" charset="0"/>
              </a:rPr>
              <a:t> </a:t>
            </a:r>
            <a:r>
              <a:rPr lang="it-IT" altLang="en-US" sz="1600" b="1">
                <a:latin typeface="Arial Narrow" panose="020B0606020202030204" pitchFamily="34" charset="0"/>
              </a:rPr>
              <a:t>fallimento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 b="1">
                <a:latin typeface="Arial Narrow" panose="020B0606020202030204" pitchFamily="34" charset="0"/>
              </a:rPr>
              <a:t>	</a:t>
            </a:r>
            <a:r>
              <a:rPr lang="it-IT" altLang="en-US" sz="1600" i="1">
                <a:latin typeface="Arial Narrow" panose="020B0606020202030204" pitchFamily="34" charset="0"/>
              </a:rPr>
              <a:t>nodo</a:t>
            </a:r>
            <a:r>
              <a:rPr lang="it-IT" altLang="en-US" sz="1600" b="1">
                <a:latin typeface="Arial Narrow" panose="020B0606020202030204" pitchFamily="34" charset="0"/>
              </a:rPr>
              <a:t> </a:t>
            </a:r>
            <a:r>
              <a:rPr lang="it-IT" altLang="en-US" sz="1600">
                <a:latin typeface="Arial Narrow" panose="020B0606020202030204" pitchFamily="34" charset="0"/>
              </a:rPr>
              <a:t>= POP(</a:t>
            </a:r>
            <a:r>
              <a:rPr lang="it-IT" altLang="en-US" sz="1600" i="1">
                <a:latin typeface="Arial Narrow" panose="020B0606020202030204" pitchFamily="34" charset="0"/>
              </a:rPr>
              <a:t>frontiera</a:t>
            </a:r>
            <a:r>
              <a:rPr lang="it-IT" altLang="en-US" sz="1600">
                <a:latin typeface="Arial Narrow" panose="020B0606020202030204" pitchFamily="34" charset="0"/>
              </a:rPr>
              <a:t>);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>
                <a:latin typeface="Arial Narrow" panose="020B0606020202030204" pitchFamily="34" charset="0"/>
              </a:rPr>
              <a:t>	</a:t>
            </a:r>
            <a:r>
              <a:rPr lang="it-IT" altLang="en-US" sz="1600" b="1">
                <a:solidFill>
                  <a:srgbClr val="000000"/>
                </a:solidFill>
                <a:latin typeface="Arial Narrow" panose="020B0606020202030204" pitchFamily="34" charset="0"/>
              </a:rPr>
              <a:t>if</a:t>
            </a:r>
            <a:r>
              <a:rPr lang="it-IT" altLang="en-US" sz="1600">
                <a:solidFill>
                  <a:srgbClr val="000000"/>
                </a:solidFill>
                <a:latin typeface="Arial Narrow" panose="020B0606020202030204" pitchFamily="34" charset="0"/>
              </a:rPr>
              <a:t> problema.TestObiettivo(</a:t>
            </a:r>
            <a:r>
              <a:rPr lang="it-IT" altLang="en-US" sz="1600" i="1">
                <a:solidFill>
                  <a:srgbClr val="000000"/>
                </a:solidFill>
                <a:latin typeface="Arial Narrow" panose="020B0606020202030204" pitchFamily="34" charset="0"/>
              </a:rPr>
              <a:t>nodo</a:t>
            </a:r>
            <a:r>
              <a:rPr lang="it-IT" altLang="en-US" sz="1600">
                <a:solidFill>
                  <a:srgbClr val="000000"/>
                </a:solidFill>
                <a:latin typeface="Arial Narrow" panose="020B0606020202030204" pitchFamily="34" charset="0"/>
              </a:rPr>
              <a:t>.Stato) </a:t>
            </a:r>
            <a:r>
              <a:rPr lang="it-IT" altLang="en-US" sz="1600" b="1">
                <a:solidFill>
                  <a:srgbClr val="000000"/>
                </a:solidFill>
                <a:latin typeface="Arial Narrow" panose="020B0606020202030204" pitchFamily="34" charset="0"/>
              </a:rPr>
              <a:t>then return </a:t>
            </a:r>
            <a:r>
              <a:rPr lang="it-IT" altLang="en-US" sz="1600">
                <a:solidFill>
                  <a:srgbClr val="000000"/>
                </a:solidFill>
                <a:latin typeface="Arial Narrow" panose="020B0606020202030204" pitchFamily="34" charset="0"/>
              </a:rPr>
              <a:t>Soluzione(</a:t>
            </a:r>
            <a:r>
              <a:rPr lang="it-IT" altLang="en-US" sz="1600" i="1">
                <a:solidFill>
                  <a:srgbClr val="000000"/>
                </a:solidFill>
                <a:latin typeface="Arial Narrow" panose="020B0606020202030204" pitchFamily="34" charset="0"/>
              </a:rPr>
              <a:t>nodo</a:t>
            </a:r>
            <a:r>
              <a:rPr lang="it-IT" altLang="en-US" sz="1600">
                <a:solidFill>
                  <a:srgbClr val="000000"/>
                </a:solidFill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>
                <a:solidFill>
                  <a:srgbClr val="000000"/>
                </a:solidFill>
                <a:latin typeface="Arial Narrow" panose="020B0606020202030204" pitchFamily="34" charset="0"/>
              </a:rPr>
              <a:t>	</a:t>
            </a:r>
            <a:r>
              <a:rPr lang="it-IT" altLang="en-US" sz="1600">
                <a:solidFill>
                  <a:srgbClr val="009999"/>
                </a:solidFill>
                <a:latin typeface="Arial Narrow" panose="020B0606020202030204" pitchFamily="34" charset="0"/>
              </a:rPr>
              <a:t>aggiungi </a:t>
            </a:r>
            <a:r>
              <a:rPr lang="it-IT" altLang="en-US" sz="1600" i="1">
                <a:solidFill>
                  <a:srgbClr val="009999"/>
                </a:solidFill>
                <a:latin typeface="Arial Narrow" panose="020B0606020202030204" pitchFamily="34" charset="0"/>
              </a:rPr>
              <a:t>nodo</a:t>
            </a:r>
            <a:r>
              <a:rPr lang="it-IT" altLang="en-US" sz="1600">
                <a:solidFill>
                  <a:srgbClr val="009999"/>
                </a:solidFill>
                <a:latin typeface="Arial Narrow" panose="020B0606020202030204" pitchFamily="34" charset="0"/>
              </a:rPr>
              <a:t>.Stato  a </a:t>
            </a:r>
            <a:r>
              <a:rPr lang="it-IT" altLang="en-US" sz="1600" i="1">
                <a:solidFill>
                  <a:srgbClr val="009999"/>
                </a:solidFill>
                <a:latin typeface="Arial Narrow" panose="020B0606020202030204" pitchFamily="34" charset="0"/>
              </a:rPr>
              <a:t>esplorati</a:t>
            </a:r>
            <a:endParaRPr lang="it-IT" altLang="en-US" sz="160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 b="1">
                <a:latin typeface="Arial Narrow" panose="020B0606020202030204" pitchFamily="34" charset="0"/>
              </a:rPr>
              <a:t>	for each </a:t>
            </a:r>
            <a:r>
              <a:rPr lang="it-IT" altLang="en-US" sz="1600">
                <a:latin typeface="Arial Narrow" panose="020B0606020202030204" pitchFamily="34" charset="0"/>
              </a:rPr>
              <a:t>azione </a:t>
            </a:r>
            <a:r>
              <a:rPr lang="it-IT" altLang="en-US" sz="1600" b="1">
                <a:latin typeface="Arial Narrow" panose="020B0606020202030204" pitchFamily="34" charset="0"/>
              </a:rPr>
              <a:t>in</a:t>
            </a:r>
            <a:r>
              <a:rPr lang="it-IT" altLang="en-US" sz="1600">
                <a:latin typeface="Arial Narrow" panose="020B0606020202030204" pitchFamily="34" charset="0"/>
              </a:rPr>
              <a:t> problema.Azioni(nodo.Stato) </a:t>
            </a:r>
            <a:r>
              <a:rPr lang="it-IT" altLang="en-US" sz="1600" b="1">
                <a:latin typeface="Arial Narrow" panose="020B0606020202030204" pitchFamily="34" charset="0"/>
              </a:rPr>
              <a:t>do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 b="1">
                <a:latin typeface="Arial Narrow" panose="020B0606020202030204" pitchFamily="34" charset="0"/>
              </a:rPr>
              <a:t>		</a:t>
            </a:r>
            <a:r>
              <a:rPr lang="it-IT" altLang="en-US" sz="1600" i="1">
                <a:latin typeface="Arial Narrow" panose="020B0606020202030204" pitchFamily="34" charset="0"/>
              </a:rPr>
              <a:t>figlio</a:t>
            </a:r>
            <a:r>
              <a:rPr lang="it-IT" altLang="en-US" sz="1600">
                <a:latin typeface="Arial Narrow" panose="020B0606020202030204" pitchFamily="34" charset="0"/>
              </a:rPr>
              <a:t> = Nodo-Figlio(</a:t>
            </a:r>
            <a:r>
              <a:rPr lang="it-IT" altLang="en-US" sz="1600" i="1">
                <a:latin typeface="Arial Narrow" panose="020B0606020202030204" pitchFamily="34" charset="0"/>
              </a:rPr>
              <a:t>problema</a:t>
            </a:r>
            <a:r>
              <a:rPr lang="it-IT" altLang="en-US" sz="1600">
                <a:latin typeface="Arial Narrow" panose="020B0606020202030204" pitchFamily="34" charset="0"/>
              </a:rPr>
              <a:t>, </a:t>
            </a:r>
            <a:r>
              <a:rPr lang="it-IT" altLang="en-US" sz="1600" i="1">
                <a:latin typeface="Arial Narrow" panose="020B0606020202030204" pitchFamily="34" charset="0"/>
              </a:rPr>
              <a:t>nodo, azione</a:t>
            </a:r>
            <a:r>
              <a:rPr lang="it-IT" altLang="en-US" sz="160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 b="1">
                <a:solidFill>
                  <a:srgbClr val="009999"/>
                </a:solidFill>
                <a:latin typeface="Arial Narrow" panose="020B0606020202030204" pitchFamily="34" charset="0"/>
              </a:rPr>
              <a:t>		if</a:t>
            </a:r>
            <a:r>
              <a:rPr lang="it-IT" altLang="en-US" sz="1600">
                <a:solidFill>
                  <a:srgbClr val="009999"/>
                </a:solidFill>
                <a:latin typeface="Arial Narrow" panose="020B0606020202030204" pitchFamily="34" charset="0"/>
              </a:rPr>
              <a:t> </a:t>
            </a:r>
            <a:r>
              <a:rPr lang="it-IT" altLang="en-US" sz="1600" i="1">
                <a:solidFill>
                  <a:srgbClr val="009999"/>
                </a:solidFill>
                <a:latin typeface="Arial Narrow" panose="020B0606020202030204" pitchFamily="34" charset="0"/>
              </a:rPr>
              <a:t>figlio</a:t>
            </a:r>
            <a:r>
              <a:rPr lang="it-IT" altLang="en-US" sz="1600">
                <a:solidFill>
                  <a:srgbClr val="009999"/>
                </a:solidFill>
                <a:latin typeface="Arial Narrow" panose="020B0606020202030204" pitchFamily="34" charset="0"/>
              </a:rPr>
              <a:t>.Stato non è in </a:t>
            </a:r>
            <a:r>
              <a:rPr lang="it-IT" altLang="en-US" sz="1600" i="1">
                <a:solidFill>
                  <a:srgbClr val="009999"/>
                </a:solidFill>
                <a:latin typeface="Arial Narrow" panose="020B0606020202030204" pitchFamily="34" charset="0"/>
              </a:rPr>
              <a:t>esplorati</a:t>
            </a:r>
            <a:r>
              <a:rPr lang="it-IT" altLang="en-US" sz="1600">
                <a:solidFill>
                  <a:srgbClr val="009999"/>
                </a:solidFill>
                <a:latin typeface="Arial Narrow" panose="020B0606020202030204" pitchFamily="34" charset="0"/>
              </a:rPr>
              <a:t> e non è in </a:t>
            </a:r>
            <a:r>
              <a:rPr lang="it-IT" altLang="en-US" sz="1600" i="1">
                <a:solidFill>
                  <a:srgbClr val="009999"/>
                </a:solidFill>
                <a:latin typeface="Arial Narrow" panose="020B0606020202030204" pitchFamily="34" charset="0"/>
              </a:rPr>
              <a:t>frontiera </a:t>
            </a:r>
            <a:r>
              <a:rPr lang="it-IT" altLang="en-US" sz="1600" b="1">
                <a:solidFill>
                  <a:srgbClr val="009999"/>
                </a:solidFill>
                <a:latin typeface="Arial Narrow" panose="020B0606020202030204" pitchFamily="34" charset="0"/>
              </a:rPr>
              <a:t>then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 b="1" i="1">
                <a:solidFill>
                  <a:srgbClr val="009999"/>
                </a:solidFill>
                <a:latin typeface="Arial Narrow" panose="020B0606020202030204" pitchFamily="34" charset="0"/>
              </a:rPr>
              <a:t>		        </a:t>
            </a:r>
            <a:r>
              <a:rPr lang="it-IT" altLang="en-US" sz="1600" i="1">
                <a:latin typeface="Arial Narrow" panose="020B0606020202030204" pitchFamily="34" charset="0"/>
              </a:rPr>
              <a:t>frontiera</a:t>
            </a:r>
            <a:r>
              <a:rPr lang="it-IT" altLang="en-US" sz="1600">
                <a:latin typeface="Arial Narrow" panose="020B0606020202030204" pitchFamily="34" charset="0"/>
              </a:rPr>
              <a:t> = Inserisci(</a:t>
            </a:r>
            <a:r>
              <a:rPr lang="it-IT" altLang="en-US" sz="1600" i="1">
                <a:latin typeface="Arial Narrow" panose="020B0606020202030204" pitchFamily="34" charset="0"/>
              </a:rPr>
              <a:t>figlio</a:t>
            </a:r>
            <a:r>
              <a:rPr lang="it-IT" altLang="en-US" sz="1600">
                <a:latin typeface="Arial Narrow" panose="020B0606020202030204" pitchFamily="34" charset="0"/>
              </a:rPr>
              <a:t>, </a:t>
            </a:r>
            <a:r>
              <a:rPr lang="it-IT" altLang="en-US" sz="1600" i="1">
                <a:latin typeface="Arial Narrow" panose="020B0606020202030204" pitchFamily="34" charset="0"/>
              </a:rPr>
              <a:t>frontiera</a:t>
            </a:r>
            <a:r>
              <a:rPr lang="it-IT" altLang="en-US" sz="1600">
                <a:latin typeface="Arial Narrow" panose="020B0606020202030204" pitchFamily="34" charset="0"/>
              </a:rPr>
              <a:t>)   /* in coda con priorità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>
                <a:latin typeface="Arial Narrow" panose="020B0606020202030204" pitchFamily="34" charset="0"/>
              </a:rPr>
              <a:t>		</a:t>
            </a:r>
            <a:r>
              <a:rPr lang="it-IT" altLang="en-US" sz="1600">
                <a:solidFill>
                  <a:schemeClr val="accent1"/>
                </a:solidFill>
                <a:latin typeface="Arial Narrow" panose="020B0606020202030204" pitchFamily="34" charset="0"/>
              </a:rPr>
              <a:t>else if </a:t>
            </a:r>
            <a:r>
              <a:rPr lang="it-IT" altLang="en-US" sz="1600" i="1">
                <a:solidFill>
                  <a:schemeClr val="accent1"/>
                </a:solidFill>
                <a:latin typeface="Arial Narrow" panose="020B0606020202030204" pitchFamily="34" charset="0"/>
              </a:rPr>
              <a:t>figlio</a:t>
            </a:r>
            <a:r>
              <a:rPr lang="it-IT" altLang="en-US" sz="1600">
                <a:solidFill>
                  <a:schemeClr val="accent1"/>
                </a:solidFill>
                <a:latin typeface="Arial Narrow" panose="020B0606020202030204" pitchFamily="34" charset="0"/>
              </a:rPr>
              <a:t>.Stato è in </a:t>
            </a:r>
            <a:r>
              <a:rPr lang="it-IT" altLang="en-US" sz="1600" i="1">
                <a:solidFill>
                  <a:schemeClr val="accent1"/>
                </a:solidFill>
                <a:latin typeface="Arial Narrow" panose="020B0606020202030204" pitchFamily="34" charset="0"/>
              </a:rPr>
              <a:t>frontiera</a:t>
            </a:r>
            <a:r>
              <a:rPr lang="it-IT" altLang="en-US" sz="1600">
                <a:solidFill>
                  <a:schemeClr val="accent1"/>
                </a:solidFill>
                <a:latin typeface="Arial Narrow" panose="020B0606020202030204" pitchFamily="34" charset="0"/>
              </a:rPr>
              <a:t> con Costo-cammino più alto </a:t>
            </a:r>
            <a:r>
              <a:rPr lang="it-IT" altLang="en-US" sz="1600" b="1">
                <a:solidFill>
                  <a:schemeClr val="accent1"/>
                </a:solidFill>
                <a:latin typeface="Arial Narrow" panose="020B0606020202030204" pitchFamily="34" charset="0"/>
              </a:rPr>
              <a:t>then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600">
                <a:solidFill>
                  <a:schemeClr val="accent1"/>
                </a:solidFill>
                <a:latin typeface="Arial Narrow" panose="020B0606020202030204" pitchFamily="34" charset="0"/>
              </a:rPr>
              <a:t>		        sostituisci quel nodo frontiera con figlio</a:t>
            </a:r>
            <a:endParaRPr lang="en-GB" altLang="en-US" sz="1600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lang="it-IT" altLang="en-US" sz="1800">
                <a:latin typeface="Arial Narrow" panose="020B0606020202030204" pitchFamily="34" charset="0"/>
              </a:rPr>
              <a:t> </a:t>
            </a:r>
            <a:endParaRPr lang="en-GB" altLang="en-US" sz="18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0315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it-IT" dirty="0">
                <a:ea typeface="+mj-ea"/>
              </a:rPr>
              <a:t>Conclusioni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it-IT" altLang="en-US" dirty="0"/>
              <a:t>Un agente per il “</a:t>
            </a:r>
            <a:r>
              <a:rPr lang="it-IT" altLang="en-US" i="1" dirty="0" err="1"/>
              <a:t>problem</a:t>
            </a:r>
            <a:r>
              <a:rPr lang="it-IT" altLang="en-US" i="1" dirty="0"/>
              <a:t> solving</a:t>
            </a:r>
            <a:r>
              <a:rPr lang="it-IT" altLang="en-US" dirty="0"/>
              <a:t>” adotta un paradigma generale di risoluzione dei problemi:</a:t>
            </a:r>
          </a:p>
          <a:p>
            <a:pPr lvl="1"/>
            <a:r>
              <a:rPr lang="it-IT" altLang="en-US" dirty="0"/>
              <a:t>Formula il problema</a:t>
            </a:r>
          </a:p>
          <a:p>
            <a:pPr lvl="1"/>
            <a:r>
              <a:rPr lang="it-IT" altLang="en-US" dirty="0"/>
              <a:t>Ricerca la soluzione nello spazio degli stati</a:t>
            </a:r>
          </a:p>
          <a:p>
            <a:r>
              <a:rPr lang="it-IT" altLang="en-US" dirty="0"/>
              <a:t>Strategie “non informate” per la ricerca della soluzione</a:t>
            </a:r>
          </a:p>
          <a:p>
            <a:r>
              <a:rPr lang="it-IT" altLang="en-US"/>
              <a:t>Prossima lezione: </a:t>
            </a:r>
            <a:r>
              <a:rPr lang="it-IT" altLang="en-US" dirty="0"/>
              <a:t>come si può ricercare meglio</a:t>
            </a:r>
          </a:p>
        </p:txBody>
      </p:sp>
    </p:spTree>
    <p:extLst>
      <p:ext uri="{BB962C8B-B14F-4D97-AF65-F5344CB8AC3E}">
        <p14:creationId xmlns:p14="http://schemas.microsoft.com/office/powerpoint/2010/main" val="28263711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19336"/>
          </a:xfrm>
        </p:spPr>
        <p:txBody>
          <a:bodyPr>
            <a:normAutofit fontScale="90000"/>
          </a:bodyPr>
          <a:lstStyle/>
          <a:p>
            <a:r>
              <a:rPr lang="it-IT" dirty="0"/>
              <a:t>SummarAIzing</a:t>
            </a:r>
            <a:endParaRPr lang="en-GB" dirty="0"/>
          </a:p>
        </p:txBody>
      </p:sp>
      <p:sp>
        <p:nvSpPr>
          <p:cNvPr id="7" name="Segnaposto testo 6"/>
          <p:cNvSpPr>
            <a:spLocks noGrp="1"/>
          </p:cNvSpPr>
          <p:nvPr>
            <p:ph type="body" idx="1"/>
          </p:nvPr>
        </p:nvSpPr>
        <p:spPr>
          <a:xfrm>
            <a:off x="251520" y="1052736"/>
            <a:ext cx="8892480" cy="57606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agenti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orientati</a:t>
            </a:r>
            <a:r>
              <a:rPr lang="en-US" dirty="0"/>
              <a:t> in </a:t>
            </a:r>
            <a:r>
              <a:rPr lang="en-US" dirty="0" err="1"/>
              <a:t>genere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 di </a:t>
            </a:r>
            <a:r>
              <a:rPr lang="en-US" dirty="0" err="1"/>
              <a:t>problemi</a:t>
            </a:r>
            <a:r>
              <a:rPr lang="en-US" dirty="0"/>
              <a:t>, </a:t>
            </a:r>
            <a:r>
              <a:rPr lang="en-US" dirty="0" err="1"/>
              <a:t>poichè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un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i="1" dirty="0"/>
              <a:t>goal</a:t>
            </a:r>
            <a:r>
              <a:rPr lang="en-US" dirty="0"/>
              <a:t> come </a:t>
            </a:r>
            <a:r>
              <a:rPr lang="en-US" dirty="0" err="1"/>
              <a:t>obbiettivo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i="1" dirty="0" err="1"/>
              <a:t>utilità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In un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specifico</a:t>
            </a:r>
            <a:r>
              <a:rPr lang="en-US" dirty="0"/>
              <a:t> di </a:t>
            </a:r>
            <a:r>
              <a:rPr lang="en-US" dirty="0" err="1"/>
              <a:t>ambiente</a:t>
            </a:r>
            <a:r>
              <a:rPr lang="en-US" dirty="0"/>
              <a:t> </a:t>
            </a:r>
            <a:r>
              <a:rPr lang="en-US" dirty="0" err="1"/>
              <a:t>deterministico</a:t>
            </a:r>
            <a:r>
              <a:rPr lang="en-US" dirty="0"/>
              <a:t>, </a:t>
            </a:r>
            <a:r>
              <a:rPr lang="en-US" dirty="0" err="1"/>
              <a:t>osservabile</a:t>
            </a:r>
            <a:r>
              <a:rPr lang="en-US" dirty="0"/>
              <a:t>, </a:t>
            </a:r>
            <a:r>
              <a:rPr lang="en-US" dirty="0" err="1"/>
              <a:t>statico</a:t>
            </a:r>
            <a:r>
              <a:rPr lang="en-US" dirty="0"/>
              <a:t>, e </a:t>
            </a:r>
            <a:r>
              <a:rPr lang="en-US" dirty="0" err="1"/>
              <a:t>completamente</a:t>
            </a:r>
            <a:r>
              <a:rPr lang="en-US" dirty="0"/>
              <a:t> </a:t>
            </a:r>
            <a:r>
              <a:rPr lang="en-US" dirty="0" err="1"/>
              <a:t>conosciuto</a:t>
            </a:r>
            <a:r>
              <a:rPr lang="en-US" dirty="0"/>
              <a:t>) </a:t>
            </a:r>
            <a:r>
              <a:rPr lang="en-US" dirty="0" err="1"/>
              <a:t>l’agente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porre</a:t>
            </a:r>
            <a:r>
              <a:rPr lang="en-US" dirty="0"/>
              <a:t> in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suo</a:t>
            </a:r>
            <a:r>
              <a:rPr lang="en-US" dirty="0"/>
              <a:t> </a:t>
            </a:r>
            <a:r>
              <a:rPr lang="en-US" dirty="0" err="1"/>
              <a:t>comportamento</a:t>
            </a:r>
            <a:r>
              <a:rPr lang="en-US" dirty="0"/>
              <a:t> come </a:t>
            </a:r>
            <a:r>
              <a:rPr lang="en-US" i="1" dirty="0">
                <a:solidFill>
                  <a:srgbClr val="00B050"/>
                </a:solidFill>
              </a:rPr>
              <a:t>un </a:t>
            </a:r>
            <a:r>
              <a:rPr lang="en-US" i="1" dirty="0" err="1">
                <a:solidFill>
                  <a:srgbClr val="00B050"/>
                </a:solidFill>
              </a:rPr>
              <a:t>processo</a:t>
            </a:r>
            <a:r>
              <a:rPr lang="en-US" i="1" dirty="0">
                <a:solidFill>
                  <a:srgbClr val="00B050"/>
                </a:solidFill>
              </a:rPr>
              <a:t> di </a:t>
            </a:r>
            <a:r>
              <a:rPr lang="en-US" i="1" dirty="0" err="1">
                <a:solidFill>
                  <a:srgbClr val="00B050"/>
                </a:solidFill>
              </a:rPr>
              <a:t>ricerca</a:t>
            </a:r>
            <a:endParaRPr lang="en-US" i="1" dirty="0">
              <a:solidFill>
                <a:srgbClr val="00B050"/>
              </a:solidFill>
            </a:endParaRPr>
          </a:p>
          <a:p>
            <a:endParaRPr lang="it-IT" b="1" dirty="0"/>
          </a:p>
          <a:p>
            <a:r>
              <a:rPr lang="it-IT" b="1" dirty="0"/>
              <a:t>Un problema deve essere dunque formulato come </a:t>
            </a:r>
            <a:r>
              <a:rPr lang="it-IT" dirty="0"/>
              <a:t>una quintupla:</a:t>
            </a:r>
          </a:p>
          <a:p>
            <a:pPr lvl="1"/>
            <a:r>
              <a:rPr lang="en-US" b="1" dirty="0" err="1"/>
              <a:t>Stato</a:t>
            </a:r>
            <a:r>
              <a:rPr lang="en-US" b="1" dirty="0"/>
              <a:t> </a:t>
            </a:r>
            <a:r>
              <a:rPr lang="en-US" b="1" dirty="0" err="1"/>
              <a:t>iniziale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l’insieme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b="1" dirty="0" err="1"/>
              <a:t>azioni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un </a:t>
            </a:r>
            <a:r>
              <a:rPr lang="en-US" b="1" dirty="0" err="1"/>
              <a:t>modello</a:t>
            </a:r>
            <a:r>
              <a:rPr lang="en-US" b="1" dirty="0"/>
              <a:t> </a:t>
            </a:r>
            <a:r>
              <a:rPr lang="en-US" b="1" dirty="0" err="1"/>
              <a:t>delle</a:t>
            </a:r>
            <a:r>
              <a:rPr lang="en-US" b="1" dirty="0"/>
              <a:t> </a:t>
            </a:r>
            <a:r>
              <a:rPr lang="en-US" b="1" dirty="0" err="1"/>
              <a:t>transizioni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verifica</a:t>
            </a:r>
            <a:r>
              <a:rPr lang="en-US" dirty="0"/>
              <a:t> di </a:t>
            </a:r>
            <a:r>
              <a:rPr lang="en-US" dirty="0" err="1"/>
              <a:t>successo</a:t>
            </a:r>
            <a:r>
              <a:rPr lang="en-US" dirty="0"/>
              <a:t> (</a:t>
            </a:r>
            <a:r>
              <a:rPr lang="en-US" b="1" dirty="0"/>
              <a:t>goal test</a:t>
            </a:r>
            <a:r>
              <a:rPr lang="en-US" dirty="0"/>
              <a:t>) </a:t>
            </a:r>
          </a:p>
          <a:p>
            <a:pPr lvl="1"/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 err="1"/>
              <a:t>funzione</a:t>
            </a:r>
            <a:r>
              <a:rPr lang="en-US" b="1" dirty="0"/>
              <a:t> </a:t>
            </a:r>
            <a:r>
              <a:rPr lang="en-US" b="1" dirty="0" err="1"/>
              <a:t>costo</a:t>
            </a:r>
            <a:endParaRPr lang="en-US" dirty="0"/>
          </a:p>
          <a:p>
            <a:r>
              <a:rPr lang="en-US" dirty="0" err="1"/>
              <a:t>L’ambiente</a:t>
            </a:r>
            <a:r>
              <a:rPr lang="en-US" dirty="0"/>
              <a:t> è lo </a:t>
            </a:r>
            <a:r>
              <a:rPr lang="en-US" dirty="0" err="1"/>
              <a:t>spazio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: un </a:t>
            </a:r>
            <a:r>
              <a:rPr lang="en-US" dirty="0" err="1"/>
              <a:t>cammino</a:t>
            </a:r>
            <a:r>
              <a:rPr lang="en-US" dirty="0"/>
              <a:t> </a:t>
            </a:r>
            <a:r>
              <a:rPr lang="en-US" dirty="0" err="1"/>
              <a:t>nello</a:t>
            </a:r>
            <a:r>
              <a:rPr lang="en-US" dirty="0"/>
              <a:t> </a:t>
            </a:r>
            <a:r>
              <a:rPr lang="en-US" dirty="0" err="1"/>
              <a:t>spazio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conduce ad </a:t>
            </a:r>
            <a:r>
              <a:rPr lang="en-US" dirty="0" err="1"/>
              <a:t>uno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obbiettivo</a:t>
            </a:r>
            <a:r>
              <a:rPr lang="en-US" dirty="0"/>
              <a:t> </a:t>
            </a:r>
            <a:r>
              <a:rPr lang="en-US" dirty="0" err="1"/>
              <a:t>costituisce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 err="1"/>
              <a:t>soluzione</a:t>
            </a:r>
            <a:r>
              <a:rPr lang="en-US" dirty="0"/>
              <a:t>.</a:t>
            </a:r>
            <a:endParaRPr lang="it-IT" dirty="0"/>
          </a:p>
          <a:p>
            <a:r>
              <a:rPr lang="en-US" dirty="0"/>
              <a:t>In </a:t>
            </a:r>
            <a:r>
              <a:rPr lang="en-US" dirty="0" err="1"/>
              <a:t>generale</a:t>
            </a:r>
            <a:r>
              <a:rPr lang="en-US" dirty="0"/>
              <a:t> un </a:t>
            </a:r>
            <a:r>
              <a:rPr lang="en-US" dirty="0" err="1"/>
              <a:t>algoritmo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ad  </a:t>
            </a:r>
            <a:r>
              <a:rPr lang="en-US" dirty="0" err="1"/>
              <a:t>albero</a:t>
            </a:r>
            <a:r>
              <a:rPr lang="en-US" dirty="0"/>
              <a:t> </a:t>
            </a:r>
            <a:r>
              <a:rPr lang="en-US" dirty="0" err="1"/>
              <a:t>considera</a:t>
            </a:r>
            <a:r>
              <a:rPr lang="en-US" dirty="0"/>
              <a:t>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cammini</a:t>
            </a:r>
            <a:r>
              <a:rPr lang="en-US" dirty="0"/>
              <a:t> verso la </a:t>
            </a:r>
            <a:r>
              <a:rPr lang="en-US" dirty="0" err="1"/>
              <a:t>soluzione</a:t>
            </a:r>
            <a:endParaRPr lang="en-US" dirty="0"/>
          </a:p>
          <a:p>
            <a:r>
              <a:rPr lang="en-US" dirty="0"/>
              <a:t>Un </a:t>
            </a:r>
            <a:r>
              <a:rPr lang="en-US" dirty="0" err="1"/>
              <a:t>algoritmo</a:t>
            </a:r>
            <a:r>
              <a:rPr lang="en-US" dirty="0"/>
              <a:t> di GRAPH-SEARCH </a:t>
            </a:r>
            <a:r>
              <a:rPr lang="en-US" dirty="0" err="1"/>
              <a:t>evita</a:t>
            </a:r>
            <a:r>
              <a:rPr lang="en-US" dirty="0"/>
              <a:t> </a:t>
            </a:r>
            <a:r>
              <a:rPr lang="en-US" dirty="0" err="1"/>
              <a:t>cammini</a:t>
            </a:r>
            <a:r>
              <a:rPr lang="en-US" dirty="0"/>
              <a:t> </a:t>
            </a:r>
            <a:r>
              <a:rPr lang="en-US" dirty="0" err="1"/>
              <a:t>ridondanti</a:t>
            </a:r>
            <a:r>
              <a:rPr lang="en-US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79F8-E171-4E7B-8AA5-77A2802B5174}" type="slidenum">
              <a:rPr lang="en-US" altLang="en-US" smtClean="0"/>
              <a:pPr/>
              <a:t>72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3746747"/>
      </p:ext>
    </p:extLst>
  </p:cSld>
  <p:clrMapOvr>
    <a:masterClrMapping/>
  </p:clrMapOvr>
  <p:transition spd="med">
    <p:randomBar dir="vert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19336"/>
          </a:xfrm>
        </p:spPr>
        <p:txBody>
          <a:bodyPr>
            <a:normAutofit fontScale="90000"/>
          </a:bodyPr>
          <a:lstStyle/>
          <a:p>
            <a:r>
              <a:rPr lang="it-IT" dirty="0"/>
              <a:t>SummarAIzing (2)</a:t>
            </a:r>
            <a:endParaRPr lang="en-GB" dirty="0"/>
          </a:p>
        </p:txBody>
      </p:sp>
      <p:sp>
        <p:nvSpPr>
          <p:cNvPr id="7" name="Segnaposto testo 6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686800" cy="57606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 </a:t>
            </a:r>
            <a:r>
              <a:rPr lang="en-US" dirty="0" err="1"/>
              <a:t>qualità</a:t>
            </a:r>
            <a:r>
              <a:rPr lang="en-US" dirty="0"/>
              <a:t> di un </a:t>
            </a:r>
            <a:r>
              <a:rPr lang="en-US" dirty="0" err="1"/>
              <a:t>algoritmo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è  </a:t>
            </a:r>
            <a:r>
              <a:rPr lang="en-US" dirty="0" err="1"/>
              <a:t>misurata</a:t>
            </a:r>
            <a:r>
              <a:rPr lang="en-US" dirty="0"/>
              <a:t> in base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completezza</a:t>
            </a:r>
            <a:r>
              <a:rPr lang="en-US" dirty="0"/>
              <a:t>, </a:t>
            </a:r>
            <a:r>
              <a:rPr lang="en-US" dirty="0" err="1"/>
              <a:t>ottimalità</a:t>
            </a:r>
            <a:r>
              <a:rPr lang="en-US" dirty="0"/>
              <a:t>, </a:t>
            </a:r>
            <a:r>
              <a:rPr lang="en-US" dirty="0" err="1"/>
              <a:t>complessità</a:t>
            </a:r>
            <a:r>
              <a:rPr lang="en-US" dirty="0"/>
              <a:t> </a:t>
            </a:r>
            <a:r>
              <a:rPr lang="en-US" dirty="0" err="1"/>
              <a:t>spaziale</a:t>
            </a:r>
            <a:r>
              <a:rPr lang="en-US" dirty="0"/>
              <a:t> e </a:t>
            </a:r>
            <a:r>
              <a:rPr lang="en-US" dirty="0" err="1"/>
              <a:t>temporale</a:t>
            </a:r>
            <a:r>
              <a:rPr lang="en-US" dirty="0"/>
              <a:t> (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branching factor </a:t>
            </a:r>
            <a:r>
              <a:rPr lang="en-US" dirty="0" err="1"/>
              <a:t>nello</a:t>
            </a:r>
            <a:r>
              <a:rPr lang="en-US" dirty="0"/>
              <a:t> </a:t>
            </a:r>
            <a:r>
              <a:rPr lang="en-US" dirty="0" err="1"/>
              <a:t>spazio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, e </a:t>
            </a:r>
            <a:r>
              <a:rPr lang="en-US" i="1" dirty="0"/>
              <a:t>d</a:t>
            </a:r>
            <a:r>
              <a:rPr lang="en-US" dirty="0"/>
              <a:t>, la </a:t>
            </a:r>
            <a:r>
              <a:rPr lang="en-US" dirty="0" err="1"/>
              <a:t>profondità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prima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trovata</a:t>
            </a:r>
            <a:r>
              <a:rPr lang="en-US" dirty="0"/>
              <a:t>)</a:t>
            </a:r>
          </a:p>
          <a:p>
            <a:r>
              <a:rPr lang="en-US" dirty="0" err="1"/>
              <a:t>Metodi</a:t>
            </a:r>
            <a:r>
              <a:rPr lang="en-US" dirty="0"/>
              <a:t> di </a:t>
            </a:r>
            <a:r>
              <a:rPr lang="en-US" b="1" dirty="0"/>
              <a:t>Uninformed search</a:t>
            </a:r>
            <a:r>
              <a:rPr lang="it-IT" dirty="0"/>
              <a:t>:</a:t>
            </a:r>
          </a:p>
          <a:p>
            <a:pPr lvl="1"/>
            <a:r>
              <a:rPr lang="en-US" b="1" dirty="0"/>
              <a:t>Breadth-first search (</a:t>
            </a:r>
            <a:r>
              <a:rPr lang="en-US" dirty="0" err="1"/>
              <a:t>espande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nodi</a:t>
            </a:r>
            <a:r>
              <a:rPr lang="en-US" dirty="0"/>
              <a:t> </a:t>
            </a:r>
            <a:r>
              <a:rPr lang="en-US" dirty="0" err="1"/>
              <a:t>meno</a:t>
            </a:r>
            <a:r>
              <a:rPr lang="en-US" dirty="0"/>
              <a:t> </a:t>
            </a:r>
            <a:r>
              <a:rPr lang="en-US" dirty="0" err="1"/>
              <a:t>profondi</a:t>
            </a:r>
            <a:r>
              <a:rPr lang="en-US" dirty="0"/>
              <a:t> prima); è </a:t>
            </a:r>
            <a:r>
              <a:rPr lang="en-US" dirty="0" err="1"/>
              <a:t>completo</a:t>
            </a:r>
            <a:r>
              <a:rPr lang="en-US" dirty="0"/>
              <a:t>, </a:t>
            </a:r>
            <a:r>
              <a:rPr lang="en-US" dirty="0" err="1"/>
              <a:t>ottimo</a:t>
            </a:r>
            <a:r>
              <a:rPr lang="en-US" dirty="0"/>
              <a:t> per </a:t>
            </a:r>
            <a:r>
              <a:rPr lang="en-US" dirty="0" err="1"/>
              <a:t>costi</a:t>
            </a:r>
            <a:r>
              <a:rPr lang="en-US" dirty="0"/>
              <a:t> unitary di </a:t>
            </a:r>
            <a:r>
              <a:rPr lang="en-US" dirty="0" err="1"/>
              <a:t>passo</a:t>
            </a:r>
            <a:r>
              <a:rPr lang="en-US" dirty="0"/>
              <a:t>, ma ha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complessità</a:t>
            </a:r>
            <a:r>
              <a:rPr lang="en-US" dirty="0"/>
              <a:t> </a:t>
            </a:r>
            <a:r>
              <a:rPr lang="en-US" dirty="0" err="1"/>
              <a:t>spaziale</a:t>
            </a:r>
            <a:r>
              <a:rPr lang="en-US" dirty="0"/>
              <a:t> </a:t>
            </a:r>
            <a:r>
              <a:rPr lang="en-US" dirty="0" err="1"/>
              <a:t>esponenziale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Uniform-cost search (</a:t>
            </a:r>
            <a:r>
              <a:rPr lang="en-US" dirty="0" err="1"/>
              <a:t>ottimo</a:t>
            </a:r>
            <a:r>
              <a:rPr lang="en-US" dirty="0"/>
              <a:t> per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costo</a:t>
            </a:r>
            <a:r>
              <a:rPr lang="en-US" dirty="0"/>
              <a:t> del </a:t>
            </a:r>
            <a:r>
              <a:rPr lang="en-US" dirty="0" err="1"/>
              <a:t>passo</a:t>
            </a:r>
            <a:r>
              <a:rPr lang="en-US" dirty="0"/>
              <a:t> </a:t>
            </a:r>
            <a:r>
              <a:rPr lang="en-US" dirty="0" err="1"/>
              <a:t>generico</a:t>
            </a:r>
            <a:r>
              <a:rPr lang="en-US" dirty="0"/>
              <a:t>)</a:t>
            </a:r>
            <a:endParaRPr lang="it-IT" dirty="0"/>
          </a:p>
          <a:p>
            <a:pPr lvl="1"/>
            <a:r>
              <a:rPr lang="en-US" b="1" dirty="0"/>
              <a:t>Depth-first search </a:t>
            </a:r>
            <a:r>
              <a:rPr lang="en-US" dirty="0" err="1"/>
              <a:t>espande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nodi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profondi</a:t>
            </a:r>
            <a:r>
              <a:rPr lang="en-US" dirty="0"/>
              <a:t> prima  (</a:t>
            </a:r>
            <a:r>
              <a:rPr lang="en-US" dirty="0" err="1"/>
              <a:t>nè</a:t>
            </a:r>
            <a:r>
              <a:rPr lang="en-US" dirty="0"/>
              <a:t> </a:t>
            </a:r>
            <a:r>
              <a:rPr lang="en-US" dirty="0" err="1"/>
              <a:t>completo</a:t>
            </a:r>
            <a:r>
              <a:rPr lang="en-US" dirty="0"/>
              <a:t> </a:t>
            </a:r>
            <a:r>
              <a:rPr lang="en-US" dirty="0" err="1"/>
              <a:t>nè</a:t>
            </a:r>
            <a:r>
              <a:rPr lang="en-US" dirty="0"/>
              <a:t> </a:t>
            </a:r>
            <a:r>
              <a:rPr lang="en-US" dirty="0" err="1"/>
              <a:t>ottimo</a:t>
            </a:r>
            <a:r>
              <a:rPr lang="en-US" dirty="0"/>
              <a:t>, ma ha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complessità</a:t>
            </a:r>
            <a:r>
              <a:rPr lang="en-US" dirty="0"/>
              <a:t> spaz. </a:t>
            </a:r>
            <a:r>
              <a:rPr lang="en-US" dirty="0" err="1"/>
              <a:t>lineare</a:t>
            </a:r>
            <a:r>
              <a:rPr lang="en-US" dirty="0"/>
              <a:t>. (</a:t>
            </a:r>
            <a:r>
              <a:rPr lang="en-US" b="1" dirty="0"/>
              <a:t>Depth-limited search </a:t>
            </a:r>
            <a:r>
              <a:rPr lang="en-US" dirty="0" err="1"/>
              <a:t>aggiunge</a:t>
            </a:r>
            <a:r>
              <a:rPr lang="en-US" dirty="0"/>
              <a:t> un</a:t>
            </a:r>
            <a:r>
              <a:rPr lang="en-US" b="1" dirty="0"/>
              <a:t> </a:t>
            </a:r>
            <a:r>
              <a:rPr lang="en-US" dirty="0"/>
              <a:t>bound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profondità</a:t>
            </a:r>
            <a:r>
              <a:rPr lang="en-US" b="1" dirty="0"/>
              <a:t>)</a:t>
            </a:r>
            <a:r>
              <a:rPr lang="it-IT" dirty="0"/>
              <a:t>.</a:t>
            </a:r>
          </a:p>
          <a:p>
            <a:pPr lvl="1"/>
            <a:r>
              <a:rPr lang="en-US" b="1" dirty="0"/>
              <a:t>Iterative deepening search </a:t>
            </a:r>
            <a:r>
              <a:rPr lang="en-US" dirty="0"/>
              <a:t>è un Depth-limited search con </a:t>
            </a:r>
            <a:r>
              <a:rPr lang="en-US" dirty="0" err="1"/>
              <a:t>profondità</a:t>
            </a:r>
            <a:r>
              <a:rPr lang="en-US" dirty="0"/>
              <a:t> </a:t>
            </a:r>
            <a:r>
              <a:rPr lang="en-US" dirty="0" err="1"/>
              <a:t>crescenti</a:t>
            </a:r>
            <a:r>
              <a:rPr lang="en-US" dirty="0"/>
              <a:t> </a:t>
            </a:r>
            <a:r>
              <a:rPr lang="en-US" dirty="0" err="1"/>
              <a:t>fino</a:t>
            </a:r>
            <a:r>
              <a:rPr lang="en-US" dirty="0"/>
              <a:t> al goal: </a:t>
            </a:r>
            <a:r>
              <a:rPr lang="en-US" dirty="0" err="1"/>
              <a:t>completo</a:t>
            </a:r>
            <a:r>
              <a:rPr lang="en-US" dirty="0"/>
              <a:t>, </a:t>
            </a:r>
            <a:r>
              <a:rPr lang="en-US" dirty="0" err="1"/>
              <a:t>ottimo</a:t>
            </a:r>
            <a:r>
              <a:rPr lang="en-US" dirty="0"/>
              <a:t> per </a:t>
            </a:r>
            <a:r>
              <a:rPr lang="en-US" dirty="0" err="1"/>
              <a:t>costi</a:t>
            </a:r>
            <a:r>
              <a:rPr lang="en-US" dirty="0"/>
              <a:t> di step </a:t>
            </a:r>
            <a:r>
              <a:rPr lang="en-US" dirty="0" err="1"/>
              <a:t>unitari</a:t>
            </a:r>
            <a:r>
              <a:rPr lang="en-US" dirty="0"/>
              <a:t>, </a:t>
            </a:r>
            <a:r>
              <a:rPr lang="en-US" dirty="0" err="1"/>
              <a:t>complessità</a:t>
            </a:r>
            <a:r>
              <a:rPr lang="en-US" dirty="0"/>
              <a:t> simile a breadth-first search, </a:t>
            </a:r>
            <a:r>
              <a:rPr lang="en-US" dirty="0" err="1"/>
              <a:t>complessità</a:t>
            </a:r>
            <a:r>
              <a:rPr lang="en-US" dirty="0"/>
              <a:t> </a:t>
            </a:r>
            <a:r>
              <a:rPr lang="en-US" dirty="0" err="1"/>
              <a:t>spaziale</a:t>
            </a:r>
            <a:r>
              <a:rPr lang="en-US" dirty="0"/>
              <a:t> </a:t>
            </a:r>
            <a:r>
              <a:rPr lang="en-US" dirty="0" err="1"/>
              <a:t>lineare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Bidirectional search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ridurre</a:t>
            </a:r>
            <a:r>
              <a:rPr lang="en-US" dirty="0"/>
              <a:t> </a:t>
            </a:r>
            <a:r>
              <a:rPr lang="en-US" dirty="0" err="1"/>
              <a:t>enormemente</a:t>
            </a:r>
            <a:r>
              <a:rPr lang="en-US" dirty="0"/>
              <a:t> la time complexity: non </a:t>
            </a:r>
            <a:r>
              <a:rPr lang="en-US" dirty="0" err="1"/>
              <a:t>sempre</a:t>
            </a:r>
            <a:r>
              <a:rPr lang="en-US" dirty="0"/>
              <a:t> </a:t>
            </a:r>
            <a:r>
              <a:rPr lang="en-US" dirty="0" err="1"/>
              <a:t>applicabile</a:t>
            </a:r>
            <a:r>
              <a:rPr lang="en-US" dirty="0"/>
              <a:t> </a:t>
            </a:r>
            <a:r>
              <a:rPr lang="en-US" dirty="0" err="1"/>
              <a:t>poichè</a:t>
            </a:r>
            <a:r>
              <a:rPr lang="en-US" dirty="0"/>
              <a:t> </a:t>
            </a:r>
            <a:r>
              <a:rPr lang="en-US" dirty="0" err="1"/>
              <a:t>richiede</a:t>
            </a:r>
            <a:r>
              <a:rPr lang="en-US" dirty="0"/>
              <a:t> molto </a:t>
            </a:r>
            <a:r>
              <a:rPr lang="en-US" dirty="0" err="1"/>
              <a:t>spazio</a:t>
            </a:r>
            <a:r>
              <a:rPr lang="en-US" dirty="0"/>
              <a:t> di </a:t>
            </a:r>
            <a:r>
              <a:rPr lang="en-US" dirty="0" err="1"/>
              <a:t>memoria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79F8-E171-4E7B-8AA5-77A2802B5174}" type="slidenum">
              <a:rPr lang="en-US" altLang="en-US" smtClean="0"/>
              <a:pPr/>
              <a:t>73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46713"/>
      </p:ext>
    </p:extLst>
  </p:cSld>
  <p:clrMapOvr>
    <a:masterClrMapping/>
  </p:clrMapOvr>
  <p:transition spd="med">
    <p:randomBar dir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4"/>
  <p:tag name="MMPROD_UIDATA" val="&lt;database version=&quot;7.0&quot;&gt;&lt;object type=&quot;1&quot; unique_id=&quot;10001&quot;&gt;&lt;object type=&quot;8&quot; unique_id=&quot;16644&quot;&gt;&lt;/object&gt;&lt;object type=&quot;2&quot; unique_id=&quot;16645&quot;&gt;&lt;object type=&quot;3&quot; unique_id=&quot;16647&quot;&gt;&lt;property id=&quot;20148&quot; value=&quot;5&quot;/&gt;&lt;property id=&quot;20300&quot; value=&quot;Diapositiva 3 - &amp;quot;Obbiettivi del Corso&amp;quot;&quot;/&gt;&lt;property id=&quot;20307&quot; value=&quot;325&quot;/&gt;&lt;/object&gt;&lt;object type=&quot;3&quot; unique_id=&quot;16648&quot;&gt;&lt;property id=&quot;20148&quot; value=&quot;5&quot;/&gt;&lt;property id=&quot;20300&quot; value=&quot;Diapositiva 4 - &amp;quot;Organizzazione del Corso: &amp;quot;&quot;/&gt;&lt;property id=&quot;20307&quot; value=&quot;304&quot;/&gt;&lt;/object&gt;&lt;object type=&quot;3&quot; unique_id=&quot;16649&quot;&gt;&lt;property id=&quot;20148&quot; value=&quot;5&quot;/&gt;&lt;property id=&quot;20300&quot; value=&quot;Diapositiva 5 - &amp;quot;Obbiettivi (2):&amp;quot;&quot;/&gt;&lt;property id=&quot;20307&quot; value=&quot;305&quot;/&gt;&lt;/object&gt;&lt;object type=&quot;3&quot; unique_id=&quot;16650&quot;&gt;&lt;property id=&quot;20148&quot; value=&quot;5&quot;/&gt;&lt;property id=&quot;20300&quot; value=&quot;Diapositiva 6 - &amp;quot;Target&amp;quot;&quot;/&gt;&lt;property id=&quot;20307&quot; value=&quot;306&quot;/&gt;&lt;/object&gt;&lt;object type=&quot;3&quot; unique_id=&quot;16651&quot;&gt;&lt;property id=&quot;20148&quot; value=&quot;5&quot;/&gt;&lt;property id=&quot;20300&quot; value=&quot;Diapositiva 7 - &amp;quot;Orari&amp;quot;&quot;/&gt;&lt;property id=&quot;20307&quot; value=&quot;307&quot;/&gt;&lt;/object&gt;&lt;object type=&quot;3&quot; unique_id=&quot;16652&quot;&gt;&lt;property id=&quot;20148&quot; value=&quot;5&quot;/&gt;&lt;property id=&quot;20300&quot; value=&quot;Diapositiva 8 - &amp;quot;Testi Consigliati&amp;quot;&quot;/&gt;&lt;property id=&quot;20307&quot; value=&quot;308&quot;/&gt;&lt;/object&gt;&lt;object type=&quot;3&quot; unique_id=&quot;16653&quot;&gt;&lt;property id=&quot;20148&quot; value=&quot;5&quot;/&gt;&lt;property id=&quot;20300&quot; value=&quot;Diapositiva 9 - &amp;quot;Sito Web&amp;quot;&quot;/&gt;&lt;property id=&quot;20307&quot; value=&quot;337&quot;/&gt;&lt;/object&gt;&lt;object type=&quot;3&quot; unique_id=&quot;16654&quot;&gt;&lt;property id=&quot;20148&quot; value=&quot;5&quot;/&gt;&lt;property id=&quot;20300&quot; value=&quot;Diapositiva 10 - &amp;quot;Organizzazione: Esami&amp;quot;&quot;/&gt;&lt;property id=&quot;20307&quot; value=&quot;309&quot;/&gt;&lt;/object&gt;&lt;object type=&quot;3&quot; unique_id=&quot;16656&quot;&gt;&lt;property id=&quot;20148&quot; value=&quot;5&quot;/&gt;&lt;property id=&quot;20300&quot; value=&quot;Diapositiva 11 - &amp;quot;Esami Light&amp;quot;&quot;/&gt;&lt;property id=&quot;20307&quot; value=&quot;310&quot;/&gt;&lt;/object&gt;&lt;object type=&quot;3&quot; unique_id=&quot;16658&quot;&gt;&lt;property id=&quot;20148&quot; value=&quot;5&quot;/&gt;&lt;property id=&quot;20300&quot; value=&quot;Diapositiva 13 - &amp;quot;Esami (1)&amp;quot;&quot;/&gt;&lt;property id=&quot;20307&quot; value=&quot;332&quot;/&gt;&lt;/object&gt;&lt;object type=&quot;3&quot; unique_id=&quot;16659&quot;&gt;&lt;property id=&quot;20148&quot; value=&quot;5&quot;/&gt;&lt;property id=&quot;20300&quot; value=&quot;Diapositiva 14 - &amp;quot;Esami (2)&amp;quot;&quot;/&gt;&lt;property id=&quot;20307&quot; value=&quot;333&quot;/&gt;&lt;/object&gt;&lt;object type=&quot;3&quot; unique_id=&quot;16660&quot;&gt;&lt;property id=&quot;20148&quot; value=&quot;5&quot;/&gt;&lt;property id=&quot;20300&quot; value=&quot;Diapositiva 15 - &amp;quot;Esempi di Progetti&amp;quot;&quot;/&gt;&lt;property id=&quot;20307&quot; value=&quot;336&quot;/&gt;&lt;/object&gt;&lt;object type=&quot;3&quot; unique_id=&quot;16661&quot;&gt;&lt;property id=&quot;20148&quot; value=&quot;5&quot;/&gt;&lt;property id=&quot;20300&quot; value=&quot;Diapositiva 16 - &amp;quot;Domande?&amp;quot;&quot;/&gt;&lt;property id=&quot;20307&quot; value=&quot;335&quot;/&gt;&lt;/object&gt;&lt;object type=&quot;3&quot; unique_id=&quot;16663&quot;&gt;&lt;property id=&quot;20148&quot; value=&quot;5&quot;/&gt;&lt;property id=&quot;20300&quot; value=&quot;Diapositiva 17 - &amp;quot;Action List&amp;quot;&quot;/&gt;&lt;property id=&quot;20307&quot; value=&quot;360&quot;/&gt;&lt;/object&gt;&lt;object type=&quot;3&quot; unique_id=&quot;16744&quot;&gt;&lt;property id=&quot;20148&quot; value=&quot;5&quot;/&gt;&lt;property id=&quot;20300&quot; value=&quot;Diapositiva 12 - &amp;quot;Esami Full&amp;quot;&quot;/&gt;&lt;property id=&quot;20307&quot; value=&quot;361&quot;/&gt;&lt;/object&gt;&lt;object type=&quot;3&quot; unique_id=&quot;17515&quot;&gt;&lt;property id=&quot;20148&quot; value=&quot;5&quot;/&gt;&lt;property id=&quot;20300&quot; value=&quot;Diapositiva 1 - &amp;quot;Corso di &amp;#x0D;&amp;#x0A;Web Mining e Retrieval&amp;#x0D;&amp;#x0A;&amp;#x0D;&amp;#x0A;- Introduzione al Corso -  &amp;quot;&quot;/&gt;&lt;property id=&quot;20307&quot; value=&quot;362&quot;/&gt;&lt;/object&gt;&lt;object type=&quot;3&quot; unique_id=&quot;17516&quot;&gt;&lt;property id=&quot;20148&quot; value=&quot;5&quot;/&gt;&lt;property id=&quot;20300&quot; value=&quot;Diapositiva 2 - &amp;quot;Overview&amp;quot;&quot;/&gt;&lt;property id=&quot;20307&quot; value=&quot;3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Tema_IA_252_26_v2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_IA_252_26_v2" id="{660457D8-43C7-4D91-9A67-07BAB9206300}" vid="{CBF0DC19-2B7A-4390-96AE-78A885594F9F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Tema_IA_252_26_v2</Template>
  <TotalTime>64965</TotalTime>
  <Words>5849</Words>
  <Application>Microsoft Office PowerPoint</Application>
  <PresentationFormat>Presentazione su schermo (4:3)</PresentationFormat>
  <Paragraphs>701</Paragraphs>
  <Slides>73</Slides>
  <Notes>58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73</vt:i4>
      </vt:variant>
    </vt:vector>
  </HeadingPairs>
  <TitlesOfParts>
    <vt:vector size="85" baseType="lpstr">
      <vt:lpstr>Arial</vt:lpstr>
      <vt:lpstr>Arial Narrow</vt:lpstr>
      <vt:lpstr>Brush Script MT Italic</vt:lpstr>
      <vt:lpstr>Cambria Math</vt:lpstr>
      <vt:lpstr>Century Schoolbook</vt:lpstr>
      <vt:lpstr>GreekC</vt:lpstr>
      <vt:lpstr>Times New Roman</vt:lpstr>
      <vt:lpstr>Tw Cen MT</vt:lpstr>
      <vt:lpstr>Wingdings</vt:lpstr>
      <vt:lpstr>Wingdings 2</vt:lpstr>
      <vt:lpstr>Tema_IA_252_26_v2</vt:lpstr>
      <vt:lpstr>Image</vt:lpstr>
      <vt:lpstr>Intelligenza Artificiale  Problem-solving &amp; Ricerca delle soluzioni (*)</vt:lpstr>
      <vt:lpstr>Overview</vt:lpstr>
      <vt:lpstr>Agenti risolutori di problemi</vt:lpstr>
      <vt:lpstr>Il processo di risoluzione</vt:lpstr>
      <vt:lpstr>Che tipo di assunzioni?</vt:lpstr>
      <vt:lpstr>Formulazione del problema</vt:lpstr>
      <vt:lpstr>Formulazione del problema (cnt.)</vt:lpstr>
      <vt:lpstr>Algoritmi di ricerca</vt:lpstr>
      <vt:lpstr>Itinerario: il problema</vt:lpstr>
      <vt:lpstr>Itinerario: la formulazione</vt:lpstr>
      <vt:lpstr>Aspirapolvere: il problema</vt:lpstr>
      <vt:lpstr>Aspirapolvere: formulazione</vt:lpstr>
      <vt:lpstr>Il puzzle dell’otto</vt:lpstr>
      <vt:lpstr>Puzzle dell’otto: formulazione </vt:lpstr>
      <vt:lpstr>Le otto regine: il problema</vt:lpstr>
      <vt:lpstr>Le otto regine: Formulazione incrementale 1</vt:lpstr>
      <vt:lpstr>Le otto regine:  Formulazione incrementale 2</vt:lpstr>
      <vt:lpstr>Le 8 regine:  Formulazione a stato completo</vt:lpstr>
      <vt:lpstr>Dimostrazione di teoremi: il problema</vt:lpstr>
      <vt:lpstr>Dim. teoremi: formulazione</vt:lpstr>
      <vt:lpstr>Dimostrazione dei teoremi: spazio degli stati</vt:lpstr>
      <vt:lpstr>Problemi applicativi: esempi</vt:lpstr>
      <vt:lpstr>L’albero di ricerca</vt:lpstr>
      <vt:lpstr>Ricerca della soluzione</vt:lpstr>
      <vt:lpstr>Ricerca della soluzione</vt:lpstr>
      <vt:lpstr>Ricerca ad albero </vt:lpstr>
      <vt:lpstr>I nodi dell’albero di ricerca</vt:lpstr>
      <vt:lpstr>Struttura dati</vt:lpstr>
      <vt:lpstr>Struttura dati per la frontiera</vt:lpstr>
      <vt:lpstr>Che tipo di ricerca in ????? (su albero)</vt:lpstr>
      <vt:lpstr>Diversi tipi di strategie</vt:lpstr>
      <vt:lpstr>Strategie non informate</vt:lpstr>
      <vt:lpstr>Valutazione di una strategia</vt:lpstr>
      <vt:lpstr>Ricerca in ampiezza (BF)</vt:lpstr>
      <vt:lpstr>Ricerca in ampiezza (BF)</vt:lpstr>
      <vt:lpstr>Ricerca in ampiezza (BF)</vt:lpstr>
      <vt:lpstr>Ricerca in ampiezza (su albero)</vt:lpstr>
      <vt:lpstr>Analisi complessità spazio-temporale</vt:lpstr>
      <vt:lpstr>Ricerca in ampiezza: analisi</vt:lpstr>
      <vt:lpstr>Ricerca in ampiezza: esempio</vt:lpstr>
      <vt:lpstr>Come fare meglio</vt:lpstr>
      <vt:lpstr>Ricerca di costo uniforme (UC)</vt:lpstr>
      <vt:lpstr>Ricerca UC (su albero)</vt:lpstr>
      <vt:lpstr>Ricerca UC (modified)</vt:lpstr>
      <vt:lpstr>Costo uniforme: analisi</vt:lpstr>
      <vt:lpstr>Ricerca UC: ottimalità</vt:lpstr>
      <vt:lpstr>Ricerca in profondità</vt:lpstr>
      <vt:lpstr>Ricerca in profondità</vt:lpstr>
      <vt:lpstr>Ricerca in profondità</vt:lpstr>
      <vt:lpstr>Ricerca in profondità: analisi</vt:lpstr>
      <vt:lpstr>Ricerca in profondità ricorsiva</vt:lpstr>
      <vt:lpstr>Ricerca in profondità (su albero)</vt:lpstr>
      <vt:lpstr>Ricerca in profondità limitata (DL)</vt:lpstr>
      <vt:lpstr>Approfondimento iterativo (ID)</vt:lpstr>
      <vt:lpstr>ID: analisi</vt:lpstr>
      <vt:lpstr>Direzione della ricerca</vt:lpstr>
      <vt:lpstr>Quale direzione?</vt:lpstr>
      <vt:lpstr>Ricerca bidirezionale</vt:lpstr>
      <vt:lpstr>Ricerca bidirezionale: analisi</vt:lpstr>
      <vt:lpstr>Confronto delle strategie (albero)</vt:lpstr>
      <vt:lpstr>Ricerca su grafi:  cammini ciclici</vt:lpstr>
      <vt:lpstr>Ricerca su grafi:  ridondanze</vt:lpstr>
      <vt:lpstr>Ridondanza nelle griglie</vt:lpstr>
      <vt:lpstr>Come fare meglio</vt:lpstr>
      <vt:lpstr>Compromesso tra spazio e tempo</vt:lpstr>
      <vt:lpstr>Tre soluzioni</vt:lpstr>
      <vt:lpstr>Ricerca su grafi</vt:lpstr>
      <vt:lpstr>Ricerca sul grafo della Romania</vt:lpstr>
      <vt:lpstr>Ricerca-grafo in ampiezza</vt:lpstr>
      <vt:lpstr>Ricerca-grafo UC</vt:lpstr>
      <vt:lpstr>Conclusioni</vt:lpstr>
      <vt:lpstr>SummarAIzing</vt:lpstr>
      <vt:lpstr>SummarAIzing (2)</vt:lpstr>
    </vt:vector>
  </TitlesOfParts>
  <Company>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Intelligenza Artificiale</dc:title>
  <dc:creator>Roberto</dc:creator>
  <cp:lastModifiedBy>roberto basili</cp:lastModifiedBy>
  <cp:revision>418</cp:revision>
  <cp:lastPrinted>1601-01-01T00:00:00Z</cp:lastPrinted>
  <dcterms:created xsi:type="dcterms:W3CDTF">2001-05-20T22:11:52Z</dcterms:created>
  <dcterms:modified xsi:type="dcterms:W3CDTF">2025-10-14T17:39:31Z</dcterms:modified>
</cp:coreProperties>
</file>